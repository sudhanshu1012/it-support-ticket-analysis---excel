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2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6413"/>
  <p:notesSz cx="12192000" cy="10363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4B71"/>
    <a:srgbClr val="406799"/>
    <a:srgbClr val="0052CC"/>
    <a:srgbClr val="7893AE"/>
    <a:srgbClr val="F2F7FC"/>
    <a:srgbClr val="BDD6F4"/>
    <a:srgbClr val="4A8FE2"/>
    <a:srgbClr val="3A3F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754" autoAdjust="0"/>
    <p:restoredTop sz="95196" autoAdjust="0"/>
  </p:normalViewPr>
  <p:slideViewPr>
    <p:cSldViewPr>
      <p:cViewPr varScale="1">
        <p:scale>
          <a:sx n="85" d="100"/>
          <a:sy n="85" d="100"/>
        </p:scale>
        <p:origin x="1061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51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b05b7863545bd65/Desktop/FINAL%20PROJECT/DOC%20for%20Ans/IT%20Tickets%20Analysis%20Dashboar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b05b7863545bd65/Desktop/FINAL%20PROJECT/DOC%20for%20Ans/IT%20Tickets%20Analysis%20Dashboar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b05b7863545bd65/Desktop/FINAL%20PROJECT/DOC%20for%20Ans/IT%20Tickets%20Analysis%20Dashboard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b05b7863545bd65/Desktop/FINAL%20PROJECT/DOC%20for%20Ans/IT%20Tickets%20Analysis%20Dashboard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b05b7863545bd65/Desktop/FINAL%20PROJECT/DOC%20for%20Ans/IT%20Tickets%20Analysis%20Dashboard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b05b7863545bd65/Desktop/FINAL%20PROJECT/DOC%20for%20Ans/IT%20Tickets%20Analysis%20Dashboard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b05b7863545bd65/Desktop/FINAL%20PROJECT/DOC%20for%20Ans/IT%20Tickets%20Analysis%20Dashboard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b05b7863545bd65/Desktop/FINAL%20PROJECT/DOC%20for%20Ans/IT%20Tickets%20Analysis%20Dashboard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b05b7863545bd65/Desktop/FINAL%20PROJECT/DOC%20for%20Ans/IT%20Tickets%20Analysis%20Dashboard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b05b7863545bd65/Desktop/FINAL%20PROJECT/DOC%20for%20Ans/IT%20Tickets%20Analysis%20Dashboard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[IT Tickets Analysis Dashboard.xlsx]KPI!TicketVolume</c:name>
    <c:fmtId val="-1"/>
  </c:pivotSource>
  <c:chart>
    <c:autoTitleDeleted val="1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47625" cap="rnd" cmpd="sng" algn="ctr">
            <a:solidFill>
              <a:schemeClr val="accent3">
                <a:lumMod val="75000"/>
              </a:schemeClr>
            </a:solidFill>
            <a:round/>
          </a:ln>
          <a:effectLst>
            <a:glow rad="165100">
              <a:schemeClr val="accent3">
                <a:lumMod val="60000"/>
                <a:lumOff val="40000"/>
                <a:alpha val="25000"/>
              </a:schemeClr>
            </a:glow>
            <a:outerShdw dist="12700" sx="1000" sy="1000" kx="-800400" algn="bl" rotWithShape="0">
              <a:prstClr val="black"/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5000"/>
            </a:schemeClr>
          </a:solidFill>
          <a:ln w="47625" cap="rnd" cmpd="sng" algn="ctr">
            <a:solidFill>
              <a:schemeClr val="accent3">
                <a:lumMod val="75000"/>
              </a:schemeClr>
            </a:solidFill>
            <a:round/>
          </a:ln>
          <a:effectLst>
            <a:glow rad="165100">
              <a:schemeClr val="accent3">
                <a:lumMod val="60000"/>
                <a:lumOff val="40000"/>
                <a:alpha val="25000"/>
              </a:schemeClr>
            </a:glow>
            <a:outerShdw dist="12700" sx="1000" sy="1000" kx="-800400" algn="bl" rotWithShape="0">
              <a:prstClr val="black"/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47625" cap="rnd" cmpd="sng" algn="ctr">
            <a:solidFill>
              <a:schemeClr val="accent3">
                <a:lumMod val="20000"/>
                <a:lumOff val="80000"/>
              </a:schemeClr>
            </a:solidFill>
            <a:round/>
          </a:ln>
          <a:effectLst>
            <a:glow rad="635000">
              <a:schemeClr val="accent3">
                <a:lumMod val="40000"/>
                <a:lumOff val="60000"/>
                <a:alpha val="30000"/>
              </a:schemeClr>
            </a:glow>
            <a:outerShdw dist="12700" sx="1000" sy="1000" kx="-800400" algn="bl" rotWithShape="0">
              <a:prstClr val="black"/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alpha val="85000"/>
            </a:schemeClr>
          </a:solidFill>
          <a:ln w="47625" cap="rnd" cmpd="sng" algn="ctr">
            <a:solidFill>
              <a:schemeClr val="accent3">
                <a:lumMod val="20000"/>
                <a:lumOff val="80000"/>
              </a:schemeClr>
            </a:solidFill>
            <a:round/>
          </a:ln>
          <a:effectLst>
            <a:glow rad="635000">
              <a:schemeClr val="accent3">
                <a:lumMod val="40000"/>
                <a:lumOff val="60000"/>
                <a:alpha val="30000"/>
              </a:schemeClr>
            </a:glow>
            <a:outerShdw dist="12700" sx="1000" sy="1000" kx="-800400" algn="bl" rotWithShape="0">
              <a:prstClr val="black"/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>
              <a:alpha val="85000"/>
            </a:schemeClr>
          </a:solidFill>
          <a:ln w="47625" cap="rnd" cmpd="sng" algn="ctr">
            <a:solidFill>
              <a:schemeClr val="accent3">
                <a:lumMod val="20000"/>
                <a:lumOff val="80000"/>
              </a:schemeClr>
            </a:solidFill>
            <a:round/>
          </a:ln>
          <a:effectLst>
            <a:glow rad="635000">
              <a:schemeClr val="accent3">
                <a:lumMod val="40000"/>
                <a:lumOff val="60000"/>
                <a:alpha val="30000"/>
              </a:schemeClr>
            </a:glow>
            <a:outerShdw dist="12700" sx="1000" sy="1000" kx="-800400" algn="bl" rotWithShape="0">
              <a:prstClr val="black"/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>
              <a:alpha val="85000"/>
            </a:schemeClr>
          </a:solidFill>
          <a:ln w="47625" cap="rnd" cmpd="sng" algn="ctr">
            <a:solidFill>
              <a:schemeClr val="accent3">
                <a:lumMod val="20000"/>
                <a:lumOff val="80000"/>
              </a:schemeClr>
            </a:solidFill>
            <a:round/>
          </a:ln>
          <a:effectLst>
            <a:glow rad="635000">
              <a:schemeClr val="accent3">
                <a:lumMod val="40000"/>
                <a:lumOff val="60000"/>
                <a:alpha val="30000"/>
              </a:schemeClr>
            </a:glow>
            <a:outerShdw dist="12700" sx="1000" sy="1000" kx="-800400" algn="bl" rotWithShape="0">
              <a:prstClr val="black"/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noFill/>
          <a:ln w="47625" cap="rnd" cmpd="sng" algn="ctr">
            <a:solidFill>
              <a:schemeClr val="accent3">
                <a:lumMod val="20000"/>
                <a:lumOff val="80000"/>
              </a:schemeClr>
            </a:solidFill>
            <a:round/>
          </a:ln>
          <a:effectLst>
            <a:glow rad="635000">
              <a:schemeClr val="accent3">
                <a:lumMod val="40000"/>
                <a:lumOff val="60000"/>
                <a:alpha val="30000"/>
              </a:schemeClr>
            </a:glow>
            <a:outerShdw dist="12700" sx="1000" sy="1000" kx="-800400" algn="bl" rotWithShape="0">
              <a:prstClr val="black"/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2654938136383265E-3"/>
          <c:y val="2.9915684559037963E-2"/>
          <c:w val="0.91166624906633675"/>
          <c:h val="0.74295198394318362"/>
        </c:manualLayout>
      </c:layout>
      <c:lineChart>
        <c:grouping val="standard"/>
        <c:varyColors val="0"/>
        <c:ser>
          <c:idx val="0"/>
          <c:order val="0"/>
          <c:tx>
            <c:strRef>
              <c:f>KPI!$G$5</c:f>
              <c:strCache>
                <c:ptCount val="1"/>
                <c:pt idx="0">
                  <c:v>Total</c:v>
                </c:pt>
              </c:strCache>
            </c:strRef>
          </c:tx>
          <c:spPr>
            <a:ln w="38100" cap="rnd">
              <a:solidFill>
                <a:schemeClr val="tx2">
                  <a:lumMod val="75000"/>
                </a:schemeClr>
              </a:solidFill>
            </a:ln>
            <a:effectLst>
              <a:glow rad="304800">
                <a:schemeClr val="tx2">
                  <a:lumMod val="60000"/>
                  <a:lumOff val="40000"/>
                  <a:alpha val="24000"/>
                </a:schemeClr>
              </a:glow>
            </a:effectLst>
          </c:spPr>
          <c:marker>
            <c:symbol val="none"/>
          </c:marker>
          <c:cat>
            <c:multiLvlStrRef>
              <c:f>KPI!$E$6:$F$66</c:f>
              <c:multiLvlStrCache>
                <c:ptCount val="60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Apr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Aug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Dec</c:v>
                  </c:pt>
                  <c:pt idx="24">
                    <c:v>Jan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Apr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Aug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Dec</c:v>
                  </c:pt>
                  <c:pt idx="36">
                    <c:v>Jan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Apr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Aug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Dec</c:v>
                  </c:pt>
                  <c:pt idx="48">
                    <c:v>Jan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Apr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Aug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Dec</c:v>
                  </c:pt>
                </c:lvl>
                <c:lvl>
                  <c:pt idx="0">
                    <c:v>2016</c:v>
                  </c:pt>
                  <c:pt idx="12">
                    <c:v>2017</c:v>
                  </c:pt>
                  <c:pt idx="24">
                    <c:v>2018</c:v>
                  </c:pt>
                  <c:pt idx="36">
                    <c:v>2019</c:v>
                  </c:pt>
                  <c:pt idx="48">
                    <c:v>2020</c:v>
                  </c:pt>
                </c:lvl>
              </c:multiLvlStrCache>
            </c:multiLvlStrRef>
          </c:cat>
          <c:val>
            <c:numRef>
              <c:f>KPI!$G$6:$G$66</c:f>
              <c:numCache>
                <c:formatCode>General</c:formatCode>
                <c:ptCount val="60"/>
                <c:pt idx="0">
                  <c:v>1115</c:v>
                </c:pt>
                <c:pt idx="1">
                  <c:v>1056</c:v>
                </c:pt>
                <c:pt idx="2">
                  <c:v>1105</c:v>
                </c:pt>
                <c:pt idx="3">
                  <c:v>1054</c:v>
                </c:pt>
                <c:pt idx="4">
                  <c:v>1160</c:v>
                </c:pt>
                <c:pt idx="5">
                  <c:v>1051</c:v>
                </c:pt>
                <c:pt idx="6">
                  <c:v>1101</c:v>
                </c:pt>
                <c:pt idx="7">
                  <c:v>1090</c:v>
                </c:pt>
                <c:pt idx="8">
                  <c:v>1061</c:v>
                </c:pt>
                <c:pt idx="9">
                  <c:v>1088</c:v>
                </c:pt>
                <c:pt idx="10">
                  <c:v>1046</c:v>
                </c:pt>
                <c:pt idx="11">
                  <c:v>1124</c:v>
                </c:pt>
                <c:pt idx="12">
                  <c:v>1125</c:v>
                </c:pt>
                <c:pt idx="13">
                  <c:v>1151</c:v>
                </c:pt>
                <c:pt idx="14">
                  <c:v>1283</c:v>
                </c:pt>
                <c:pt idx="15">
                  <c:v>1245</c:v>
                </c:pt>
                <c:pt idx="16">
                  <c:v>1345</c:v>
                </c:pt>
                <c:pt idx="17">
                  <c:v>1244</c:v>
                </c:pt>
                <c:pt idx="18">
                  <c:v>1233</c:v>
                </c:pt>
                <c:pt idx="19">
                  <c:v>1259</c:v>
                </c:pt>
                <c:pt idx="20">
                  <c:v>1225</c:v>
                </c:pt>
                <c:pt idx="21">
                  <c:v>1305</c:v>
                </c:pt>
                <c:pt idx="22">
                  <c:v>1243</c:v>
                </c:pt>
                <c:pt idx="23">
                  <c:v>1257</c:v>
                </c:pt>
                <c:pt idx="24">
                  <c:v>1289</c:v>
                </c:pt>
                <c:pt idx="25">
                  <c:v>1507</c:v>
                </c:pt>
                <c:pt idx="26">
                  <c:v>1470</c:v>
                </c:pt>
                <c:pt idx="27">
                  <c:v>1627</c:v>
                </c:pt>
                <c:pt idx="28">
                  <c:v>1653</c:v>
                </c:pt>
                <c:pt idx="29">
                  <c:v>1656</c:v>
                </c:pt>
                <c:pt idx="30">
                  <c:v>1620</c:v>
                </c:pt>
                <c:pt idx="31">
                  <c:v>1669</c:v>
                </c:pt>
                <c:pt idx="32">
                  <c:v>1638</c:v>
                </c:pt>
                <c:pt idx="33">
                  <c:v>1660</c:v>
                </c:pt>
                <c:pt idx="34">
                  <c:v>1626</c:v>
                </c:pt>
                <c:pt idx="35">
                  <c:v>1539</c:v>
                </c:pt>
                <c:pt idx="36">
                  <c:v>1522</c:v>
                </c:pt>
                <c:pt idx="37">
                  <c:v>1746</c:v>
                </c:pt>
                <c:pt idx="38">
                  <c:v>1846</c:v>
                </c:pt>
                <c:pt idx="39">
                  <c:v>1598</c:v>
                </c:pt>
                <c:pt idx="40">
                  <c:v>1734</c:v>
                </c:pt>
                <c:pt idx="41">
                  <c:v>1820</c:v>
                </c:pt>
                <c:pt idx="42">
                  <c:v>1885</c:v>
                </c:pt>
                <c:pt idx="43">
                  <c:v>1905</c:v>
                </c:pt>
                <c:pt idx="44">
                  <c:v>1856</c:v>
                </c:pt>
                <c:pt idx="45">
                  <c:v>1875</c:v>
                </c:pt>
                <c:pt idx="46">
                  <c:v>1831</c:v>
                </c:pt>
                <c:pt idx="47">
                  <c:v>1872</c:v>
                </c:pt>
                <c:pt idx="48">
                  <c:v>2191</c:v>
                </c:pt>
                <c:pt idx="49">
                  <c:v>2441</c:v>
                </c:pt>
                <c:pt idx="50">
                  <c:v>2524</c:v>
                </c:pt>
                <c:pt idx="51">
                  <c:v>2413</c:v>
                </c:pt>
                <c:pt idx="52">
                  <c:v>2229</c:v>
                </c:pt>
                <c:pt idx="53">
                  <c:v>2370</c:v>
                </c:pt>
                <c:pt idx="54">
                  <c:v>2231</c:v>
                </c:pt>
                <c:pt idx="55">
                  <c:v>2566</c:v>
                </c:pt>
                <c:pt idx="56">
                  <c:v>2439</c:v>
                </c:pt>
                <c:pt idx="57">
                  <c:v>2567</c:v>
                </c:pt>
                <c:pt idx="58">
                  <c:v>2508</c:v>
                </c:pt>
                <c:pt idx="59">
                  <c:v>2609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C7-4979-B10D-18F0C75AA1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07036287"/>
        <c:axId val="807045023"/>
      </c:lineChart>
      <c:catAx>
        <c:axId val="8070362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2">
                <a:lumMod val="7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7045023"/>
        <c:crosses val="autoZero"/>
        <c:auto val="0"/>
        <c:lblAlgn val="ctr"/>
        <c:lblOffset val="100"/>
        <c:noMultiLvlLbl val="0"/>
      </c:catAx>
      <c:valAx>
        <c:axId val="807045023"/>
        <c:scaling>
          <c:orientation val="minMax"/>
        </c:scaling>
        <c:delete val="0"/>
        <c:axPos val="r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>
                    <a:solidFill>
                      <a:schemeClr val="tx1"/>
                    </a:solidFill>
                  </a:rPr>
                  <a:t>Ticket</a:t>
                </a:r>
                <a:r>
                  <a:rPr lang="en-IN" baseline="0" dirty="0">
                    <a:solidFill>
                      <a:schemeClr val="tx1"/>
                    </a:solidFill>
                  </a:rPr>
                  <a:t> Volume</a:t>
                </a:r>
                <a:endParaRPr lang="en-IN" dirty="0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0.97278817035969944"/>
              <c:y val="0.2414278967305970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7036287"/>
        <c:crosses val="max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0582749426701628"/>
          <c:y val="0.67438071466556881"/>
          <c:w val="0.1347782152230971"/>
          <c:h val="7.8125546806649168E-2"/>
        </c:manualLayout>
      </c:layout>
      <c:overlay val="0"/>
      <c:spPr>
        <a:noFill/>
        <a:ln>
          <a:solidFill>
            <a:schemeClr val="tx2">
              <a:lumMod val="75000"/>
              <a:alpha val="26000"/>
            </a:schemeClr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accent1">
        <a:lumMod val="20000"/>
        <a:lumOff val="80000"/>
        <a:alpha val="53000"/>
      </a:schemeClr>
    </a:solidFill>
    <a:ln w="28575" cap="flat" cmpd="sng" algn="ctr">
      <a:solidFill>
        <a:srgbClr val="4A8FE2"/>
      </a:solidFill>
      <a:round/>
    </a:ln>
    <a:effectLst/>
    <a:scene3d>
      <a:camera prst="orthographicFront"/>
      <a:lightRig rig="threePt" dir="t"/>
    </a:scene3d>
    <a:sp3d>
      <a:bevelT w="63500"/>
      <a:bevelB w="63500"/>
    </a:sp3d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02162037037037"/>
          <c:y val="4.3008950967674715E-2"/>
          <c:w val="0.68629629629629629"/>
          <c:h val="0.93585858585858583"/>
        </c:manualLayout>
      </c:layout>
      <c:pieChart>
        <c:varyColors val="1"/>
        <c:ser>
          <c:idx val="0"/>
          <c:order val="0"/>
          <c:tx>
            <c:strRef>
              <c:f>'[IT Tickets Analysis Dashboard.xlsx]KPI'!$R$11</c:f>
              <c:strCache>
                <c:ptCount val="1"/>
                <c:pt idx="0">
                  <c:v>Sum of Total Ticket</c:v>
                </c:pt>
              </c:strCache>
            </c:strRef>
          </c:tx>
          <c:spPr>
            <a:scene3d>
              <a:camera prst="orthographicFront"/>
              <a:lightRig rig="threePt" dir="t"/>
            </a:scene3d>
            <a:sp3d>
              <a:bevelT w="63500"/>
              <a:bevelB w="63500"/>
            </a:sp3d>
          </c:spPr>
          <c:dPt>
            <c:idx val="0"/>
            <c:bubble3D val="0"/>
            <c:spPr>
              <a:solidFill>
                <a:schemeClr val="accent1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63500"/>
                <a:bevelB w="63500"/>
              </a:sp3d>
            </c:spPr>
            <c:extLst>
              <c:ext xmlns:c16="http://schemas.microsoft.com/office/drawing/2014/chart" uri="{C3380CC4-5D6E-409C-BE32-E72D297353CC}">
                <c16:uniqueId val="{00000001-89DD-4B50-8F94-3B277C34BB93}"/>
              </c:ext>
            </c:extLst>
          </c:dPt>
          <c:dPt>
            <c:idx val="1"/>
            <c:bubble3D val="0"/>
            <c:spPr>
              <a:solidFill>
                <a:schemeClr val="accent1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63500"/>
                <a:bevelB w="63500"/>
              </a:sp3d>
            </c:spPr>
            <c:extLst>
              <c:ext xmlns:c16="http://schemas.microsoft.com/office/drawing/2014/chart" uri="{C3380CC4-5D6E-409C-BE32-E72D297353CC}">
                <c16:uniqueId val="{00000003-89DD-4B50-8F94-3B277C34BB93}"/>
              </c:ext>
            </c:extLst>
          </c:dPt>
          <c:dPt>
            <c:idx val="2"/>
            <c:bubble3D val="0"/>
            <c:spPr>
              <a:solidFill>
                <a:schemeClr val="accent1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63500"/>
                <a:bevelB w="63500"/>
              </a:sp3d>
            </c:spPr>
            <c:extLst>
              <c:ext xmlns:c16="http://schemas.microsoft.com/office/drawing/2014/chart" uri="{C3380CC4-5D6E-409C-BE32-E72D297353CC}">
                <c16:uniqueId val="{00000005-89DD-4B50-8F94-3B277C34BB93}"/>
              </c:ext>
            </c:extLst>
          </c:dPt>
          <c:dPt>
            <c:idx val="3"/>
            <c:bubble3D val="0"/>
            <c:spPr>
              <a:solidFill>
                <a:schemeClr val="accent1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63500"/>
                <a:bevelB w="63500"/>
              </a:sp3d>
            </c:spPr>
            <c:extLst>
              <c:ext xmlns:c16="http://schemas.microsoft.com/office/drawing/2014/chart" uri="{C3380CC4-5D6E-409C-BE32-E72D297353CC}">
                <c16:uniqueId val="{00000007-89DD-4B50-8F94-3B277C34BB93}"/>
              </c:ext>
            </c:extLst>
          </c:dPt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1" i="0" u="none" strike="noStrike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89DD-4B50-8F94-3B277C34BB93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1" i="0" u="none" strike="noStrike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89DD-4B50-8F94-3B277C34BB9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'[IT Tickets Analysis Dashboard.xlsx]KPI'!$Q$12:$Q$15</c:f>
              <c:strCache>
                <c:ptCount val="4"/>
                <c:pt idx="0">
                  <c:v>Hardware</c:v>
                </c:pt>
                <c:pt idx="1">
                  <c:v>System</c:v>
                </c:pt>
                <c:pt idx="2">
                  <c:v>Login Access</c:v>
                </c:pt>
                <c:pt idx="3">
                  <c:v>Software</c:v>
                </c:pt>
              </c:strCache>
            </c:strRef>
          </c:cat>
          <c:val>
            <c:numRef>
              <c:f>'[IT Tickets Analysis Dashboard.xlsx]KPI'!$R$12:$R$15</c:f>
              <c:numCache>
                <c:formatCode>0.00%</c:formatCode>
                <c:ptCount val="4"/>
                <c:pt idx="0">
                  <c:v>0.29942152659541732</c:v>
                </c:pt>
                <c:pt idx="1">
                  <c:v>9.9827688773103038E-2</c:v>
                </c:pt>
                <c:pt idx="2">
                  <c:v>0.20072206609366347</c:v>
                </c:pt>
                <c:pt idx="3">
                  <c:v>0.40002871853781619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9DD-4B50-8F94-3B277C34BB93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2.0380828634969962E-2"/>
          <c:y val="9.765552346923792E-2"/>
          <c:w val="0.3059560185185185"/>
          <c:h val="0.8899696969696969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28575" cap="flat" cmpd="sng" algn="ctr">
      <a:solidFill>
        <a:srgbClr val="4A8FE2"/>
      </a:solidFill>
      <a:round/>
    </a:ln>
    <a:effectLst>
      <a:outerShdw blurRad="76200" dir="18900000" sy="23000" kx="-1200000" algn="bl" rotWithShape="0">
        <a:prstClr val="black">
          <a:alpha val="2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[IT Tickets Analysis Dashboard.xlsx]KPI!AvgStatReso</c:name>
    <c:fmtId val="-1"/>
  </c:pivotSource>
  <c:chart>
    <c:autoTitleDeleted val="1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3.3106224122817676E-2"/>
          <c:y val="2.9568705114955733E-2"/>
          <c:w val="0.93378755175436468"/>
          <c:h val="0.78256754110285276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KPI!$AO$5</c:f>
              <c:strCache>
                <c:ptCount val="1"/>
                <c:pt idx="0">
                  <c:v>Average of Satisfaction Rate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lumMod val="89000"/>
                  </a:schemeClr>
                </a:gs>
                <a:gs pos="23000">
                  <a:schemeClr val="accent1">
                    <a:lumMod val="89000"/>
                  </a:schemeClr>
                </a:gs>
                <a:gs pos="69000">
                  <a:schemeClr val="accent1">
                    <a:lumMod val="75000"/>
                  </a:schemeClr>
                </a:gs>
                <a:gs pos="97000">
                  <a:schemeClr val="accent1">
                    <a:lumMod val="70000"/>
                  </a:schemeClr>
                </a:gs>
              </a:gsLst>
              <a:path path="rect">
                <a:fillToRect l="100000" t="100000"/>
              </a:path>
              <a:tileRect r="-100000" b="-100000"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63500"/>
            </a:sp3d>
          </c:spPr>
          <c:invertIfNegative val="0"/>
          <c:cat>
            <c:multiLvlStrRef>
              <c:f>KPI!$AL$6:$AM$26</c:f>
              <c:multiLvlStrCache>
                <c:ptCount val="20"/>
                <c:lvl>
                  <c:pt idx="0">
                    <c:v>Qtr1</c:v>
                  </c:pt>
                  <c:pt idx="1">
                    <c:v>Qtr2</c:v>
                  </c:pt>
                  <c:pt idx="2">
                    <c:v>Qtr3</c:v>
                  </c:pt>
                  <c:pt idx="3">
                    <c:v>Qtr4</c:v>
                  </c:pt>
                  <c:pt idx="4">
                    <c:v>Qtr1</c:v>
                  </c:pt>
                  <c:pt idx="5">
                    <c:v>Qtr2</c:v>
                  </c:pt>
                  <c:pt idx="6">
                    <c:v>Qtr3</c:v>
                  </c:pt>
                  <c:pt idx="7">
                    <c:v>Qtr4</c:v>
                  </c:pt>
                  <c:pt idx="8">
                    <c:v>Qtr1</c:v>
                  </c:pt>
                  <c:pt idx="9">
                    <c:v>Qtr2</c:v>
                  </c:pt>
                  <c:pt idx="10">
                    <c:v>Qtr3</c:v>
                  </c:pt>
                  <c:pt idx="11">
                    <c:v>Qtr4</c:v>
                  </c:pt>
                  <c:pt idx="12">
                    <c:v>Qtr1</c:v>
                  </c:pt>
                  <c:pt idx="13">
                    <c:v>Qtr2</c:v>
                  </c:pt>
                  <c:pt idx="14">
                    <c:v>Qtr3</c:v>
                  </c:pt>
                  <c:pt idx="15">
                    <c:v>Qtr4</c:v>
                  </c:pt>
                  <c:pt idx="16">
                    <c:v>Qtr1</c:v>
                  </c:pt>
                  <c:pt idx="17">
                    <c:v>Qtr2</c:v>
                  </c:pt>
                  <c:pt idx="18">
                    <c:v>Qtr3</c:v>
                  </c:pt>
                  <c:pt idx="19">
                    <c:v>Qtr4</c:v>
                  </c:pt>
                </c:lvl>
                <c:lvl>
                  <c:pt idx="0">
                    <c:v>2016</c:v>
                  </c:pt>
                  <c:pt idx="4">
                    <c:v>2017</c:v>
                  </c:pt>
                  <c:pt idx="8">
                    <c:v>2018</c:v>
                  </c:pt>
                  <c:pt idx="12">
                    <c:v>2019</c:v>
                  </c:pt>
                  <c:pt idx="16">
                    <c:v>2020</c:v>
                  </c:pt>
                </c:lvl>
              </c:multiLvlStrCache>
            </c:multiLvlStrRef>
          </c:cat>
          <c:val>
            <c:numRef>
              <c:f>KPI!$AO$6:$AO$26</c:f>
              <c:numCache>
                <c:formatCode>0.0</c:formatCode>
                <c:ptCount val="20"/>
                <c:pt idx="0">
                  <c:v>3.9484126984126986</c:v>
                </c:pt>
                <c:pt idx="1">
                  <c:v>3.9660030627871361</c:v>
                </c:pt>
                <c:pt idx="2">
                  <c:v>3.9846248462484626</c:v>
                </c:pt>
                <c:pt idx="3">
                  <c:v>4.0199508901166361</c:v>
                </c:pt>
                <c:pt idx="4">
                  <c:v>4.0651868502388311</c:v>
                </c:pt>
                <c:pt idx="5">
                  <c:v>4.0605112154407932</c:v>
                </c:pt>
                <c:pt idx="6">
                  <c:v>4.0661824051654563</c:v>
                </c:pt>
                <c:pt idx="7">
                  <c:v>4.0804204993429698</c:v>
                </c:pt>
                <c:pt idx="8">
                  <c:v>4.1282231598687291</c:v>
                </c:pt>
                <c:pt idx="9">
                  <c:v>4.0725283630470015</c:v>
                </c:pt>
                <c:pt idx="10">
                  <c:v>4.0876801298964889</c:v>
                </c:pt>
                <c:pt idx="11">
                  <c:v>4.0837305699481865</c:v>
                </c:pt>
                <c:pt idx="12">
                  <c:v>4.1317950723504104</c:v>
                </c:pt>
                <c:pt idx="13">
                  <c:v>4.141692546583851</c:v>
                </c:pt>
                <c:pt idx="14">
                  <c:v>4.1266383280198369</c:v>
                </c:pt>
                <c:pt idx="15">
                  <c:v>4.0916098960200786</c:v>
                </c:pt>
                <c:pt idx="16">
                  <c:v>4.1379262157629961</c:v>
                </c:pt>
                <c:pt idx="17">
                  <c:v>4.1919566457501425</c:v>
                </c:pt>
                <c:pt idx="18">
                  <c:v>4.1846323935876173</c:v>
                </c:pt>
                <c:pt idx="19">
                  <c:v>4.1330036439354503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62-4184-9095-CA5E94D86F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1"/>
        <c:axId val="187748128"/>
        <c:axId val="187746464"/>
      </c:barChart>
      <c:barChart>
        <c:barDir val="col"/>
        <c:grouping val="clustered"/>
        <c:varyColors val="0"/>
        <c:ser>
          <c:idx val="0"/>
          <c:order val="0"/>
          <c:tx>
            <c:strRef>
              <c:f>KPI!$AN$5</c:f>
              <c:strCache>
                <c:ptCount val="1"/>
                <c:pt idx="0">
                  <c:v>Average of Resolution Time (Days)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  <a:effectLst/>
            <a:scene3d>
              <a:camera prst="orthographicFront"/>
              <a:lightRig rig="threePt" dir="t"/>
            </a:scene3d>
            <a:sp3d>
              <a:bevelT w="63500"/>
            </a:sp3d>
          </c:spPr>
          <c:invertIfNegative val="1"/>
          <c:cat>
            <c:multiLvlStrRef>
              <c:f>KPI!$AL$6:$AM$26</c:f>
              <c:multiLvlStrCache>
                <c:ptCount val="20"/>
                <c:lvl>
                  <c:pt idx="0">
                    <c:v>Qtr1</c:v>
                  </c:pt>
                  <c:pt idx="1">
                    <c:v>Qtr2</c:v>
                  </c:pt>
                  <c:pt idx="2">
                    <c:v>Qtr3</c:v>
                  </c:pt>
                  <c:pt idx="3">
                    <c:v>Qtr4</c:v>
                  </c:pt>
                  <c:pt idx="4">
                    <c:v>Qtr1</c:v>
                  </c:pt>
                  <c:pt idx="5">
                    <c:v>Qtr2</c:v>
                  </c:pt>
                  <c:pt idx="6">
                    <c:v>Qtr3</c:v>
                  </c:pt>
                  <c:pt idx="7">
                    <c:v>Qtr4</c:v>
                  </c:pt>
                  <c:pt idx="8">
                    <c:v>Qtr1</c:v>
                  </c:pt>
                  <c:pt idx="9">
                    <c:v>Qtr2</c:v>
                  </c:pt>
                  <c:pt idx="10">
                    <c:v>Qtr3</c:v>
                  </c:pt>
                  <c:pt idx="11">
                    <c:v>Qtr4</c:v>
                  </c:pt>
                  <c:pt idx="12">
                    <c:v>Qtr1</c:v>
                  </c:pt>
                  <c:pt idx="13">
                    <c:v>Qtr2</c:v>
                  </c:pt>
                  <c:pt idx="14">
                    <c:v>Qtr3</c:v>
                  </c:pt>
                  <c:pt idx="15">
                    <c:v>Qtr4</c:v>
                  </c:pt>
                  <c:pt idx="16">
                    <c:v>Qtr1</c:v>
                  </c:pt>
                  <c:pt idx="17">
                    <c:v>Qtr2</c:v>
                  </c:pt>
                  <c:pt idx="18">
                    <c:v>Qtr3</c:v>
                  </c:pt>
                  <c:pt idx="19">
                    <c:v>Qtr4</c:v>
                  </c:pt>
                </c:lvl>
                <c:lvl>
                  <c:pt idx="0">
                    <c:v>2016</c:v>
                  </c:pt>
                  <c:pt idx="4">
                    <c:v>2017</c:v>
                  </c:pt>
                  <c:pt idx="8">
                    <c:v>2018</c:v>
                  </c:pt>
                  <c:pt idx="12">
                    <c:v>2019</c:v>
                  </c:pt>
                  <c:pt idx="16">
                    <c:v>2020</c:v>
                  </c:pt>
                </c:lvl>
              </c:multiLvlStrCache>
            </c:multiLvlStrRef>
          </c:cat>
          <c:val>
            <c:numRef>
              <c:f>KPI!$AN$6:$AN$26</c:f>
              <c:numCache>
                <c:formatCode>0.0</c:formatCode>
                <c:ptCount val="20"/>
                <c:pt idx="0">
                  <c:v>4.5473137973137971</c:v>
                </c:pt>
                <c:pt idx="1">
                  <c:v>4.6217457886676874</c:v>
                </c:pt>
                <c:pt idx="2">
                  <c:v>4.5418204182041819</c:v>
                </c:pt>
                <c:pt idx="3">
                  <c:v>4.4960098219766724</c:v>
                </c:pt>
                <c:pt idx="4">
                  <c:v>4.5611126720989041</c:v>
                </c:pt>
                <c:pt idx="5">
                  <c:v>4.502347417840376</c:v>
                </c:pt>
                <c:pt idx="6">
                  <c:v>4.5297282754909878</c:v>
                </c:pt>
                <c:pt idx="7">
                  <c:v>4.529303547963206</c:v>
                </c:pt>
                <c:pt idx="8">
                  <c:v>4.5508673230192214</c:v>
                </c:pt>
                <c:pt idx="9">
                  <c:v>4.6509319286871964</c:v>
                </c:pt>
                <c:pt idx="10">
                  <c:v>4.4990866653135786</c:v>
                </c:pt>
                <c:pt idx="11">
                  <c:v>4.5320207253886009</c:v>
                </c:pt>
                <c:pt idx="12">
                  <c:v>4.5543605788032853</c:v>
                </c:pt>
                <c:pt idx="13">
                  <c:v>4.5017468944099379</c:v>
                </c:pt>
                <c:pt idx="14">
                  <c:v>4.4961034360609284</c:v>
                </c:pt>
                <c:pt idx="15">
                  <c:v>4.5326281821441379</c:v>
                </c:pt>
                <c:pt idx="16">
                  <c:v>4.6165455561766349</c:v>
                </c:pt>
                <c:pt idx="17">
                  <c:v>4.6150884198516824</c:v>
                </c:pt>
                <c:pt idx="18">
                  <c:v>4.536207849640685</c:v>
                </c:pt>
                <c:pt idx="19">
                  <c:v>4.5775637688703803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62-4184-9095-CA5E94D86F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2"/>
        <c:axId val="1157939616"/>
        <c:axId val="1157941696"/>
      </c:barChart>
      <c:catAx>
        <c:axId val="18774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746464"/>
        <c:crosses val="autoZero"/>
        <c:auto val="1"/>
        <c:lblAlgn val="ctr"/>
        <c:lblOffset val="100"/>
        <c:noMultiLvlLbl val="0"/>
      </c:catAx>
      <c:valAx>
        <c:axId val="187746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accent3">
                  <a:shade val="50000"/>
                  <a:alpha val="36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748128"/>
        <c:crosses val="autoZero"/>
        <c:crossBetween val="between"/>
      </c:valAx>
      <c:valAx>
        <c:axId val="1157941696"/>
        <c:scaling>
          <c:orientation val="minMax"/>
        </c:scaling>
        <c:delete val="0"/>
        <c:axPos val="r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7939616"/>
        <c:crosses val="max"/>
        <c:crossBetween val="between"/>
      </c:valAx>
      <c:catAx>
        <c:axId val="115793961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5794169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3.2351801709157212E-2"/>
          <c:y val="4.6906134177397522E-3"/>
          <c:w val="0.42047908238108"/>
          <c:h val="0.1573205170485807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accent1">
        <a:lumMod val="20000"/>
        <a:lumOff val="80000"/>
        <a:alpha val="60000"/>
      </a:schemeClr>
    </a:solidFill>
    <a:ln w="12700" cap="flat" cmpd="sng" algn="ctr">
      <a:solidFill>
        <a:schemeClr val="accent1">
          <a:lumMod val="7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[IT Tickets Analysis Dashboard.xlsx]Task_Q!PivotTable14</c:name>
    <c:fmtId val="-1"/>
  </c:pivotSource>
  <c:chart>
    <c:autoTitleDeleted val="0"/>
    <c:pivotFmts>
      <c:pivotFmt>
        <c:idx val="0"/>
        <c:spPr>
          <a:solidFill>
            <a:schemeClr val="accent3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3">
                <a:shade val="76000"/>
              </a:schemeClr>
            </a:solidFill>
            <a:ln w="9525">
              <a:solidFill>
                <a:schemeClr val="accent3">
                  <a:shade val="76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/>
          </a:solidFill>
          <a:ln w="28575" cap="rnd">
            <a:solidFill>
              <a:schemeClr val="accent3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tint val="77000"/>
              </a:schemeClr>
            </a:solidFill>
            <a:ln w="9525">
              <a:solidFill>
                <a:schemeClr val="accent3">
                  <a:tint val="77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3"/>
          </a:solidFill>
          <a:ln w="28575" cap="rnd">
            <a:solidFill>
              <a:schemeClr val="accent3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tint val="77000"/>
              </a:schemeClr>
            </a:solidFill>
            <a:ln w="9525">
              <a:solidFill>
                <a:schemeClr val="accent3">
                  <a:tint val="77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/>
          </a:solidFill>
          <a:ln w="28575" cap="rnd">
            <a:solidFill>
              <a:schemeClr val="accent3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tint val="77000"/>
              </a:schemeClr>
            </a:solidFill>
            <a:ln w="9525">
              <a:solidFill>
                <a:schemeClr val="accent3">
                  <a:tint val="77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Task_Q!$AX$35</c:f>
              <c:strCache>
                <c:ptCount val="1"/>
                <c:pt idx="0">
                  <c:v>Average of Resolution Time (Days)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rect">
                <a:fillToRect l="100000" t="100000"/>
              </a:path>
              <a:tileRect r="-100000" b="-100000"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63500" h="25400"/>
              <a:bevelB w="63500" h="25400"/>
            </a:sp3d>
          </c:spPr>
          <c:invertIfNegative val="0"/>
          <c:cat>
            <c:multiLvlStrRef>
              <c:f>Task_Q!$AV$36:$AW$46</c:f>
              <c:multiLvlStrCache>
                <c:ptCount val="10"/>
                <c:lvl>
                  <c:pt idx="0">
                    <c:v>Alfonso Barraza</c:v>
                  </c:pt>
                  <c:pt idx="1">
                    <c:v>Lorena</c:v>
                  </c:pt>
                  <c:pt idx="2">
                    <c:v>Nurio Zepeda</c:v>
                  </c:pt>
                  <c:pt idx="3">
                    <c:v>Elena Velez</c:v>
                  </c:pt>
                  <c:pt idx="4">
                    <c:v>A. Trejo</c:v>
                  </c:pt>
                  <c:pt idx="5">
                    <c:v>Sandra Lujan</c:v>
                  </c:pt>
                  <c:pt idx="6">
                    <c:v>Guadalupe Villanueva</c:v>
                  </c:pt>
                  <c:pt idx="7">
                    <c:v>Lopez Moran.</c:v>
                  </c:pt>
                  <c:pt idx="8">
                    <c:v>Jesus Pacheco</c:v>
                  </c:pt>
                  <c:pt idx="9">
                    <c:v>Orci Carlos</c:v>
                  </c:pt>
                </c:lvl>
                <c:lvl>
                  <c:pt idx="0">
                    <c:v>19</c:v>
                  </c:pt>
                  <c:pt idx="1">
                    <c:v>22</c:v>
                  </c:pt>
                  <c:pt idx="2">
                    <c:v>28</c:v>
                  </c:pt>
                  <c:pt idx="3">
                    <c:v>3</c:v>
                  </c:pt>
                  <c:pt idx="4">
                    <c:v>6</c:v>
                  </c:pt>
                  <c:pt idx="5">
                    <c:v>25</c:v>
                  </c:pt>
                  <c:pt idx="6">
                    <c:v>33</c:v>
                  </c:pt>
                  <c:pt idx="7">
                    <c:v>11</c:v>
                  </c:pt>
                  <c:pt idx="8">
                    <c:v>37</c:v>
                  </c:pt>
                  <c:pt idx="9">
                    <c:v>16</c:v>
                  </c:pt>
                </c:lvl>
              </c:multiLvlStrCache>
            </c:multiLvlStrRef>
          </c:cat>
          <c:val>
            <c:numRef>
              <c:f>Task_Q!$AX$36:$AX$46</c:f>
              <c:numCache>
                <c:formatCode>0.00</c:formatCode>
                <c:ptCount val="10"/>
                <c:pt idx="0">
                  <c:v>4.9994959677419351</c:v>
                </c:pt>
                <c:pt idx="1">
                  <c:v>5.5111902339776195</c:v>
                </c:pt>
                <c:pt idx="2">
                  <c:v>5.4095580678314494</c:v>
                </c:pt>
                <c:pt idx="3">
                  <c:v>5.3819891142998513</c:v>
                </c:pt>
                <c:pt idx="4">
                  <c:v>5.3206772703950742</c:v>
                </c:pt>
                <c:pt idx="5">
                  <c:v>5.2046169989506819</c:v>
                </c:pt>
                <c:pt idx="6">
                  <c:v>4.8043922369765069</c:v>
                </c:pt>
                <c:pt idx="7">
                  <c:v>4.7781186094069525</c:v>
                </c:pt>
                <c:pt idx="8">
                  <c:v>4.5950284826514762</c:v>
                </c:pt>
                <c:pt idx="9">
                  <c:v>4.3177570093457946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2B-40CB-AD97-E81DE250F0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80735791"/>
        <c:axId val="480738287"/>
      </c:barChart>
      <c:lineChart>
        <c:grouping val="standard"/>
        <c:varyColors val="0"/>
        <c:ser>
          <c:idx val="1"/>
          <c:order val="1"/>
          <c:tx>
            <c:strRef>
              <c:f>Task_Q!$AY$35</c:f>
              <c:strCache>
                <c:ptCount val="1"/>
                <c:pt idx="0">
                  <c:v>Average of Satisfaction Rate</c:v>
                </c:pt>
              </c:strCache>
            </c:strRef>
          </c:tx>
          <c:spPr>
            <a:ln w="44450" cap="rnd">
              <a:solidFill>
                <a:schemeClr val="accent1"/>
              </a:solidFill>
              <a:round/>
            </a:ln>
            <a:effectLst/>
          </c:spPr>
          <c:marker>
            <c:symbol val="x"/>
            <c:size val="6"/>
            <c:spPr>
              <a:solidFill>
                <a:schemeClr val="tx2">
                  <a:lumMod val="60000"/>
                  <a:lumOff val="40000"/>
                </a:schemeClr>
              </a:solidFill>
              <a:ln w="9525">
                <a:solidFill>
                  <a:schemeClr val="accen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63500"/>
              </a:sp3d>
            </c:spPr>
          </c:marker>
          <c:cat>
            <c:multiLvlStrRef>
              <c:f>Task_Q!$AV$36:$AW$46</c:f>
              <c:multiLvlStrCache>
                <c:ptCount val="10"/>
                <c:lvl>
                  <c:pt idx="0">
                    <c:v>Alfonso Barraza</c:v>
                  </c:pt>
                  <c:pt idx="1">
                    <c:v>Lorena</c:v>
                  </c:pt>
                  <c:pt idx="2">
                    <c:v>Nurio Zepeda</c:v>
                  </c:pt>
                  <c:pt idx="3">
                    <c:v>Elena Velez</c:v>
                  </c:pt>
                  <c:pt idx="4">
                    <c:v>A. Trejo</c:v>
                  </c:pt>
                  <c:pt idx="5">
                    <c:v>Sandra Lujan</c:v>
                  </c:pt>
                  <c:pt idx="6">
                    <c:v>Guadalupe Villanueva</c:v>
                  </c:pt>
                  <c:pt idx="7">
                    <c:v>Lopez Moran.</c:v>
                  </c:pt>
                  <c:pt idx="8">
                    <c:v>Jesus Pacheco</c:v>
                  </c:pt>
                  <c:pt idx="9">
                    <c:v>Orci Carlos</c:v>
                  </c:pt>
                </c:lvl>
                <c:lvl>
                  <c:pt idx="0">
                    <c:v>19</c:v>
                  </c:pt>
                  <c:pt idx="1">
                    <c:v>22</c:v>
                  </c:pt>
                  <c:pt idx="2">
                    <c:v>28</c:v>
                  </c:pt>
                  <c:pt idx="3">
                    <c:v>3</c:v>
                  </c:pt>
                  <c:pt idx="4">
                    <c:v>6</c:v>
                  </c:pt>
                  <c:pt idx="5">
                    <c:v>25</c:v>
                  </c:pt>
                  <c:pt idx="6">
                    <c:v>33</c:v>
                  </c:pt>
                  <c:pt idx="7">
                    <c:v>11</c:v>
                  </c:pt>
                  <c:pt idx="8">
                    <c:v>37</c:v>
                  </c:pt>
                  <c:pt idx="9">
                    <c:v>16</c:v>
                  </c:pt>
                </c:lvl>
              </c:multiLvlStrCache>
            </c:multiLvlStrRef>
          </c:cat>
          <c:val>
            <c:numRef>
              <c:f>Task_Q!$AY$36:$AY$46</c:f>
              <c:numCache>
                <c:formatCode>0.00</c:formatCode>
                <c:ptCount val="10"/>
                <c:pt idx="0">
                  <c:v>3.0423387096774195</c:v>
                </c:pt>
                <c:pt idx="1">
                  <c:v>3.6281790437436419</c:v>
                </c:pt>
                <c:pt idx="2">
                  <c:v>3.6120246659815005</c:v>
                </c:pt>
                <c:pt idx="3">
                  <c:v>3.6150420583869374</c:v>
                </c:pt>
                <c:pt idx="4">
                  <c:v>3.5926115956900975</c:v>
                </c:pt>
                <c:pt idx="5">
                  <c:v>3.6012591815320043</c:v>
                </c:pt>
                <c:pt idx="6">
                  <c:v>3.6312563840653729</c:v>
                </c:pt>
                <c:pt idx="7">
                  <c:v>3.6380368098159508</c:v>
                </c:pt>
                <c:pt idx="8">
                  <c:v>3.6607975142413256</c:v>
                </c:pt>
                <c:pt idx="9">
                  <c:v>3.6651090342679127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52B-40CB-AD97-E81DE250F0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2216495"/>
        <c:axId val="1102193199"/>
      </c:lineChart>
      <c:catAx>
        <c:axId val="4807357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0738287"/>
        <c:crosses val="autoZero"/>
        <c:auto val="1"/>
        <c:lblAlgn val="ctr"/>
        <c:lblOffset val="100"/>
        <c:noMultiLvlLbl val="0"/>
      </c:catAx>
      <c:valAx>
        <c:axId val="4807382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0735791"/>
        <c:crosses val="autoZero"/>
        <c:crossBetween val="between"/>
      </c:valAx>
      <c:valAx>
        <c:axId val="1102193199"/>
        <c:scaling>
          <c:orientation val="minMax"/>
        </c:scaling>
        <c:delete val="0"/>
        <c:axPos val="r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2216495"/>
        <c:crosses val="max"/>
        <c:crossBetween val="between"/>
      </c:valAx>
      <c:catAx>
        <c:axId val="110221649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0219319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accent1">
        <a:lumMod val="20000"/>
        <a:lumOff val="80000"/>
        <a:alpha val="60000"/>
      </a:schemeClr>
    </a:solidFill>
    <a:ln w="28575" cmpd="sng">
      <a:solidFill>
        <a:srgbClr val="4A8FE2"/>
      </a:solidFill>
      <a:prstDash val="solid"/>
    </a:ln>
    <a:effectLst/>
    <a:scene3d>
      <a:camera prst="orthographicFront"/>
      <a:lightRig rig="threePt" dir="t"/>
    </a:scene3d>
    <a:sp3d>
      <a:bevelT w="63500"/>
      <a:bevelB w="63500"/>
    </a:sp3d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[IT Tickets Analysis Dashboard.xlsx]Task_Q!PivotTable15</c:name>
    <c:fmtId val="-1"/>
  </c:pivotSource>
  <c:chart>
    <c:autoTitleDeleted val="0"/>
    <c:pivotFmts>
      <c:pivotFmt>
        <c:idx val="0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/>
          </a:solidFill>
          <a:ln w="28575" cap="rnd">
            <a:solidFill>
              <a:schemeClr val="accent3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/>
          </a:solidFill>
          <a:ln w="28575" cap="rnd">
            <a:solidFill>
              <a:schemeClr val="accent3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tint val="65000"/>
              </a:schemeClr>
            </a:solidFill>
            <a:ln w="9525">
              <a:solidFill>
                <a:schemeClr val="accent3">
                  <a:tint val="65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/>
          </a:solidFill>
          <a:ln w="28575" cap="rnd">
            <a:solidFill>
              <a:schemeClr val="accent3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/>
          </a:solidFill>
          <a:ln w="28575" cap="rnd">
            <a:solidFill>
              <a:schemeClr val="accent3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tint val="65000"/>
              </a:schemeClr>
            </a:solidFill>
            <a:ln w="9525">
              <a:solidFill>
                <a:schemeClr val="accent3">
                  <a:tint val="65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3"/>
          </a:solidFill>
          <a:ln w="28575" cap="rnd">
            <a:solidFill>
              <a:schemeClr val="accent3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3"/>
          </a:solidFill>
          <a:ln w="28575" cap="rnd">
            <a:solidFill>
              <a:schemeClr val="accent3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>
                <a:tint val="65000"/>
              </a:schemeClr>
            </a:solidFill>
            <a:ln w="9525">
              <a:solidFill>
                <a:schemeClr val="accent3">
                  <a:tint val="65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Task_Q!$BB$35</c:f>
              <c:strCache>
                <c:ptCount val="1"/>
                <c:pt idx="0">
                  <c:v>Sum of Total Ticket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rect">
                <a:fillToRect l="100000" t="100000"/>
              </a:path>
              <a:tileRect r="-100000" b="-100000"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63500"/>
            </a:sp3d>
          </c:spPr>
          <c:invertIfNegative val="0"/>
          <c:cat>
            <c:strRef>
              <c:f>Task_Q!$BA$36:$BA$43</c:f>
              <c:strCache>
                <c:ptCount val="7"/>
                <c:pt idx="0">
                  <c:v>2</c:v>
                </c:pt>
                <c:pt idx="1">
                  <c:v>15</c:v>
                </c:pt>
                <c:pt idx="2">
                  <c:v>29</c:v>
                </c:pt>
                <c:pt idx="3">
                  <c:v>11</c:v>
                </c:pt>
                <c:pt idx="4">
                  <c:v>22</c:v>
                </c:pt>
                <c:pt idx="5">
                  <c:v>28</c:v>
                </c:pt>
                <c:pt idx="6">
                  <c:v>3</c:v>
                </c:pt>
              </c:strCache>
            </c:strRef>
          </c:cat>
          <c:val>
            <c:numRef>
              <c:f>Task_Q!$BB$36:$BB$43</c:f>
              <c:numCache>
                <c:formatCode>0</c:formatCode>
                <c:ptCount val="7"/>
                <c:pt idx="0">
                  <c:v>1968</c:v>
                </c:pt>
                <c:pt idx="1">
                  <c:v>1991</c:v>
                </c:pt>
                <c:pt idx="2">
                  <c:v>1931</c:v>
                </c:pt>
                <c:pt idx="3">
                  <c:v>1956</c:v>
                </c:pt>
                <c:pt idx="4">
                  <c:v>1966</c:v>
                </c:pt>
                <c:pt idx="5">
                  <c:v>1946</c:v>
                </c:pt>
                <c:pt idx="6">
                  <c:v>2021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7B-4731-9D86-4F19C2C01B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48231215"/>
        <c:axId val="1648223311"/>
      </c:barChart>
      <c:lineChart>
        <c:grouping val="standard"/>
        <c:varyColors val="0"/>
        <c:ser>
          <c:idx val="1"/>
          <c:order val="1"/>
          <c:tx>
            <c:strRef>
              <c:f>Task_Q!$BC$35</c:f>
              <c:strCache>
                <c:ptCount val="1"/>
                <c:pt idx="0">
                  <c:v>Average of Resolution Time (Days)</c:v>
                </c:pt>
              </c:strCache>
            </c:strRef>
          </c:tx>
          <c:spPr>
            <a:ln w="28575" cap="rnd">
              <a:solidFill>
                <a:schemeClr val="tx2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chemeClr val="tx1"/>
              </a:solidFill>
              <a:ln w="9525">
                <a:solidFill>
                  <a:schemeClr val="accent3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63500"/>
              </a:sp3d>
            </c:spPr>
          </c:marker>
          <c:cat>
            <c:strRef>
              <c:f>Task_Q!$BA$36:$BA$43</c:f>
              <c:strCache>
                <c:ptCount val="7"/>
                <c:pt idx="0">
                  <c:v>2</c:v>
                </c:pt>
                <c:pt idx="1">
                  <c:v>15</c:v>
                </c:pt>
                <c:pt idx="2">
                  <c:v>29</c:v>
                </c:pt>
                <c:pt idx="3">
                  <c:v>11</c:v>
                </c:pt>
                <c:pt idx="4">
                  <c:v>22</c:v>
                </c:pt>
                <c:pt idx="5">
                  <c:v>28</c:v>
                </c:pt>
                <c:pt idx="6">
                  <c:v>3</c:v>
                </c:pt>
              </c:strCache>
            </c:strRef>
          </c:cat>
          <c:val>
            <c:numRef>
              <c:f>Task_Q!$BC$36:$BC$43</c:f>
              <c:numCache>
                <c:formatCode>0.00</c:formatCode>
                <c:ptCount val="7"/>
                <c:pt idx="0">
                  <c:v>3.5965447154471546</c:v>
                </c:pt>
                <c:pt idx="1">
                  <c:v>3.6559517830236063</c:v>
                </c:pt>
                <c:pt idx="2">
                  <c:v>3.7167270844122218</c:v>
                </c:pt>
                <c:pt idx="3">
                  <c:v>4.7781186094069525</c:v>
                </c:pt>
                <c:pt idx="4">
                  <c:v>5.5111902339776195</c:v>
                </c:pt>
                <c:pt idx="5">
                  <c:v>5.4095580678314494</c:v>
                </c:pt>
                <c:pt idx="6">
                  <c:v>5.3819891142998513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E7B-4731-9D86-4F19C2C01BB0}"/>
            </c:ext>
          </c:extLst>
        </c:ser>
        <c:ser>
          <c:idx val="2"/>
          <c:order val="2"/>
          <c:tx>
            <c:strRef>
              <c:f>Task_Q!$BD$35</c:f>
              <c:strCache>
                <c:ptCount val="1"/>
                <c:pt idx="0">
                  <c:v>Average of Satisfaction Rate</c:v>
                </c:pt>
              </c:strCache>
            </c:strRef>
          </c:tx>
          <c:spPr>
            <a:ln w="28575" cap="rnd">
              <a:solidFill>
                <a:schemeClr val="bg2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tint val="65000"/>
                </a:schemeClr>
              </a:solidFill>
              <a:ln w="9525">
                <a:solidFill>
                  <a:schemeClr val="accent3">
                    <a:tint val="65000"/>
                  </a:schemeClr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63500"/>
              </a:sp3d>
            </c:spPr>
          </c:marker>
          <c:cat>
            <c:strRef>
              <c:f>Task_Q!$BA$36:$BA$43</c:f>
              <c:strCache>
                <c:ptCount val="7"/>
                <c:pt idx="0">
                  <c:v>2</c:v>
                </c:pt>
                <c:pt idx="1">
                  <c:v>15</c:v>
                </c:pt>
                <c:pt idx="2">
                  <c:v>29</c:v>
                </c:pt>
                <c:pt idx="3">
                  <c:v>11</c:v>
                </c:pt>
                <c:pt idx="4">
                  <c:v>22</c:v>
                </c:pt>
                <c:pt idx="5">
                  <c:v>28</c:v>
                </c:pt>
                <c:pt idx="6">
                  <c:v>3</c:v>
                </c:pt>
              </c:strCache>
            </c:strRef>
          </c:cat>
          <c:val>
            <c:numRef>
              <c:f>Task_Q!$BD$36:$BD$43</c:f>
              <c:numCache>
                <c:formatCode>0.00</c:formatCode>
                <c:ptCount val="7"/>
                <c:pt idx="0">
                  <c:v>4.4735772357723578</c:v>
                </c:pt>
                <c:pt idx="1">
                  <c:v>4.4716223003515818</c:v>
                </c:pt>
                <c:pt idx="2">
                  <c:v>4.4614189539098916</c:v>
                </c:pt>
                <c:pt idx="3">
                  <c:v>3.6380368098159508</c:v>
                </c:pt>
                <c:pt idx="4">
                  <c:v>3.6281790437436419</c:v>
                </c:pt>
                <c:pt idx="5">
                  <c:v>3.6120246659815005</c:v>
                </c:pt>
                <c:pt idx="6">
                  <c:v>3.6150420583869374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E7B-4731-9D86-4F19C2C01B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48217903"/>
        <c:axId val="1648237039"/>
      </c:lineChart>
      <c:catAx>
        <c:axId val="1648231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8223311"/>
        <c:crosses val="autoZero"/>
        <c:auto val="1"/>
        <c:lblAlgn val="ctr"/>
        <c:lblOffset val="100"/>
        <c:noMultiLvlLbl val="0"/>
      </c:catAx>
      <c:valAx>
        <c:axId val="1648223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8231215"/>
        <c:crosses val="autoZero"/>
        <c:crossBetween val="between"/>
      </c:valAx>
      <c:valAx>
        <c:axId val="1648237039"/>
        <c:scaling>
          <c:orientation val="minMax"/>
        </c:scaling>
        <c:delete val="0"/>
        <c:axPos val="r"/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8217903"/>
        <c:crosses val="max"/>
        <c:crossBetween val="between"/>
      </c:valAx>
      <c:catAx>
        <c:axId val="16482179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4823703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accent1">
        <a:lumMod val="20000"/>
        <a:lumOff val="80000"/>
        <a:alpha val="50000"/>
      </a:schemeClr>
    </a:solidFill>
    <a:ln w="15875">
      <a:solidFill>
        <a:srgbClr val="4A8FE2"/>
      </a:solidFill>
    </a:ln>
    <a:effectLst/>
    <a:scene3d>
      <a:camera prst="orthographicFront"/>
      <a:lightRig rig="threePt" dir="t"/>
    </a:scene3d>
    <a:sp3d>
      <a:bevelT w="63500"/>
      <a:bevelB w="63500"/>
    </a:sp3d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[IT Tickets Analysis Dashboard.xlsx]Task_Q!PivotTable17</c:name>
    <c:fmtId val="-1"/>
  </c:pivotSource>
  <c:chart>
    <c:autoTitleDeleted val="0"/>
    <c:pivotFmts>
      <c:pivotFmt>
        <c:idx val="0"/>
        <c:spPr>
          <a:solidFill>
            <a:schemeClr val="accent1"/>
          </a:solidFill>
          <a:ln w="44450" cap="rnd">
            <a:solidFill>
              <a:schemeClr val="bg2">
                <a:lumMod val="90000"/>
              </a:schemeClr>
            </a:solidFill>
            <a:round/>
          </a:ln>
          <a:effectLst/>
        </c:spPr>
        <c:marker>
          <c:symbol val="diamond"/>
          <c:size val="7"/>
          <c:spPr>
            <a:solidFill>
              <a:srgbClr val="BCF6F6"/>
            </a:solidFill>
            <a:ln w="9525">
              <a:solidFill>
                <a:schemeClr val="tx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flip="none" rotWithShape="1">
            <a:gsLst>
              <a:gs pos="0">
                <a:schemeClr val="accent3">
                  <a:lumMod val="56000"/>
                  <a:lumOff val="44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lin ang="2700000" scaled="1"/>
            <a:tileRect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flip="none" rotWithShape="1">
            <a:gsLst>
              <a:gs pos="0">
                <a:schemeClr val="accent3">
                  <a:lumMod val="56000"/>
                  <a:lumOff val="44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lin ang="2700000" scaled="1"/>
            <a:tileRect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44450" cap="rnd">
            <a:solidFill>
              <a:schemeClr val="bg2">
                <a:lumMod val="90000"/>
              </a:schemeClr>
            </a:solidFill>
            <a:round/>
          </a:ln>
          <a:effectLst/>
        </c:spPr>
        <c:marker>
          <c:symbol val="diamond"/>
          <c:size val="7"/>
          <c:spPr>
            <a:solidFill>
              <a:srgbClr val="BCF6F6"/>
            </a:solidFill>
            <a:ln w="9525">
              <a:solidFill>
                <a:schemeClr val="tx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46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flip="none" rotWithShape="1">
            <a:gsLst>
              <a:gs pos="0">
                <a:schemeClr val="accent3">
                  <a:lumMod val="56000"/>
                  <a:lumOff val="44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lin ang="2700000" scaled="1"/>
            <a:tileRect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44450" cap="rnd">
            <a:solidFill>
              <a:schemeClr val="bg2">
                <a:lumMod val="90000"/>
              </a:schemeClr>
            </a:solidFill>
            <a:round/>
          </a:ln>
          <a:effectLst/>
        </c:spPr>
        <c:marker>
          <c:symbol val="diamond"/>
          <c:size val="7"/>
          <c:spPr>
            <a:solidFill>
              <a:srgbClr val="BCF6F6"/>
            </a:solidFill>
            <a:ln w="9525">
              <a:solidFill>
                <a:schemeClr val="tx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Task_Q!$BH$35</c:f>
              <c:strCache>
                <c:ptCount val="1"/>
                <c:pt idx="0">
                  <c:v>Average of Resolution Time (Days)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rect">
                <a:fillToRect l="100000" t="100000"/>
              </a:path>
              <a:tileRect r="-100000" b="-100000"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63500" h="25400"/>
              <a:bevelB w="63500" h="25400"/>
            </a:sp3d>
          </c:spPr>
          <c:invertIfNegative val="0"/>
          <c:cat>
            <c:strRef>
              <c:f>Task_Q!$BF$36:$BF$40</c:f>
              <c:strCache>
                <c:ptCount val="4"/>
                <c:pt idx="0">
                  <c:v>&lt;30</c:v>
                </c:pt>
                <c:pt idx="1">
                  <c:v>30-41</c:v>
                </c:pt>
                <c:pt idx="2">
                  <c:v>41-50</c:v>
                </c:pt>
                <c:pt idx="3">
                  <c:v>50+</c:v>
                </c:pt>
              </c:strCache>
            </c:strRef>
          </c:cat>
          <c:val>
            <c:numRef>
              <c:f>Task_Q!$BH$36:$BH$40</c:f>
              <c:numCache>
                <c:formatCode>0.00</c:formatCode>
                <c:ptCount val="4"/>
                <c:pt idx="0">
                  <c:v>4.5746957797531715</c:v>
                </c:pt>
                <c:pt idx="1">
                  <c:v>4.6426788560430641</c:v>
                </c:pt>
                <c:pt idx="2">
                  <c:v>4.5820208654469097</c:v>
                </c:pt>
                <c:pt idx="3">
                  <c:v>3.9807473084230525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40-4EDA-BF19-C63339B8ECE3}"/>
            </c:ext>
          </c:extLst>
        </c:ser>
        <c:ser>
          <c:idx val="2"/>
          <c:order val="2"/>
          <c:tx>
            <c:strRef>
              <c:f>Task_Q!$BI$35</c:f>
              <c:strCache>
                <c:ptCount val="1"/>
                <c:pt idx="0">
                  <c:v>Average of Satisfaction Rate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lumMod val="70000"/>
                    <a:lumOff val="30000"/>
                  </a:schemeClr>
                </a:gs>
                <a:gs pos="35000">
                  <a:schemeClr val="accent1">
                    <a:lumMod val="10000"/>
                    <a:lumOff val="9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  <a:effectLst/>
            <a:scene3d>
              <a:camera prst="orthographicFront"/>
              <a:lightRig rig="threePt" dir="t"/>
            </a:scene3d>
            <a:sp3d>
              <a:bevelT w="63500" h="25400"/>
              <a:bevelB w="63500" h="25400"/>
            </a:sp3d>
          </c:spPr>
          <c:invertIfNegative val="0"/>
          <c:cat>
            <c:strRef>
              <c:f>Task_Q!$BF$36:$BF$40</c:f>
              <c:strCache>
                <c:ptCount val="4"/>
                <c:pt idx="0">
                  <c:v>&lt;30</c:v>
                </c:pt>
                <c:pt idx="1">
                  <c:v>30-41</c:v>
                </c:pt>
                <c:pt idx="2">
                  <c:v>41-50</c:v>
                </c:pt>
                <c:pt idx="3">
                  <c:v>50+</c:v>
                </c:pt>
              </c:strCache>
            </c:strRef>
          </c:cat>
          <c:val>
            <c:numRef>
              <c:f>Task_Q!$BI$36:$BI$40</c:f>
              <c:numCache>
                <c:formatCode>0.00</c:formatCode>
                <c:ptCount val="4"/>
                <c:pt idx="0">
                  <c:v>4.2302580478122032</c:v>
                </c:pt>
                <c:pt idx="1">
                  <c:v>4.1292815685802786</c:v>
                </c:pt>
                <c:pt idx="2">
                  <c:v>3.9921587024998324</c:v>
                </c:pt>
                <c:pt idx="3">
                  <c:v>4.4049398353388218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40-4EDA-BF19-C63339B8EC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36057263"/>
        <c:axId val="36066415"/>
      </c:barChart>
      <c:lineChart>
        <c:grouping val="standard"/>
        <c:varyColors val="0"/>
        <c:ser>
          <c:idx val="0"/>
          <c:order val="0"/>
          <c:tx>
            <c:strRef>
              <c:f>Task_Q!$BG$35</c:f>
              <c:strCache>
                <c:ptCount val="1"/>
                <c:pt idx="0">
                  <c:v>Ticket</c:v>
                </c:pt>
              </c:strCache>
            </c:strRef>
          </c:tx>
          <c:spPr>
            <a:ln w="44450" cap="rnd">
              <a:solidFill>
                <a:schemeClr val="bg2">
                  <a:lumMod val="90000"/>
                </a:schemeClr>
              </a:solidFill>
              <a:round/>
            </a:ln>
            <a:effectLst/>
          </c:spPr>
          <c:marker>
            <c:symbol val="diamond"/>
            <c:size val="7"/>
            <c:spPr>
              <a:solidFill>
                <a:srgbClr val="BCF6F6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strRef>
              <c:f>Task_Q!$BF$36:$BF$40</c:f>
              <c:strCache>
                <c:ptCount val="4"/>
                <c:pt idx="0">
                  <c:v>&lt;30</c:v>
                </c:pt>
                <c:pt idx="1">
                  <c:v>30-41</c:v>
                </c:pt>
                <c:pt idx="2">
                  <c:v>41-50</c:v>
                </c:pt>
                <c:pt idx="3">
                  <c:v>50+</c:v>
                </c:pt>
              </c:strCache>
            </c:strRef>
          </c:cat>
          <c:val>
            <c:numRef>
              <c:f>Task_Q!$BG$36:$BG$40</c:f>
              <c:numCache>
                <c:formatCode>0</c:formatCode>
                <c:ptCount val="4"/>
                <c:pt idx="0">
                  <c:v>11587</c:v>
                </c:pt>
                <c:pt idx="1">
                  <c:v>33253</c:v>
                </c:pt>
                <c:pt idx="2">
                  <c:v>44763</c:v>
                </c:pt>
                <c:pt idx="3">
                  <c:v>7895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140-4EDA-BF19-C63339B8EC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6042703"/>
        <c:axId val="36060591"/>
      </c:lineChart>
      <c:catAx>
        <c:axId val="36057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066415"/>
        <c:crosses val="autoZero"/>
        <c:auto val="1"/>
        <c:lblAlgn val="ctr"/>
        <c:lblOffset val="100"/>
        <c:noMultiLvlLbl val="0"/>
      </c:catAx>
      <c:valAx>
        <c:axId val="36066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057263"/>
        <c:crosses val="autoZero"/>
        <c:crossBetween val="between"/>
      </c:valAx>
      <c:valAx>
        <c:axId val="36060591"/>
        <c:scaling>
          <c:orientation val="minMax"/>
        </c:scaling>
        <c:delete val="0"/>
        <c:axPos val="r"/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042703"/>
        <c:crosses val="max"/>
        <c:crossBetween val="between"/>
      </c:valAx>
      <c:catAx>
        <c:axId val="360427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606059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[IT Tickets Analysis Dashboard.xlsx]Task_Q!PivotTable19</c:name>
    <c:fmtId val="-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Task_Q!$BM$35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c:spPr>
          <c:invertIfNegative val="0"/>
          <c:dPt>
            <c:idx val="1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2">
                    <a:lumMod val="50000"/>
                  </a:schemeClr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1-48C6-4A5C-950D-62BADEDBFDF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2">
                    <a:lumMod val="50000"/>
                  </a:schemeClr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2-48C6-4A5C-950D-62BADEDBFDF2}"/>
              </c:ext>
            </c:extLst>
          </c:dPt>
          <c:cat>
            <c:strRef>
              <c:f>Task_Q!$BL$36:$BL$46</c:f>
              <c:strCache>
                <c:ptCount val="10"/>
                <c:pt idx="0">
                  <c:v>19</c:v>
                </c:pt>
                <c:pt idx="1">
                  <c:v>6</c:v>
                </c:pt>
                <c:pt idx="2">
                  <c:v>25</c:v>
                </c:pt>
                <c:pt idx="3">
                  <c:v>28</c:v>
                </c:pt>
                <c:pt idx="4">
                  <c:v>3</c:v>
                </c:pt>
                <c:pt idx="5">
                  <c:v>22</c:v>
                </c:pt>
                <c:pt idx="6">
                  <c:v>33</c:v>
                </c:pt>
                <c:pt idx="7">
                  <c:v>11</c:v>
                </c:pt>
                <c:pt idx="8">
                  <c:v>37</c:v>
                </c:pt>
                <c:pt idx="9">
                  <c:v>16</c:v>
                </c:pt>
              </c:strCache>
            </c:strRef>
          </c:cat>
          <c:val>
            <c:numRef>
              <c:f>Task_Q!$BM$36:$BM$46</c:f>
              <c:numCache>
                <c:formatCode>0.00</c:formatCode>
                <c:ptCount val="10"/>
                <c:pt idx="0">
                  <c:v>3.0423387096774195</c:v>
                </c:pt>
                <c:pt idx="1">
                  <c:v>3.5926115956900975</c:v>
                </c:pt>
                <c:pt idx="2">
                  <c:v>3.6012591815320043</c:v>
                </c:pt>
                <c:pt idx="3">
                  <c:v>3.6120246659815005</c:v>
                </c:pt>
                <c:pt idx="4">
                  <c:v>3.6150420583869374</c:v>
                </c:pt>
                <c:pt idx="5">
                  <c:v>3.6281790437436419</c:v>
                </c:pt>
                <c:pt idx="6">
                  <c:v>3.6312563840653729</c:v>
                </c:pt>
                <c:pt idx="7">
                  <c:v>3.6380368098159508</c:v>
                </c:pt>
                <c:pt idx="8">
                  <c:v>3.6607975142413256</c:v>
                </c:pt>
                <c:pt idx="9">
                  <c:v>3.6651090342679127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26-4F7B-8F5A-7FB8639706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48302767"/>
        <c:axId val="1648311087"/>
      </c:barChart>
      <c:catAx>
        <c:axId val="1648302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8311087"/>
        <c:crosses val="autoZero"/>
        <c:auto val="1"/>
        <c:lblAlgn val="ctr"/>
        <c:lblOffset val="100"/>
        <c:noMultiLvlLbl val="0"/>
      </c:catAx>
      <c:valAx>
        <c:axId val="1648311087"/>
        <c:scaling>
          <c:orientation val="minMax"/>
          <c:max val="4"/>
          <c:min val="2.9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30000"/>
                </a:schemeClr>
              </a:solidFill>
              <a:prstDash val="solid"/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83027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>
        <a:alpha val="50000"/>
      </a:schemeClr>
    </a:solidFill>
    <a:ln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[IT Tickets Analysis Dashboard.xlsx]Task_Q!PivotTable20</c:name>
    <c:fmtId val="-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Task_Q!$BR$35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  <a:effectLst/>
            <a:scene3d>
              <a:camera prst="orthographicFront"/>
              <a:lightRig rig="threePt" dir="t"/>
            </a:scene3d>
            <a:sp3d>
              <a:bevelT w="63500" h="0"/>
            </a:sp3d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2">
                    <a:lumMod val="50000"/>
                  </a:schemeClr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63500" h="0"/>
              </a:sp3d>
            </c:spPr>
            <c:extLst>
              <c:ext xmlns:c16="http://schemas.microsoft.com/office/drawing/2014/chart" uri="{C3380CC4-5D6E-409C-BE32-E72D297353CC}">
                <c16:uniqueId val="{00000000-5954-47AC-B586-562FD1E84C50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2">
                    <a:lumMod val="50000"/>
                  </a:schemeClr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63500" h="0"/>
              </a:sp3d>
            </c:spPr>
            <c:extLst>
              <c:ext xmlns:c16="http://schemas.microsoft.com/office/drawing/2014/chart" uri="{C3380CC4-5D6E-409C-BE32-E72D297353CC}">
                <c16:uniqueId val="{00000001-5954-47AC-B586-562FD1E84C50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2">
                    <a:lumMod val="50000"/>
                  </a:schemeClr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63500" h="0"/>
              </a:sp3d>
            </c:spPr>
            <c:extLst>
              <c:ext xmlns:c16="http://schemas.microsoft.com/office/drawing/2014/chart" uri="{C3380CC4-5D6E-409C-BE32-E72D297353CC}">
                <c16:uniqueId val="{00000002-5954-47AC-B586-562FD1E84C50}"/>
              </c:ext>
            </c:extLst>
          </c:dPt>
          <c:cat>
            <c:strRef>
              <c:f>Task_Q!$BQ$36:$BQ$46</c:f>
              <c:strCache>
                <c:ptCount val="10"/>
                <c:pt idx="0">
                  <c:v>39</c:v>
                </c:pt>
                <c:pt idx="1">
                  <c:v>7</c:v>
                </c:pt>
                <c:pt idx="2">
                  <c:v>22</c:v>
                </c:pt>
                <c:pt idx="3">
                  <c:v>50</c:v>
                </c:pt>
                <c:pt idx="4">
                  <c:v>1</c:v>
                </c:pt>
                <c:pt idx="5">
                  <c:v>28</c:v>
                </c:pt>
                <c:pt idx="6">
                  <c:v>3</c:v>
                </c:pt>
                <c:pt idx="7">
                  <c:v>49</c:v>
                </c:pt>
                <c:pt idx="8">
                  <c:v>13</c:v>
                </c:pt>
                <c:pt idx="9">
                  <c:v>6</c:v>
                </c:pt>
              </c:strCache>
            </c:strRef>
          </c:cat>
          <c:val>
            <c:numRef>
              <c:f>Task_Q!$BR$36:$BR$46</c:f>
              <c:numCache>
                <c:formatCode>0.00</c:formatCode>
                <c:ptCount val="10"/>
                <c:pt idx="0">
                  <c:v>5.5547877591312931</c:v>
                </c:pt>
                <c:pt idx="1">
                  <c:v>5.5240310077519377</c:v>
                </c:pt>
                <c:pt idx="2">
                  <c:v>5.5111902339776195</c:v>
                </c:pt>
                <c:pt idx="3">
                  <c:v>5.4515135967162651</c:v>
                </c:pt>
                <c:pt idx="4">
                  <c:v>5.4459116302691726</c:v>
                </c:pt>
                <c:pt idx="5">
                  <c:v>5.4095580678314494</c:v>
                </c:pt>
                <c:pt idx="6">
                  <c:v>5.3819891142998513</c:v>
                </c:pt>
                <c:pt idx="7">
                  <c:v>5.3439153439153442</c:v>
                </c:pt>
                <c:pt idx="8">
                  <c:v>5.3221982758620694</c:v>
                </c:pt>
                <c:pt idx="9">
                  <c:v>5.3206772703950742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E4-40BF-8545-79AA4F62D2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6133391"/>
        <c:axId val="36123823"/>
      </c:barChart>
      <c:catAx>
        <c:axId val="361333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123823"/>
        <c:crosses val="autoZero"/>
        <c:auto val="1"/>
        <c:lblAlgn val="ctr"/>
        <c:lblOffset val="100"/>
        <c:noMultiLvlLbl val="0"/>
      </c:catAx>
      <c:valAx>
        <c:axId val="36123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30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1333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>
        <a:alpha val="50000"/>
      </a:schemeClr>
    </a:solidFill>
    <a:ln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[IT Tickets Analysis Dashboard.xlsx]Task_Q!PivotTable10</c:name>
    <c:fmtId val="-1"/>
  </c:pivotSource>
  <c:chart>
    <c:autoTitleDeleted val="1"/>
    <c:pivotFmts>
      <c:pivotFmt>
        <c:idx val="0"/>
        <c:spPr>
          <a:noFill/>
          <a:ln w="22225" cap="rnd" cmpd="sng" algn="ctr">
            <a:solidFill>
              <a:schemeClr val="accent3"/>
            </a:solidFill>
            <a:miter lim="800000"/>
          </a:ln>
          <a:effectLst>
            <a:glow rad="139700">
              <a:schemeClr val="accent3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3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noFill/>
          <a:ln w="22225" cap="rnd" cmpd="sng" algn="ctr">
            <a:solidFill>
              <a:schemeClr val="accent3"/>
            </a:solidFill>
            <a:miter lim="800000"/>
          </a:ln>
          <a:effectLst>
            <a:glow rad="139700">
              <a:schemeClr val="accent3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3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noFill/>
          <a:ln w="22225" cap="rnd" cmpd="sng" algn="ctr">
            <a:solidFill>
              <a:schemeClr val="accent3"/>
            </a:solidFill>
            <a:miter lim="800000"/>
          </a:ln>
          <a:effectLst>
            <a:glow rad="139700">
              <a:schemeClr val="accent3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3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2993828237786975E-2"/>
          <c:y val="5.0085256076556943E-2"/>
          <c:w val="0.95447285456008901"/>
          <c:h val="0.75716609948788993"/>
        </c:manualLayout>
      </c:layout>
      <c:lineChart>
        <c:grouping val="standard"/>
        <c:varyColors val="0"/>
        <c:ser>
          <c:idx val="0"/>
          <c:order val="0"/>
          <c:tx>
            <c:strRef>
              <c:f>Task_Q!$BV$35</c:f>
              <c:strCache>
                <c:ptCount val="1"/>
                <c:pt idx="0">
                  <c:v>Total</c:v>
                </c:pt>
              </c:strCache>
            </c:strRef>
          </c:tx>
          <c:spPr>
            <a:ln w="22225" cap="rnd">
              <a:solidFill>
                <a:schemeClr val="tx2">
                  <a:lumMod val="75000"/>
                </a:schemeClr>
              </a:solidFill>
            </a:ln>
            <a:effectLst>
              <a:glow rad="279400">
                <a:schemeClr val="tx2">
                  <a:lumMod val="60000"/>
                  <a:lumOff val="40000"/>
                  <a:alpha val="14000"/>
                </a:schemeClr>
              </a:glow>
            </a:effectLst>
          </c:spPr>
          <c:marker>
            <c:symbol val="square"/>
            <c:size val="7"/>
            <c:spPr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50000"/>
                  </a:schemeClr>
                </a:solidFill>
              </a:ln>
              <a:effectLst>
                <a:glow rad="279400">
                  <a:schemeClr val="tx2">
                    <a:lumMod val="60000"/>
                    <a:lumOff val="40000"/>
                    <a:alpha val="14000"/>
                  </a:schemeClr>
                </a:glow>
              </a:effectLst>
              <a:scene3d>
                <a:camera prst="orthographicFront"/>
                <a:lightRig rig="threePt" dir="t"/>
              </a:scene3d>
              <a:sp3d>
                <a:bevelT w="50800" h="50800"/>
                <a:bevelB w="50800" h="50800"/>
              </a:sp3d>
            </c:spPr>
          </c:marker>
          <c:cat>
            <c:strRef>
              <c:f>Task_Q!$BU$36:$BU$56</c:f>
              <c:strCache>
                <c:ptCount val="20"/>
                <c:pt idx="0">
                  <c:v>2016-Q1</c:v>
                </c:pt>
                <c:pt idx="1">
                  <c:v>2016-Q2</c:v>
                </c:pt>
                <c:pt idx="2">
                  <c:v>2016-Q3</c:v>
                </c:pt>
                <c:pt idx="3">
                  <c:v>2016-Q4</c:v>
                </c:pt>
                <c:pt idx="4">
                  <c:v>2017-Q1</c:v>
                </c:pt>
                <c:pt idx="5">
                  <c:v>2017-Q2</c:v>
                </c:pt>
                <c:pt idx="6">
                  <c:v>2017-Q3</c:v>
                </c:pt>
                <c:pt idx="7">
                  <c:v>2017-Q4</c:v>
                </c:pt>
                <c:pt idx="8">
                  <c:v>2018-Q1</c:v>
                </c:pt>
                <c:pt idx="9">
                  <c:v>2018-Q2</c:v>
                </c:pt>
                <c:pt idx="10">
                  <c:v>2018-Q3</c:v>
                </c:pt>
                <c:pt idx="11">
                  <c:v>2018-Q4</c:v>
                </c:pt>
                <c:pt idx="12">
                  <c:v>2019-Q1</c:v>
                </c:pt>
                <c:pt idx="13">
                  <c:v>2019-Q2</c:v>
                </c:pt>
                <c:pt idx="14">
                  <c:v>2019-Q3</c:v>
                </c:pt>
                <c:pt idx="15">
                  <c:v>2019-Q4</c:v>
                </c:pt>
                <c:pt idx="16">
                  <c:v>2020-Q1</c:v>
                </c:pt>
                <c:pt idx="17">
                  <c:v>2020-Q2</c:v>
                </c:pt>
                <c:pt idx="18">
                  <c:v>2020-Q3</c:v>
                </c:pt>
                <c:pt idx="19">
                  <c:v>2020-Q4</c:v>
                </c:pt>
              </c:strCache>
            </c:strRef>
          </c:cat>
          <c:val>
            <c:numRef>
              <c:f>Task_Q!$BV$36:$BV$56</c:f>
              <c:numCache>
                <c:formatCode>0.00</c:formatCode>
                <c:ptCount val="20"/>
                <c:pt idx="0">
                  <c:v>4.5473137973137971</c:v>
                </c:pt>
                <c:pt idx="1">
                  <c:v>4.6217457886676874</c:v>
                </c:pt>
                <c:pt idx="2">
                  <c:v>4.5418204182041819</c:v>
                </c:pt>
                <c:pt idx="3">
                  <c:v>4.4960098219766724</c:v>
                </c:pt>
                <c:pt idx="4">
                  <c:v>4.5611126720989041</c:v>
                </c:pt>
                <c:pt idx="5">
                  <c:v>4.502347417840376</c:v>
                </c:pt>
                <c:pt idx="6">
                  <c:v>4.5297282754909878</c:v>
                </c:pt>
                <c:pt idx="7">
                  <c:v>4.529303547963206</c:v>
                </c:pt>
                <c:pt idx="8">
                  <c:v>4.5508673230192214</c:v>
                </c:pt>
                <c:pt idx="9">
                  <c:v>4.6509319286871964</c:v>
                </c:pt>
                <c:pt idx="10">
                  <c:v>4.4990866653135786</c:v>
                </c:pt>
                <c:pt idx="11">
                  <c:v>4.5320207253886009</c:v>
                </c:pt>
                <c:pt idx="12">
                  <c:v>4.5543605788032853</c:v>
                </c:pt>
                <c:pt idx="13">
                  <c:v>4.5017468944099379</c:v>
                </c:pt>
                <c:pt idx="14">
                  <c:v>4.4961034360609284</c:v>
                </c:pt>
                <c:pt idx="15">
                  <c:v>4.5326281821441379</c:v>
                </c:pt>
                <c:pt idx="16">
                  <c:v>4.6165455561766349</c:v>
                </c:pt>
                <c:pt idx="17">
                  <c:v>4.6150884198516824</c:v>
                </c:pt>
                <c:pt idx="18">
                  <c:v>4.536207849640685</c:v>
                </c:pt>
                <c:pt idx="19">
                  <c:v>4.5775637688703803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C5B-451C-AB0C-70CFD22DF8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6118415"/>
        <c:axId val="36100111"/>
      </c:lineChart>
      <c:catAx>
        <c:axId val="36118415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100111"/>
        <c:crosses val="autoZero"/>
        <c:auto val="1"/>
        <c:lblAlgn val="ctr"/>
        <c:lblOffset val="100"/>
        <c:noMultiLvlLbl val="0"/>
      </c:catAx>
      <c:valAx>
        <c:axId val="36100111"/>
        <c:scaling>
          <c:orientation val="minMax"/>
          <c:min val="4.45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1184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6.7568947142033459E-2"/>
          <c:y val="0.1200916807565061"/>
          <c:w val="8.0858036872060529E-2"/>
          <c:h val="7.683587380666588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accent1">
        <a:lumMod val="20000"/>
        <a:lumOff val="80000"/>
        <a:alpha val="50000"/>
      </a:schemeClr>
    </a:solidFill>
    <a:ln w="9525" cap="flat" cmpd="sng" algn="ctr">
      <a:solidFill>
        <a:schemeClr val="accent1"/>
      </a:solidFill>
      <a:round/>
    </a:ln>
    <a:effectLst/>
    <a:scene3d>
      <a:camera prst="orthographicFront"/>
      <a:lightRig rig="threePt" dir="t"/>
    </a:scene3d>
    <a:sp3d>
      <a:bevelT w="63500"/>
      <a:bevelB w="63500"/>
    </a:sp3d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[IT Tickets Analysis Dashboard.xlsx]Task_Q!PivotTable21</c:name>
    <c:fmtId val="-1"/>
  </c:pivotSource>
  <c:chart>
    <c:autoTitleDeleted val="0"/>
    <c:pivotFmts>
      <c:pivotFmt>
        <c:idx val="0"/>
        <c:spPr>
          <a:gradFill rotWithShape="1">
            <a:gsLst>
              <a:gs pos="0">
                <a:schemeClr val="accent3">
                  <a:satMod val="103000"/>
                  <a:lumMod val="102000"/>
                  <a:tint val="94000"/>
                </a:schemeClr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hade val="76000"/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hade val="76000"/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shade val="76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>
                  <a:shade val="76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3">
                  <a:satMod val="103000"/>
                  <a:lumMod val="102000"/>
                  <a:tint val="94000"/>
                </a:schemeClr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3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tint val="77000"/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tint val="77000"/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tint val="77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>
                  <a:tint val="77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3">
                  <a:satMod val="103000"/>
                  <a:lumMod val="102000"/>
                  <a:tint val="94000"/>
                </a:schemeClr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3">
                  <a:satMod val="103000"/>
                  <a:lumMod val="102000"/>
                  <a:tint val="94000"/>
                </a:schemeClr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3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tint val="77000"/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tint val="77000"/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tint val="77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>
                  <a:tint val="77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3">
                  <a:satMod val="103000"/>
                  <a:lumMod val="102000"/>
                  <a:tint val="94000"/>
                </a:schemeClr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3">
                  <a:shade val="51000"/>
                  <a:satMod val="130000"/>
                </a:schemeClr>
              </a:gs>
              <a:gs pos="80000">
                <a:schemeClr val="accent3">
                  <a:shade val="93000"/>
                  <a:satMod val="130000"/>
                </a:schemeClr>
              </a:gs>
              <a:gs pos="100000">
                <a:schemeClr val="accent3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chemeClr val="accent3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tint val="77000"/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tint val="77000"/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tint val="77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>
                  <a:tint val="77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Task_Q!$CE$35</c:f>
              <c:strCache>
                <c:ptCount val="1"/>
                <c:pt idx="0">
                  <c:v>Sum of Total Ticket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rect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Task_Q!$CD$36:$CD$56</c:f>
              <c:strCache>
                <c:ptCount val="20"/>
                <c:pt idx="0">
                  <c:v>2016-Q1</c:v>
                </c:pt>
                <c:pt idx="1">
                  <c:v>2016-Q2</c:v>
                </c:pt>
                <c:pt idx="2">
                  <c:v>2016-Q3</c:v>
                </c:pt>
                <c:pt idx="3">
                  <c:v>2016-Q4</c:v>
                </c:pt>
                <c:pt idx="4">
                  <c:v>2017-Q1</c:v>
                </c:pt>
                <c:pt idx="5">
                  <c:v>2017-Q2</c:v>
                </c:pt>
                <c:pt idx="6">
                  <c:v>2017-Q3</c:v>
                </c:pt>
                <c:pt idx="7">
                  <c:v>2017-Q4</c:v>
                </c:pt>
                <c:pt idx="8">
                  <c:v>2018-Q1</c:v>
                </c:pt>
                <c:pt idx="9">
                  <c:v>2018-Q2</c:v>
                </c:pt>
                <c:pt idx="10">
                  <c:v>2018-Q3</c:v>
                </c:pt>
                <c:pt idx="11">
                  <c:v>2018-Q4</c:v>
                </c:pt>
                <c:pt idx="12">
                  <c:v>2019-Q1</c:v>
                </c:pt>
                <c:pt idx="13">
                  <c:v>2019-Q2</c:v>
                </c:pt>
                <c:pt idx="14">
                  <c:v>2019-Q3</c:v>
                </c:pt>
                <c:pt idx="15">
                  <c:v>2019-Q4</c:v>
                </c:pt>
                <c:pt idx="16">
                  <c:v>2020-Q1</c:v>
                </c:pt>
                <c:pt idx="17">
                  <c:v>2020-Q2</c:v>
                </c:pt>
                <c:pt idx="18">
                  <c:v>2020-Q3</c:v>
                </c:pt>
                <c:pt idx="19">
                  <c:v>2020-Q4</c:v>
                </c:pt>
              </c:strCache>
            </c:strRef>
          </c:cat>
          <c:val>
            <c:numRef>
              <c:f>Task_Q!$CE$36:$CE$56</c:f>
              <c:numCache>
                <c:formatCode>General</c:formatCode>
                <c:ptCount val="20"/>
                <c:pt idx="0">
                  <c:v>3276</c:v>
                </c:pt>
                <c:pt idx="1">
                  <c:v>3265</c:v>
                </c:pt>
                <c:pt idx="2">
                  <c:v>3252</c:v>
                </c:pt>
                <c:pt idx="3">
                  <c:v>3258</c:v>
                </c:pt>
                <c:pt idx="4">
                  <c:v>3559</c:v>
                </c:pt>
                <c:pt idx="5">
                  <c:v>3834</c:v>
                </c:pt>
                <c:pt idx="6">
                  <c:v>3717</c:v>
                </c:pt>
                <c:pt idx="7">
                  <c:v>3805</c:v>
                </c:pt>
                <c:pt idx="8">
                  <c:v>4266</c:v>
                </c:pt>
                <c:pt idx="9">
                  <c:v>4936</c:v>
                </c:pt>
                <c:pt idx="10">
                  <c:v>4927</c:v>
                </c:pt>
                <c:pt idx="11">
                  <c:v>4825</c:v>
                </c:pt>
                <c:pt idx="12">
                  <c:v>5114</c:v>
                </c:pt>
                <c:pt idx="13">
                  <c:v>5152</c:v>
                </c:pt>
                <c:pt idx="14">
                  <c:v>5646</c:v>
                </c:pt>
                <c:pt idx="15">
                  <c:v>5578</c:v>
                </c:pt>
                <c:pt idx="16">
                  <c:v>7156</c:v>
                </c:pt>
                <c:pt idx="17">
                  <c:v>7012</c:v>
                </c:pt>
                <c:pt idx="18">
                  <c:v>7236</c:v>
                </c:pt>
                <c:pt idx="19">
                  <c:v>7684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93-4D9D-BAB3-02E9ECC50B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48309007"/>
        <c:axId val="1648319407"/>
      </c:barChart>
      <c:lineChart>
        <c:grouping val="standard"/>
        <c:varyColors val="0"/>
        <c:ser>
          <c:idx val="1"/>
          <c:order val="1"/>
          <c:tx>
            <c:strRef>
              <c:f>Task_Q!$CF$35</c:f>
              <c:strCache>
                <c:ptCount val="1"/>
                <c:pt idx="0">
                  <c:v>Count of Agent ID</c:v>
                </c:pt>
              </c:strCache>
            </c:strRef>
          </c:tx>
          <c:spPr>
            <a:ln w="34925" cap="rnd">
              <a:solidFill>
                <a:schemeClr val="tx2">
                  <a:lumMod val="60000"/>
                  <a:lumOff val="40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chemeClr val="bg2">
                  <a:lumMod val="50000"/>
                </a:schemeClr>
              </a:solidFill>
              <a:ln w="9525">
                <a:solidFill>
                  <a:schemeClr val="accent3">
                    <a:tint val="77000"/>
                  </a:schemeClr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cat>
            <c:strRef>
              <c:f>Task_Q!$CD$36:$CD$56</c:f>
              <c:strCache>
                <c:ptCount val="20"/>
                <c:pt idx="0">
                  <c:v>2016-Q1</c:v>
                </c:pt>
                <c:pt idx="1">
                  <c:v>2016-Q2</c:v>
                </c:pt>
                <c:pt idx="2">
                  <c:v>2016-Q3</c:v>
                </c:pt>
                <c:pt idx="3">
                  <c:v>2016-Q4</c:v>
                </c:pt>
                <c:pt idx="4">
                  <c:v>2017-Q1</c:v>
                </c:pt>
                <c:pt idx="5">
                  <c:v>2017-Q2</c:v>
                </c:pt>
                <c:pt idx="6">
                  <c:v>2017-Q3</c:v>
                </c:pt>
                <c:pt idx="7">
                  <c:v>2017-Q4</c:v>
                </c:pt>
                <c:pt idx="8">
                  <c:v>2018-Q1</c:v>
                </c:pt>
                <c:pt idx="9">
                  <c:v>2018-Q2</c:v>
                </c:pt>
                <c:pt idx="10">
                  <c:v>2018-Q3</c:v>
                </c:pt>
                <c:pt idx="11">
                  <c:v>2018-Q4</c:v>
                </c:pt>
                <c:pt idx="12">
                  <c:v>2019-Q1</c:v>
                </c:pt>
                <c:pt idx="13">
                  <c:v>2019-Q2</c:v>
                </c:pt>
                <c:pt idx="14">
                  <c:v>2019-Q3</c:v>
                </c:pt>
                <c:pt idx="15">
                  <c:v>2019-Q4</c:v>
                </c:pt>
                <c:pt idx="16">
                  <c:v>2020-Q1</c:v>
                </c:pt>
                <c:pt idx="17">
                  <c:v>2020-Q2</c:v>
                </c:pt>
                <c:pt idx="18">
                  <c:v>2020-Q3</c:v>
                </c:pt>
                <c:pt idx="19">
                  <c:v>2020-Q4</c:v>
                </c:pt>
              </c:strCache>
            </c:strRef>
          </c:cat>
          <c:val>
            <c:numRef>
              <c:f>Task_Q!$CF$36:$CF$56</c:f>
              <c:numCache>
                <c:formatCode>General</c:formatCode>
                <c:ptCount val="20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50</c:v>
                </c:pt>
                <c:pt idx="11">
                  <c:v>50</c:v>
                </c:pt>
                <c:pt idx="12">
                  <c:v>50</c:v>
                </c:pt>
                <c:pt idx="13">
                  <c:v>50</c:v>
                </c:pt>
                <c:pt idx="14">
                  <c:v>50</c:v>
                </c:pt>
                <c:pt idx="15">
                  <c:v>50</c:v>
                </c:pt>
                <c:pt idx="16">
                  <c:v>50</c:v>
                </c:pt>
                <c:pt idx="17">
                  <c:v>50</c:v>
                </c:pt>
                <c:pt idx="18">
                  <c:v>50</c:v>
                </c:pt>
                <c:pt idx="19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B93-4D9D-BAB3-02E9ECC50B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48310671"/>
        <c:axId val="1648297775"/>
      </c:lineChart>
      <c:catAx>
        <c:axId val="1648309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8319407"/>
        <c:crosses val="autoZero"/>
        <c:auto val="1"/>
        <c:lblAlgn val="ctr"/>
        <c:lblOffset val="100"/>
        <c:noMultiLvlLbl val="0"/>
      </c:catAx>
      <c:valAx>
        <c:axId val="1648319407"/>
        <c:scaling>
          <c:orientation val="minMax"/>
          <c:max val="8000"/>
          <c:min val="100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minorGridlines>
          <c:spPr>
            <a:ln>
              <a:solidFill>
                <a:schemeClr val="lt1">
                  <a:lumMod val="95000"/>
                  <a:alpha val="5000"/>
                </a:schemeClr>
              </a:solidFill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8309007"/>
        <c:crosses val="autoZero"/>
        <c:crossBetween val="between"/>
      </c:valAx>
      <c:valAx>
        <c:axId val="1648297775"/>
        <c:scaling>
          <c:orientation val="minMax"/>
          <c:max val="100"/>
          <c:min val="0"/>
        </c:scaling>
        <c:delete val="0"/>
        <c:axPos val="r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minorGridlines>
          <c:spPr>
            <a:ln>
              <a:solidFill>
                <a:schemeClr val="lt1">
                  <a:lumMod val="95000"/>
                  <a:alpha val="5000"/>
                </a:schemeClr>
              </a:solidFill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8310671"/>
        <c:crosses val="max"/>
        <c:crossBetween val="between"/>
      </c:valAx>
      <c:catAx>
        <c:axId val="164831067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482977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accent1">
        <a:lumMod val="20000"/>
        <a:lumOff val="80000"/>
        <a:alpha val="50000"/>
      </a:schemeClr>
    </a:solidFill>
    <a:ln>
      <a:solidFill>
        <a:schemeClr val="tx1"/>
      </a:solidFill>
    </a:ln>
    <a:effectLst/>
    <a:scene3d>
      <a:camera prst="orthographicFront"/>
      <a:lightRig rig="threePt" dir="t"/>
    </a:scene3d>
    <a:sp3d>
      <a:bevelT w="63500"/>
      <a:bevelB w="63500"/>
    </a:sp3d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5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10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328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gradFill>
        <a:gsLst>
          <a:gs pos="100000">
            <a:schemeClr val="dk1">
              <a:lumMod val="95000"/>
              <a:lumOff val="5000"/>
            </a:schemeClr>
          </a:gs>
          <a:gs pos="0">
            <a:schemeClr val="dk1">
              <a:lumMod val="75000"/>
              <a:lumOff val="25000"/>
            </a:schemeClr>
          </a:gs>
        </a:gsLst>
        <a:path path="circle">
          <a:fillToRect l="50000" t="50000" r="50000" b="50000"/>
        </a:path>
      </a:gradFill>
      <a:ln w="9525">
        <a:solidFill>
          <a:schemeClr val="dk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gradFill>
        <a:gsLst>
          <a:gs pos="100000">
            <a:schemeClr val="lt1">
              <a:lumMod val="85000"/>
            </a:schemeClr>
          </a:gs>
          <a:gs pos="0">
            <a:schemeClr val="lt1"/>
          </a:gs>
        </a:gsLst>
        <a:path path="circle">
          <a:fillToRect l="50000" t="50000" r="50000" b="50000"/>
        </a:path>
      </a:gradFill>
      <a:ln w="9525" cap="flat" cmpd="sng" algn="ctr">
        <a:solidFill>
          <a:schemeClr val="lt1"/>
        </a:solidFill>
        <a:round/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5191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5191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5216A-87D9-40E1-A66E-1BF4941C175F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86088" y="1295400"/>
            <a:ext cx="6219825" cy="34972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4987925"/>
            <a:ext cx="9753600" cy="40798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844088"/>
            <a:ext cx="5283200" cy="5191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9844088"/>
            <a:ext cx="5283200" cy="5191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FF250-A9E0-43DF-9A1D-24B172E39B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962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FF250-A9E0-43DF-9A1D-24B172E39B0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26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FF250-A9E0-43DF-9A1D-24B172E39B0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964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FF250-A9E0-43DF-9A1D-24B172E39B0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361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FF250-A9E0-43DF-9A1D-24B172E39B01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174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924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218941" y="0"/>
            <a:ext cx="2973070" cy="2496820"/>
          </a:xfrm>
          <a:custGeom>
            <a:avLst/>
            <a:gdLst/>
            <a:ahLst/>
            <a:cxnLst/>
            <a:rect l="l" t="t" r="r" b="b"/>
            <a:pathLst>
              <a:path w="2973070" h="2496820">
                <a:moveTo>
                  <a:pt x="2020557" y="2496807"/>
                </a:moveTo>
                <a:lnTo>
                  <a:pt x="0" y="476250"/>
                </a:lnTo>
                <a:lnTo>
                  <a:pt x="476250" y="0"/>
                </a:lnTo>
                <a:lnTo>
                  <a:pt x="2973057" y="0"/>
                </a:lnTo>
                <a:lnTo>
                  <a:pt x="2973057" y="1544307"/>
                </a:lnTo>
                <a:lnTo>
                  <a:pt x="2020557" y="2496807"/>
                </a:lnTo>
                <a:close/>
              </a:path>
            </a:pathLst>
          </a:custGeom>
          <a:solidFill>
            <a:srgbClr val="3D91CC">
              <a:alpha val="1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03860" y="5080610"/>
            <a:ext cx="2602865" cy="2602865"/>
          </a:xfrm>
          <a:custGeom>
            <a:avLst/>
            <a:gdLst/>
            <a:ahLst/>
            <a:cxnLst/>
            <a:rect l="l" t="t" r="r" b="b"/>
            <a:pathLst>
              <a:path w="2602865" h="2602865">
                <a:moveTo>
                  <a:pt x="1649778" y="2602278"/>
                </a:moveTo>
                <a:lnTo>
                  <a:pt x="0" y="1649778"/>
                </a:lnTo>
                <a:lnTo>
                  <a:pt x="952499" y="0"/>
                </a:lnTo>
                <a:lnTo>
                  <a:pt x="2602278" y="952499"/>
                </a:lnTo>
                <a:lnTo>
                  <a:pt x="1649778" y="2602278"/>
                </a:lnTo>
                <a:close/>
              </a:path>
            </a:pathLst>
          </a:custGeom>
          <a:solidFill>
            <a:srgbClr val="3D91CC">
              <a:alpha val="1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339743"/>
            <a:ext cx="1113155" cy="1678305"/>
          </a:xfrm>
          <a:custGeom>
            <a:avLst/>
            <a:gdLst/>
            <a:ahLst/>
            <a:cxnLst/>
            <a:rect l="l" t="t" r="r" b="b"/>
            <a:pathLst>
              <a:path w="1113155" h="1678305">
                <a:moveTo>
                  <a:pt x="743264" y="1678307"/>
                </a:moveTo>
                <a:lnTo>
                  <a:pt x="0" y="1479150"/>
                </a:lnTo>
                <a:lnTo>
                  <a:pt x="0" y="0"/>
                </a:lnTo>
                <a:lnTo>
                  <a:pt x="1113052" y="298241"/>
                </a:lnTo>
                <a:lnTo>
                  <a:pt x="743264" y="1678307"/>
                </a:lnTo>
                <a:close/>
              </a:path>
            </a:pathLst>
          </a:custGeom>
          <a:solidFill>
            <a:srgbClr val="3D91CC">
              <a:alpha val="1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66151" y="720725"/>
            <a:ext cx="8059697" cy="11264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00336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4309872"/>
            <a:ext cx="8534400" cy="1924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0052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DejaVu Sans"/>
                <a:cs typeface="DejaVu Sans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Made</a:t>
            </a:r>
            <a:r>
              <a:rPr spc="-10" dirty="0"/>
              <a:t> </a:t>
            </a:r>
            <a:r>
              <a:rPr dirty="0"/>
              <a:t>with</a:t>
            </a:r>
            <a:r>
              <a:rPr spc="-10" dirty="0"/>
              <a:t> Genspark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0999" y="904874"/>
            <a:ext cx="571500" cy="38100"/>
          </a:xfrm>
          <a:custGeom>
            <a:avLst/>
            <a:gdLst/>
            <a:ahLst/>
            <a:cxnLst/>
            <a:rect l="l" t="t" r="r" b="b"/>
            <a:pathLst>
              <a:path w="571500" h="38100">
                <a:moveTo>
                  <a:pt x="571499" y="38099"/>
                </a:moveTo>
                <a:lnTo>
                  <a:pt x="0" y="38099"/>
                </a:lnTo>
                <a:lnTo>
                  <a:pt x="0" y="0"/>
                </a:lnTo>
                <a:lnTo>
                  <a:pt x="571499" y="0"/>
                </a:lnTo>
                <a:lnTo>
                  <a:pt x="571499" y="38099"/>
                </a:lnTo>
                <a:close/>
              </a:path>
            </a:pathLst>
          </a:custGeom>
          <a:solidFill>
            <a:srgbClr val="4A8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00336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0052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DejaVu Sans"/>
                <a:cs typeface="DejaVu Sans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Made</a:t>
            </a:r>
            <a:r>
              <a:rPr spc="-10" dirty="0"/>
              <a:t> </a:t>
            </a:r>
            <a:r>
              <a:rPr dirty="0"/>
              <a:t>with</a:t>
            </a:r>
            <a:r>
              <a:rPr spc="-10" dirty="0"/>
              <a:t> Genspark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00336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68299" y="1522913"/>
            <a:ext cx="5422900" cy="5869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770126"/>
            <a:ext cx="5303520" cy="5079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DejaVu Sans"/>
                <a:cs typeface="DejaVu Sans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Made</a:t>
            </a:r>
            <a:r>
              <a:rPr spc="-10" dirty="0"/>
              <a:t> </a:t>
            </a:r>
            <a:r>
              <a:rPr dirty="0"/>
              <a:t>with</a:t>
            </a:r>
            <a:r>
              <a:rPr spc="-10" dirty="0"/>
              <a:t> Genspark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00336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DejaVu Sans"/>
                <a:cs typeface="DejaVu Sans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Made</a:t>
            </a:r>
            <a:r>
              <a:rPr spc="-10" dirty="0"/>
              <a:t> </a:t>
            </a:r>
            <a:r>
              <a:rPr dirty="0"/>
              <a:t>with</a:t>
            </a:r>
            <a:r>
              <a:rPr spc="-10" dirty="0"/>
              <a:t> Genspark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DejaVu Sans"/>
                <a:cs typeface="DejaVu Sans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Made</a:t>
            </a:r>
            <a:r>
              <a:rPr spc="-10" dirty="0"/>
              <a:t> </a:t>
            </a:r>
            <a:r>
              <a:rPr dirty="0"/>
              <a:t>with</a:t>
            </a:r>
            <a:r>
              <a:rPr spc="-10" dirty="0"/>
              <a:t> Genspark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8299" y="349250"/>
            <a:ext cx="10888345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00336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48399" y="1825523"/>
            <a:ext cx="5553075" cy="3094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0052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701138" y="8634679"/>
            <a:ext cx="1198879" cy="273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DejaVu Sans"/>
                <a:cs typeface="DejaVu Sans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Made</a:t>
            </a:r>
            <a:r>
              <a:rPr spc="-10" dirty="0"/>
              <a:t> </a:t>
            </a:r>
            <a:r>
              <a:rPr dirty="0"/>
              <a:t>with</a:t>
            </a:r>
            <a:r>
              <a:rPr spc="-10" dirty="0"/>
              <a:t> Genspark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7157466"/>
            <a:ext cx="2804160" cy="384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7157466"/>
            <a:ext cx="2804160" cy="384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5619749" y="2009774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952499" y="38099"/>
                </a:moveTo>
                <a:lnTo>
                  <a:pt x="0" y="38099"/>
                </a:lnTo>
                <a:lnTo>
                  <a:pt x="0" y="0"/>
                </a:lnTo>
                <a:lnTo>
                  <a:pt x="952499" y="0"/>
                </a:lnTo>
                <a:lnTo>
                  <a:pt x="952499" y="38099"/>
                </a:lnTo>
                <a:close/>
              </a:path>
            </a:pathLst>
          </a:custGeom>
          <a:solidFill>
            <a:srgbClr val="4A8FE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2066151" y="720725"/>
            <a:ext cx="8220849" cy="1232389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485775" marR="5080" indent="-473709">
              <a:lnSpc>
                <a:spcPct val="100699"/>
              </a:lnSpc>
              <a:spcBef>
                <a:spcPts val="70"/>
              </a:spcBef>
            </a:pPr>
            <a:r>
              <a:rPr sz="4000" spc="300" dirty="0">
                <a:solidFill>
                  <a:srgbClr val="FFFFFF"/>
                </a:solidFill>
              </a:rPr>
              <a:t>IT TICKETS ANALYSIS AND AGENT PERFORMANCE DASHBOARD</a:t>
            </a:r>
            <a:endParaRPr sz="4000" spc="300" dirty="0"/>
          </a:p>
        </p:txBody>
      </p:sp>
      <p:sp>
        <p:nvSpPr>
          <p:cNvPr id="6" name="object 6"/>
          <p:cNvSpPr txBox="1"/>
          <p:nvPr/>
        </p:nvSpPr>
        <p:spPr>
          <a:xfrm>
            <a:off x="3737292" y="2622509"/>
            <a:ext cx="471741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320" dirty="0">
                <a:solidFill>
                  <a:srgbClr val="4A8FE2"/>
                </a:solidFill>
                <a:latin typeface="Calibri"/>
                <a:cs typeface="Calibri"/>
              </a:rPr>
              <a:t>An</a:t>
            </a:r>
            <a:r>
              <a:rPr sz="2100" b="1" spc="125" dirty="0">
                <a:solidFill>
                  <a:srgbClr val="4A8FE2"/>
                </a:solidFill>
                <a:latin typeface="Calibri"/>
                <a:cs typeface="Calibri"/>
              </a:rPr>
              <a:t> </a:t>
            </a:r>
            <a:r>
              <a:rPr sz="2100" b="1" spc="245" dirty="0">
                <a:solidFill>
                  <a:srgbClr val="4A8FE2"/>
                </a:solidFill>
                <a:latin typeface="Calibri"/>
                <a:cs typeface="Calibri"/>
              </a:rPr>
              <a:t>Excel-</a:t>
            </a:r>
            <a:r>
              <a:rPr sz="2100" b="1" spc="280" dirty="0">
                <a:solidFill>
                  <a:srgbClr val="4A8FE2"/>
                </a:solidFill>
                <a:latin typeface="Calibri"/>
                <a:cs typeface="Calibri"/>
              </a:rPr>
              <a:t>based</a:t>
            </a:r>
            <a:r>
              <a:rPr sz="2100" b="1" spc="130" dirty="0">
                <a:solidFill>
                  <a:srgbClr val="4A8FE2"/>
                </a:solidFill>
                <a:latin typeface="Calibri"/>
                <a:cs typeface="Calibri"/>
              </a:rPr>
              <a:t> </a:t>
            </a:r>
            <a:r>
              <a:rPr sz="2100" b="1" spc="229" dirty="0">
                <a:solidFill>
                  <a:srgbClr val="4A8FE2"/>
                </a:solidFill>
                <a:latin typeface="Calibri"/>
                <a:cs typeface="Calibri"/>
              </a:rPr>
              <a:t>Analytical</a:t>
            </a:r>
            <a:r>
              <a:rPr sz="2100" b="1" spc="130" dirty="0">
                <a:solidFill>
                  <a:srgbClr val="4A8FE2"/>
                </a:solidFill>
                <a:latin typeface="Calibri"/>
                <a:cs typeface="Calibri"/>
              </a:rPr>
              <a:t> </a:t>
            </a:r>
            <a:r>
              <a:rPr sz="2100" b="1" spc="225" dirty="0">
                <a:solidFill>
                  <a:srgbClr val="4A8FE2"/>
                </a:solidFill>
                <a:latin typeface="Calibri"/>
                <a:cs typeface="Calibri"/>
              </a:rPr>
              <a:t>Project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00574" y="3623874"/>
            <a:ext cx="381000" cy="333375"/>
          </a:xfrm>
          <a:custGeom>
            <a:avLst/>
            <a:gdLst/>
            <a:ahLst/>
            <a:cxnLst/>
            <a:rect l="l" t="t" r="r" b="b"/>
            <a:pathLst>
              <a:path w="381000" h="333375">
                <a:moveTo>
                  <a:pt x="357187" y="333375"/>
                </a:moveTo>
                <a:lnTo>
                  <a:pt x="59531" y="333375"/>
                </a:lnTo>
                <a:lnTo>
                  <a:pt x="36353" y="328698"/>
                </a:lnTo>
                <a:lnTo>
                  <a:pt x="17431" y="315943"/>
                </a:lnTo>
                <a:lnTo>
                  <a:pt x="4676" y="297021"/>
                </a:lnTo>
                <a:lnTo>
                  <a:pt x="0" y="273843"/>
                </a:lnTo>
                <a:lnTo>
                  <a:pt x="0" y="23812"/>
                </a:lnTo>
                <a:lnTo>
                  <a:pt x="1868" y="14535"/>
                </a:lnTo>
                <a:lnTo>
                  <a:pt x="6967" y="6967"/>
                </a:lnTo>
                <a:lnTo>
                  <a:pt x="14535" y="1868"/>
                </a:lnTo>
                <a:lnTo>
                  <a:pt x="23812" y="0"/>
                </a:lnTo>
                <a:lnTo>
                  <a:pt x="33089" y="1868"/>
                </a:lnTo>
                <a:lnTo>
                  <a:pt x="40657" y="6967"/>
                </a:lnTo>
                <a:lnTo>
                  <a:pt x="45756" y="14535"/>
                </a:lnTo>
                <a:lnTo>
                  <a:pt x="47625" y="23812"/>
                </a:lnTo>
                <a:lnTo>
                  <a:pt x="47625" y="280392"/>
                </a:lnTo>
                <a:lnTo>
                  <a:pt x="52982" y="285750"/>
                </a:lnTo>
                <a:lnTo>
                  <a:pt x="357187" y="285750"/>
                </a:lnTo>
                <a:lnTo>
                  <a:pt x="366464" y="287618"/>
                </a:lnTo>
                <a:lnTo>
                  <a:pt x="374033" y="292717"/>
                </a:lnTo>
                <a:lnTo>
                  <a:pt x="379131" y="300285"/>
                </a:lnTo>
                <a:lnTo>
                  <a:pt x="381000" y="309562"/>
                </a:lnTo>
                <a:lnTo>
                  <a:pt x="379131" y="318839"/>
                </a:lnTo>
                <a:lnTo>
                  <a:pt x="374033" y="326408"/>
                </a:lnTo>
                <a:lnTo>
                  <a:pt x="366464" y="331506"/>
                </a:lnTo>
                <a:lnTo>
                  <a:pt x="357187" y="333375"/>
                </a:lnTo>
                <a:close/>
              </a:path>
              <a:path w="381000" h="333375">
                <a:moveTo>
                  <a:pt x="305618" y="132977"/>
                </a:moveTo>
                <a:lnTo>
                  <a:pt x="238125" y="132977"/>
                </a:lnTo>
                <a:lnTo>
                  <a:pt x="316483" y="54545"/>
                </a:lnTo>
                <a:lnTo>
                  <a:pt x="324366" y="49313"/>
                </a:lnTo>
                <a:lnTo>
                  <a:pt x="333337" y="47569"/>
                </a:lnTo>
                <a:lnTo>
                  <a:pt x="342309" y="49313"/>
                </a:lnTo>
                <a:lnTo>
                  <a:pt x="350192" y="54545"/>
                </a:lnTo>
                <a:lnTo>
                  <a:pt x="355424" y="62428"/>
                </a:lnTo>
                <a:lnTo>
                  <a:pt x="357168" y="71400"/>
                </a:lnTo>
                <a:lnTo>
                  <a:pt x="355424" y="80371"/>
                </a:lnTo>
                <a:lnTo>
                  <a:pt x="349898" y="88697"/>
                </a:lnTo>
                <a:lnTo>
                  <a:pt x="305618" y="132977"/>
                </a:lnTo>
                <a:close/>
              </a:path>
              <a:path w="381000" h="333375">
                <a:moveTo>
                  <a:pt x="95212" y="214293"/>
                </a:moveTo>
                <a:lnTo>
                  <a:pt x="86241" y="212549"/>
                </a:lnTo>
                <a:lnTo>
                  <a:pt x="78358" y="207317"/>
                </a:lnTo>
                <a:lnTo>
                  <a:pt x="73125" y="199434"/>
                </a:lnTo>
                <a:lnTo>
                  <a:pt x="71381" y="190462"/>
                </a:lnTo>
                <a:lnTo>
                  <a:pt x="73125" y="181491"/>
                </a:lnTo>
                <a:lnTo>
                  <a:pt x="78358" y="173608"/>
                </a:lnTo>
                <a:lnTo>
                  <a:pt x="161701" y="90264"/>
                </a:lnTo>
                <a:lnTo>
                  <a:pt x="169585" y="85032"/>
                </a:lnTo>
                <a:lnTo>
                  <a:pt x="178556" y="83287"/>
                </a:lnTo>
                <a:lnTo>
                  <a:pt x="187528" y="85032"/>
                </a:lnTo>
                <a:lnTo>
                  <a:pt x="195411" y="90264"/>
                </a:lnTo>
                <a:lnTo>
                  <a:pt x="238125" y="132977"/>
                </a:lnTo>
                <a:lnTo>
                  <a:pt x="305618" y="132977"/>
                </a:lnTo>
                <a:lnTo>
                  <a:pt x="297730" y="140865"/>
                </a:lnTo>
                <a:lnTo>
                  <a:pt x="178593" y="140865"/>
                </a:lnTo>
                <a:lnTo>
                  <a:pt x="112067" y="207317"/>
                </a:lnTo>
                <a:lnTo>
                  <a:pt x="104184" y="212549"/>
                </a:lnTo>
                <a:lnTo>
                  <a:pt x="95212" y="214293"/>
                </a:lnTo>
                <a:close/>
              </a:path>
              <a:path w="381000" h="333375">
                <a:moveTo>
                  <a:pt x="349898" y="88697"/>
                </a:moveTo>
                <a:lnTo>
                  <a:pt x="350181" y="88272"/>
                </a:lnTo>
                <a:lnTo>
                  <a:pt x="350324" y="88272"/>
                </a:lnTo>
                <a:lnTo>
                  <a:pt x="349898" y="88697"/>
                </a:lnTo>
                <a:close/>
              </a:path>
              <a:path w="381000" h="333375">
                <a:moveTo>
                  <a:pt x="238640" y="190462"/>
                </a:moveTo>
                <a:lnTo>
                  <a:pt x="237683" y="190462"/>
                </a:lnTo>
                <a:lnTo>
                  <a:pt x="229190" y="188811"/>
                </a:lnTo>
                <a:lnTo>
                  <a:pt x="221307" y="183579"/>
                </a:lnTo>
                <a:lnTo>
                  <a:pt x="178593" y="140865"/>
                </a:lnTo>
                <a:lnTo>
                  <a:pt x="297730" y="140865"/>
                </a:lnTo>
                <a:lnTo>
                  <a:pt x="255016" y="183579"/>
                </a:lnTo>
                <a:lnTo>
                  <a:pt x="247133" y="188811"/>
                </a:lnTo>
                <a:lnTo>
                  <a:pt x="238640" y="190462"/>
                </a:lnTo>
                <a:close/>
              </a:path>
            </a:pathLst>
          </a:custGeom>
          <a:solidFill>
            <a:srgbClr val="4A8FE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5286374" y="360006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7756" y="238125"/>
                </a:moveTo>
                <a:lnTo>
                  <a:pt x="7962" y="238125"/>
                </a:lnTo>
                <a:lnTo>
                  <a:pt x="0" y="230162"/>
                </a:lnTo>
                <a:lnTo>
                  <a:pt x="0" y="190500"/>
                </a:lnTo>
                <a:lnTo>
                  <a:pt x="5030" y="146816"/>
                </a:lnTo>
                <a:lnTo>
                  <a:pt x="19360" y="106718"/>
                </a:lnTo>
                <a:lnTo>
                  <a:pt x="41847" y="71347"/>
                </a:lnTo>
                <a:lnTo>
                  <a:pt x="71347" y="41847"/>
                </a:lnTo>
                <a:lnTo>
                  <a:pt x="106718" y="19360"/>
                </a:lnTo>
                <a:lnTo>
                  <a:pt x="146816" y="5030"/>
                </a:lnTo>
                <a:lnTo>
                  <a:pt x="190500" y="0"/>
                </a:lnTo>
                <a:lnTo>
                  <a:pt x="234183" y="5030"/>
                </a:lnTo>
                <a:lnTo>
                  <a:pt x="274282" y="19360"/>
                </a:lnTo>
                <a:lnTo>
                  <a:pt x="300012" y="35718"/>
                </a:lnTo>
                <a:lnTo>
                  <a:pt x="190500" y="35718"/>
                </a:lnTo>
                <a:lnTo>
                  <a:pt x="141570" y="43607"/>
                </a:lnTo>
                <a:lnTo>
                  <a:pt x="99080" y="65577"/>
                </a:lnTo>
                <a:lnTo>
                  <a:pt x="65577" y="99080"/>
                </a:lnTo>
                <a:lnTo>
                  <a:pt x="43607" y="141570"/>
                </a:lnTo>
                <a:lnTo>
                  <a:pt x="35718" y="190500"/>
                </a:lnTo>
                <a:lnTo>
                  <a:pt x="35718" y="230162"/>
                </a:lnTo>
                <a:lnTo>
                  <a:pt x="27756" y="238125"/>
                </a:lnTo>
                <a:close/>
              </a:path>
              <a:path w="381000" h="381000">
                <a:moveTo>
                  <a:pt x="373017" y="327421"/>
                </a:moveTo>
                <a:lnTo>
                  <a:pt x="315884" y="327421"/>
                </a:lnTo>
                <a:lnTo>
                  <a:pt x="327104" y="325158"/>
                </a:lnTo>
                <a:lnTo>
                  <a:pt x="336565" y="318780"/>
                </a:lnTo>
                <a:lnTo>
                  <a:pt x="342943" y="309319"/>
                </a:lnTo>
                <a:lnTo>
                  <a:pt x="345281" y="297730"/>
                </a:lnTo>
                <a:lnTo>
                  <a:pt x="345281" y="190500"/>
                </a:lnTo>
                <a:lnTo>
                  <a:pt x="337392" y="141570"/>
                </a:lnTo>
                <a:lnTo>
                  <a:pt x="315422" y="99080"/>
                </a:lnTo>
                <a:lnTo>
                  <a:pt x="281919" y="65577"/>
                </a:lnTo>
                <a:lnTo>
                  <a:pt x="239429" y="43607"/>
                </a:lnTo>
                <a:lnTo>
                  <a:pt x="190500" y="35718"/>
                </a:lnTo>
                <a:lnTo>
                  <a:pt x="300012" y="35718"/>
                </a:lnTo>
                <a:lnTo>
                  <a:pt x="339152" y="71347"/>
                </a:lnTo>
                <a:lnTo>
                  <a:pt x="361639" y="106718"/>
                </a:lnTo>
                <a:lnTo>
                  <a:pt x="375969" y="146816"/>
                </a:lnTo>
                <a:lnTo>
                  <a:pt x="381000" y="190500"/>
                </a:lnTo>
                <a:lnTo>
                  <a:pt x="381000" y="297730"/>
                </a:lnTo>
                <a:lnTo>
                  <a:pt x="375852" y="323219"/>
                </a:lnTo>
                <a:lnTo>
                  <a:pt x="373017" y="327421"/>
                </a:lnTo>
                <a:close/>
              </a:path>
              <a:path w="381000" h="381000">
                <a:moveTo>
                  <a:pt x="119062" y="285750"/>
                </a:moveTo>
                <a:lnTo>
                  <a:pt x="107156" y="285750"/>
                </a:lnTo>
                <a:lnTo>
                  <a:pt x="88632" y="282002"/>
                </a:lnTo>
                <a:lnTo>
                  <a:pt x="73493" y="271788"/>
                </a:lnTo>
                <a:lnTo>
                  <a:pt x="63278" y="256648"/>
                </a:lnTo>
                <a:lnTo>
                  <a:pt x="59531" y="238125"/>
                </a:lnTo>
                <a:lnTo>
                  <a:pt x="59531" y="202406"/>
                </a:lnTo>
                <a:lnTo>
                  <a:pt x="63278" y="183882"/>
                </a:lnTo>
                <a:lnTo>
                  <a:pt x="73493" y="168743"/>
                </a:lnTo>
                <a:lnTo>
                  <a:pt x="88632" y="158528"/>
                </a:lnTo>
                <a:lnTo>
                  <a:pt x="107156" y="154781"/>
                </a:lnTo>
                <a:lnTo>
                  <a:pt x="119062" y="154781"/>
                </a:lnTo>
                <a:lnTo>
                  <a:pt x="128339" y="156649"/>
                </a:lnTo>
                <a:lnTo>
                  <a:pt x="135907" y="161748"/>
                </a:lnTo>
                <a:lnTo>
                  <a:pt x="141006" y="169316"/>
                </a:lnTo>
                <a:lnTo>
                  <a:pt x="142875" y="178593"/>
                </a:lnTo>
                <a:lnTo>
                  <a:pt x="142875" y="261937"/>
                </a:lnTo>
                <a:lnTo>
                  <a:pt x="141006" y="271214"/>
                </a:lnTo>
                <a:lnTo>
                  <a:pt x="135907" y="278783"/>
                </a:lnTo>
                <a:lnTo>
                  <a:pt x="128339" y="283881"/>
                </a:lnTo>
                <a:lnTo>
                  <a:pt x="119062" y="285750"/>
                </a:lnTo>
                <a:close/>
              </a:path>
              <a:path w="381000" h="381000">
                <a:moveTo>
                  <a:pt x="273843" y="285750"/>
                </a:moveTo>
                <a:lnTo>
                  <a:pt x="261937" y="285750"/>
                </a:lnTo>
                <a:lnTo>
                  <a:pt x="252660" y="283881"/>
                </a:lnTo>
                <a:lnTo>
                  <a:pt x="245092" y="278783"/>
                </a:lnTo>
                <a:lnTo>
                  <a:pt x="239993" y="271214"/>
                </a:lnTo>
                <a:lnTo>
                  <a:pt x="238125" y="261937"/>
                </a:lnTo>
                <a:lnTo>
                  <a:pt x="238125" y="178593"/>
                </a:lnTo>
                <a:lnTo>
                  <a:pt x="239993" y="169316"/>
                </a:lnTo>
                <a:lnTo>
                  <a:pt x="245092" y="161748"/>
                </a:lnTo>
                <a:lnTo>
                  <a:pt x="252660" y="156649"/>
                </a:lnTo>
                <a:lnTo>
                  <a:pt x="261937" y="154781"/>
                </a:lnTo>
                <a:lnTo>
                  <a:pt x="273843" y="154781"/>
                </a:lnTo>
                <a:lnTo>
                  <a:pt x="292367" y="158528"/>
                </a:lnTo>
                <a:lnTo>
                  <a:pt x="307506" y="168743"/>
                </a:lnTo>
                <a:lnTo>
                  <a:pt x="317721" y="183882"/>
                </a:lnTo>
                <a:lnTo>
                  <a:pt x="321468" y="202406"/>
                </a:lnTo>
                <a:lnTo>
                  <a:pt x="321468" y="238125"/>
                </a:lnTo>
                <a:lnTo>
                  <a:pt x="317721" y="256648"/>
                </a:lnTo>
                <a:lnTo>
                  <a:pt x="307506" y="271788"/>
                </a:lnTo>
                <a:lnTo>
                  <a:pt x="292367" y="282002"/>
                </a:lnTo>
                <a:lnTo>
                  <a:pt x="273843" y="285750"/>
                </a:lnTo>
                <a:close/>
              </a:path>
              <a:path w="381000" h="381000">
                <a:moveTo>
                  <a:pt x="202406" y="381000"/>
                </a:moveTo>
                <a:lnTo>
                  <a:pt x="178593" y="381000"/>
                </a:lnTo>
                <a:lnTo>
                  <a:pt x="164693" y="378192"/>
                </a:lnTo>
                <a:lnTo>
                  <a:pt x="153261" y="370420"/>
                </a:lnTo>
                <a:lnTo>
                  <a:pt x="145682" y="359181"/>
                </a:lnTo>
                <a:lnTo>
                  <a:pt x="142875" y="345281"/>
                </a:lnTo>
                <a:lnTo>
                  <a:pt x="145682" y="331380"/>
                </a:lnTo>
                <a:lnTo>
                  <a:pt x="153339" y="320026"/>
                </a:lnTo>
                <a:lnTo>
                  <a:pt x="164693" y="312370"/>
                </a:lnTo>
                <a:lnTo>
                  <a:pt x="178593" y="309562"/>
                </a:lnTo>
                <a:lnTo>
                  <a:pt x="202406" y="309562"/>
                </a:lnTo>
                <a:lnTo>
                  <a:pt x="233362" y="327421"/>
                </a:lnTo>
                <a:lnTo>
                  <a:pt x="373017" y="327421"/>
                </a:lnTo>
                <a:lnTo>
                  <a:pt x="361810" y="344034"/>
                </a:lnTo>
                <a:lnTo>
                  <a:pt x="340973" y="358068"/>
                </a:lnTo>
                <a:lnTo>
                  <a:pt x="315810" y="363140"/>
                </a:lnTo>
                <a:lnTo>
                  <a:pt x="233362" y="363140"/>
                </a:lnTo>
                <a:lnTo>
                  <a:pt x="227782" y="370420"/>
                </a:lnTo>
                <a:lnTo>
                  <a:pt x="220535" y="376060"/>
                </a:lnTo>
                <a:lnTo>
                  <a:pt x="211962" y="379705"/>
                </a:lnTo>
                <a:lnTo>
                  <a:pt x="202406" y="381000"/>
                </a:lnTo>
                <a:close/>
              </a:path>
            </a:pathLst>
          </a:custGeom>
          <a:solidFill>
            <a:srgbClr val="4A8FE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5995987" y="3600061"/>
            <a:ext cx="404495" cy="381000"/>
          </a:xfrm>
          <a:custGeom>
            <a:avLst/>
            <a:gdLst/>
            <a:ahLst/>
            <a:cxnLst/>
            <a:rect l="l" t="t" r="r" b="b"/>
            <a:pathLst>
              <a:path w="404495" h="381000">
                <a:moveTo>
                  <a:pt x="375344" y="178593"/>
                </a:moveTo>
                <a:lnTo>
                  <a:pt x="202406" y="178593"/>
                </a:lnTo>
                <a:lnTo>
                  <a:pt x="202406" y="5655"/>
                </a:lnTo>
                <a:lnTo>
                  <a:pt x="207615" y="0"/>
                </a:lnTo>
                <a:lnTo>
                  <a:pt x="214312" y="0"/>
                </a:lnTo>
                <a:lnTo>
                  <a:pt x="258621" y="5954"/>
                </a:lnTo>
                <a:lnTo>
                  <a:pt x="298438" y="22759"/>
                </a:lnTo>
                <a:lnTo>
                  <a:pt x="332175" y="48824"/>
                </a:lnTo>
                <a:lnTo>
                  <a:pt x="358240" y="82561"/>
                </a:lnTo>
                <a:lnTo>
                  <a:pt x="375045" y="122378"/>
                </a:lnTo>
                <a:lnTo>
                  <a:pt x="381000" y="166687"/>
                </a:lnTo>
                <a:lnTo>
                  <a:pt x="381000" y="173384"/>
                </a:lnTo>
                <a:lnTo>
                  <a:pt x="375344" y="178593"/>
                </a:lnTo>
                <a:close/>
              </a:path>
              <a:path w="404495" h="381000">
                <a:moveTo>
                  <a:pt x="178593" y="381000"/>
                </a:moveTo>
                <a:lnTo>
                  <a:pt x="131128" y="374623"/>
                </a:lnTo>
                <a:lnTo>
                  <a:pt x="88470" y="356625"/>
                </a:lnTo>
                <a:lnTo>
                  <a:pt x="52322" y="328705"/>
                </a:lnTo>
                <a:lnTo>
                  <a:pt x="24391" y="292563"/>
                </a:lnTo>
                <a:lnTo>
                  <a:pt x="6382" y="249896"/>
                </a:lnTo>
                <a:lnTo>
                  <a:pt x="0" y="202406"/>
                </a:lnTo>
                <a:lnTo>
                  <a:pt x="7668" y="150492"/>
                </a:lnTo>
                <a:lnTo>
                  <a:pt x="29167" y="104578"/>
                </a:lnTo>
                <a:lnTo>
                  <a:pt x="62236" y="66933"/>
                </a:lnTo>
                <a:lnTo>
                  <a:pt x="104613" y="39826"/>
                </a:lnTo>
                <a:lnTo>
                  <a:pt x="154037" y="25524"/>
                </a:lnTo>
                <a:lnTo>
                  <a:pt x="160883" y="24556"/>
                </a:lnTo>
                <a:lnTo>
                  <a:pt x="166687" y="30063"/>
                </a:lnTo>
                <a:lnTo>
                  <a:pt x="166687" y="214312"/>
                </a:lnTo>
                <a:lnTo>
                  <a:pt x="288131" y="335756"/>
                </a:lnTo>
                <a:lnTo>
                  <a:pt x="258981" y="361912"/>
                </a:lnTo>
                <a:lnTo>
                  <a:pt x="206915" y="378767"/>
                </a:lnTo>
                <a:lnTo>
                  <a:pt x="178593" y="381000"/>
                </a:lnTo>
                <a:close/>
              </a:path>
              <a:path w="404495" h="381000">
                <a:moveTo>
                  <a:pt x="343718" y="337021"/>
                </a:moveTo>
                <a:lnTo>
                  <a:pt x="336723" y="336723"/>
                </a:lnTo>
                <a:lnTo>
                  <a:pt x="332407" y="332333"/>
                </a:lnTo>
                <a:lnTo>
                  <a:pt x="214312" y="214312"/>
                </a:lnTo>
                <a:lnTo>
                  <a:pt x="398636" y="214312"/>
                </a:lnTo>
                <a:lnTo>
                  <a:pt x="404068" y="220116"/>
                </a:lnTo>
                <a:lnTo>
                  <a:pt x="384497" y="285266"/>
                </a:lnTo>
                <a:lnTo>
                  <a:pt x="348183" y="332854"/>
                </a:lnTo>
                <a:lnTo>
                  <a:pt x="343718" y="337021"/>
                </a:lnTo>
                <a:close/>
              </a:path>
            </a:pathLst>
          </a:custGeom>
          <a:solidFill>
            <a:srgbClr val="4A8FE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6705600" y="3647687"/>
            <a:ext cx="428625" cy="285750"/>
          </a:xfrm>
          <a:custGeom>
            <a:avLst/>
            <a:gdLst/>
            <a:ahLst/>
            <a:cxnLst/>
            <a:rect l="l" t="t" r="r" b="b"/>
            <a:pathLst>
              <a:path w="428625" h="285750">
                <a:moveTo>
                  <a:pt x="381000" y="285750"/>
                </a:moveTo>
                <a:lnTo>
                  <a:pt x="47625" y="285750"/>
                </a:lnTo>
                <a:lnTo>
                  <a:pt x="29101" y="282002"/>
                </a:lnTo>
                <a:lnTo>
                  <a:pt x="13961" y="271788"/>
                </a:lnTo>
                <a:lnTo>
                  <a:pt x="3747" y="256648"/>
                </a:lnTo>
                <a:lnTo>
                  <a:pt x="0" y="238125"/>
                </a:lnTo>
                <a:lnTo>
                  <a:pt x="0" y="183951"/>
                </a:lnTo>
                <a:lnTo>
                  <a:pt x="5506" y="178816"/>
                </a:lnTo>
                <a:lnTo>
                  <a:pt x="11683" y="176658"/>
                </a:lnTo>
                <a:lnTo>
                  <a:pt x="21340" y="171537"/>
                </a:lnTo>
                <a:lnTo>
                  <a:pt x="28947" y="163813"/>
                </a:lnTo>
                <a:lnTo>
                  <a:pt x="33930" y="154066"/>
                </a:lnTo>
                <a:lnTo>
                  <a:pt x="35718" y="142875"/>
                </a:lnTo>
                <a:lnTo>
                  <a:pt x="33930" y="131683"/>
                </a:lnTo>
                <a:lnTo>
                  <a:pt x="28947" y="121936"/>
                </a:lnTo>
                <a:lnTo>
                  <a:pt x="21340" y="114212"/>
                </a:lnTo>
                <a:lnTo>
                  <a:pt x="11683" y="109091"/>
                </a:lnTo>
                <a:lnTo>
                  <a:pt x="5506" y="106933"/>
                </a:lnTo>
                <a:lnTo>
                  <a:pt x="0" y="101798"/>
                </a:lnTo>
                <a:lnTo>
                  <a:pt x="0" y="47625"/>
                </a:lnTo>
                <a:lnTo>
                  <a:pt x="3747" y="29101"/>
                </a:lnTo>
                <a:lnTo>
                  <a:pt x="13961" y="13961"/>
                </a:lnTo>
                <a:lnTo>
                  <a:pt x="29101" y="3747"/>
                </a:lnTo>
                <a:lnTo>
                  <a:pt x="47625" y="0"/>
                </a:lnTo>
                <a:lnTo>
                  <a:pt x="381000" y="0"/>
                </a:lnTo>
                <a:lnTo>
                  <a:pt x="399523" y="3747"/>
                </a:lnTo>
                <a:lnTo>
                  <a:pt x="414663" y="13961"/>
                </a:lnTo>
                <a:lnTo>
                  <a:pt x="424877" y="29101"/>
                </a:lnTo>
                <a:lnTo>
                  <a:pt x="428625" y="47625"/>
                </a:lnTo>
                <a:lnTo>
                  <a:pt x="428625" y="101798"/>
                </a:lnTo>
                <a:lnTo>
                  <a:pt x="423118" y="106933"/>
                </a:lnTo>
                <a:lnTo>
                  <a:pt x="416941" y="109091"/>
                </a:lnTo>
                <a:lnTo>
                  <a:pt x="407284" y="114212"/>
                </a:lnTo>
                <a:lnTo>
                  <a:pt x="399677" y="121936"/>
                </a:lnTo>
                <a:lnTo>
                  <a:pt x="394694" y="131683"/>
                </a:lnTo>
                <a:lnTo>
                  <a:pt x="392906" y="142875"/>
                </a:lnTo>
                <a:lnTo>
                  <a:pt x="394694" y="154066"/>
                </a:lnTo>
                <a:lnTo>
                  <a:pt x="399677" y="163813"/>
                </a:lnTo>
                <a:lnTo>
                  <a:pt x="407284" y="171537"/>
                </a:lnTo>
                <a:lnTo>
                  <a:pt x="416941" y="176658"/>
                </a:lnTo>
                <a:lnTo>
                  <a:pt x="423118" y="178816"/>
                </a:lnTo>
                <a:lnTo>
                  <a:pt x="428625" y="183951"/>
                </a:lnTo>
                <a:lnTo>
                  <a:pt x="428625" y="238125"/>
                </a:lnTo>
                <a:lnTo>
                  <a:pt x="424877" y="256648"/>
                </a:lnTo>
                <a:lnTo>
                  <a:pt x="414663" y="271788"/>
                </a:lnTo>
                <a:lnTo>
                  <a:pt x="399523" y="282002"/>
                </a:lnTo>
                <a:lnTo>
                  <a:pt x="381000" y="285750"/>
                </a:lnTo>
                <a:close/>
              </a:path>
            </a:pathLst>
          </a:custGeom>
          <a:solidFill>
            <a:srgbClr val="4A8FE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721368" y="4876006"/>
            <a:ext cx="305103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0" dirty="0">
                <a:solidFill>
                  <a:srgbClr val="ACD8E6"/>
                </a:solidFill>
                <a:latin typeface="Lato"/>
                <a:cs typeface="Lato"/>
              </a:rPr>
              <a:t>Sudhanshu</a:t>
            </a:r>
            <a:r>
              <a:rPr sz="2800" b="1" spc="5" dirty="0">
                <a:solidFill>
                  <a:srgbClr val="ACD8E6"/>
                </a:solidFill>
                <a:latin typeface="Lato"/>
                <a:cs typeface="Lato"/>
              </a:rPr>
              <a:t> </a:t>
            </a:r>
            <a:r>
              <a:rPr sz="2800" b="1" spc="-10" dirty="0">
                <a:solidFill>
                  <a:srgbClr val="ACD8E6"/>
                </a:solidFill>
                <a:latin typeface="Lato"/>
                <a:cs typeface="Lato"/>
              </a:rPr>
              <a:t>Tiwari</a:t>
            </a:r>
            <a:endParaRPr sz="2800" b="1" dirty="0">
              <a:latin typeface="Lato"/>
              <a:cs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299" y="349250"/>
            <a:ext cx="5651501" cy="436657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204"/>
              </a:spcBef>
            </a:pPr>
            <a:r>
              <a:rPr spc="370" dirty="0">
                <a:solidFill>
                  <a:srgbClr val="0052CC"/>
                </a:solidFill>
              </a:rPr>
              <a:t>INTRODUCTION</a:t>
            </a:r>
            <a:r>
              <a:rPr spc="150" dirty="0">
                <a:solidFill>
                  <a:srgbClr val="0052CC"/>
                </a:solidFill>
              </a:rPr>
              <a:t> </a:t>
            </a:r>
            <a:r>
              <a:rPr spc="-5" dirty="0">
                <a:solidFill>
                  <a:srgbClr val="0052CC"/>
                </a:solidFill>
              </a:rPr>
              <a:t>&amp; </a:t>
            </a:r>
            <a:r>
              <a:rPr spc="415" dirty="0">
                <a:solidFill>
                  <a:srgbClr val="0052CC"/>
                </a:solidFill>
              </a:rPr>
              <a:t>OBJECTIVES</a:t>
            </a:r>
          </a:p>
        </p:txBody>
      </p:sp>
      <p:sp>
        <p:nvSpPr>
          <p:cNvPr id="3" name="object 3"/>
          <p:cNvSpPr/>
          <p:nvPr/>
        </p:nvSpPr>
        <p:spPr>
          <a:xfrm>
            <a:off x="368298" y="949974"/>
            <a:ext cx="571500" cy="38100"/>
          </a:xfrm>
          <a:custGeom>
            <a:avLst/>
            <a:gdLst/>
            <a:ahLst/>
            <a:cxnLst/>
            <a:rect l="l" t="t" r="r" b="b"/>
            <a:pathLst>
              <a:path w="571500" h="38100">
                <a:moveTo>
                  <a:pt x="571499" y="38099"/>
                </a:moveTo>
                <a:lnTo>
                  <a:pt x="0" y="38099"/>
                </a:lnTo>
                <a:lnTo>
                  <a:pt x="0" y="0"/>
                </a:lnTo>
                <a:lnTo>
                  <a:pt x="571499" y="0"/>
                </a:lnTo>
                <a:lnTo>
                  <a:pt x="571499" y="38099"/>
                </a:lnTo>
                <a:close/>
              </a:path>
            </a:pathLst>
          </a:custGeom>
          <a:solidFill>
            <a:srgbClr val="4A8FE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4" name="object 4"/>
          <p:cNvGrpSpPr/>
          <p:nvPr/>
        </p:nvGrpSpPr>
        <p:grpSpPr>
          <a:xfrm>
            <a:off x="380999" y="2750113"/>
            <a:ext cx="5410200" cy="381000"/>
            <a:chOff x="380999" y="2571749"/>
            <a:chExt cx="5410200" cy="381000"/>
          </a:xfrm>
        </p:grpSpPr>
        <p:sp>
          <p:nvSpPr>
            <p:cNvPr id="5" name="object 5"/>
            <p:cNvSpPr/>
            <p:nvPr/>
          </p:nvSpPr>
          <p:spPr>
            <a:xfrm>
              <a:off x="380999" y="2571749"/>
              <a:ext cx="5410200" cy="381000"/>
            </a:xfrm>
            <a:custGeom>
              <a:avLst/>
              <a:gdLst/>
              <a:ahLst/>
              <a:cxnLst/>
              <a:rect l="l" t="t" r="r" b="b"/>
              <a:pathLst>
                <a:path w="5410200" h="381000">
                  <a:moveTo>
                    <a:pt x="54101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5410199" y="0"/>
                  </a:lnTo>
                  <a:lnTo>
                    <a:pt x="5410199" y="380999"/>
                  </a:lnTo>
                  <a:close/>
                </a:path>
              </a:pathLst>
            </a:custGeom>
            <a:solidFill>
              <a:srgbClr val="E3F1FD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380999" y="2571749"/>
              <a:ext cx="28575" cy="381000"/>
            </a:xfrm>
            <a:custGeom>
              <a:avLst/>
              <a:gdLst/>
              <a:ahLst/>
              <a:cxnLst/>
              <a:rect l="l" t="t" r="r" b="b"/>
              <a:pathLst>
                <a:path w="28575" h="381000">
                  <a:moveTo>
                    <a:pt x="28574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80999"/>
                  </a:lnTo>
                  <a:close/>
                </a:path>
              </a:pathLst>
            </a:custGeom>
            <a:solidFill>
              <a:srgbClr val="4A8FE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3874" y="2695574"/>
              <a:ext cx="152399" cy="133349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380999" y="3245414"/>
            <a:ext cx="5410200" cy="381000"/>
            <a:chOff x="380999" y="3105149"/>
            <a:chExt cx="5410200" cy="381000"/>
          </a:xfrm>
        </p:grpSpPr>
        <p:sp>
          <p:nvSpPr>
            <p:cNvPr id="9" name="object 9"/>
            <p:cNvSpPr/>
            <p:nvPr/>
          </p:nvSpPr>
          <p:spPr>
            <a:xfrm>
              <a:off x="380999" y="3105149"/>
              <a:ext cx="5410200" cy="381000"/>
            </a:xfrm>
            <a:custGeom>
              <a:avLst/>
              <a:gdLst/>
              <a:ahLst/>
              <a:cxnLst/>
              <a:rect l="l" t="t" r="r" b="b"/>
              <a:pathLst>
                <a:path w="5410200" h="381000">
                  <a:moveTo>
                    <a:pt x="54101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5410199" y="0"/>
                  </a:lnTo>
                  <a:lnTo>
                    <a:pt x="5410199" y="380999"/>
                  </a:lnTo>
                  <a:close/>
                </a:path>
              </a:pathLst>
            </a:custGeom>
            <a:solidFill>
              <a:srgbClr val="E3F1FD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10"/>
            <p:cNvSpPr/>
            <p:nvPr/>
          </p:nvSpPr>
          <p:spPr>
            <a:xfrm>
              <a:off x="380999" y="3105149"/>
              <a:ext cx="28575" cy="381000"/>
            </a:xfrm>
            <a:custGeom>
              <a:avLst/>
              <a:gdLst/>
              <a:ahLst/>
              <a:cxnLst/>
              <a:rect l="l" t="t" r="r" b="b"/>
              <a:pathLst>
                <a:path w="28575" h="381000">
                  <a:moveTo>
                    <a:pt x="28574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80999"/>
                  </a:lnTo>
                  <a:close/>
                </a:path>
              </a:pathLst>
            </a:custGeom>
            <a:solidFill>
              <a:srgbClr val="4A8FE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3874" y="3219449"/>
              <a:ext cx="188803" cy="152399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368298" y="3818805"/>
            <a:ext cx="5410200" cy="381000"/>
            <a:chOff x="380999" y="3638549"/>
            <a:chExt cx="5410200" cy="381000"/>
          </a:xfrm>
        </p:grpSpPr>
        <p:sp>
          <p:nvSpPr>
            <p:cNvPr id="13" name="object 13"/>
            <p:cNvSpPr/>
            <p:nvPr/>
          </p:nvSpPr>
          <p:spPr>
            <a:xfrm>
              <a:off x="380999" y="3638549"/>
              <a:ext cx="5410200" cy="381000"/>
            </a:xfrm>
            <a:custGeom>
              <a:avLst/>
              <a:gdLst/>
              <a:ahLst/>
              <a:cxnLst/>
              <a:rect l="l" t="t" r="r" b="b"/>
              <a:pathLst>
                <a:path w="5410200" h="381000">
                  <a:moveTo>
                    <a:pt x="54101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5410199" y="0"/>
                  </a:lnTo>
                  <a:lnTo>
                    <a:pt x="5410199" y="380999"/>
                  </a:lnTo>
                  <a:close/>
                </a:path>
              </a:pathLst>
            </a:custGeom>
            <a:solidFill>
              <a:srgbClr val="E3F1FD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/>
            <p:cNvSpPr/>
            <p:nvPr/>
          </p:nvSpPr>
          <p:spPr>
            <a:xfrm>
              <a:off x="380999" y="3638549"/>
              <a:ext cx="28575" cy="381000"/>
            </a:xfrm>
            <a:custGeom>
              <a:avLst/>
              <a:gdLst/>
              <a:ahLst/>
              <a:cxnLst/>
              <a:rect l="l" t="t" r="r" b="b"/>
              <a:pathLst>
                <a:path w="28575" h="381000">
                  <a:moveTo>
                    <a:pt x="28574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80999"/>
                  </a:lnTo>
                  <a:close/>
                </a:path>
              </a:pathLst>
            </a:custGeom>
            <a:solidFill>
              <a:srgbClr val="4A8FE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8637" y="3752849"/>
              <a:ext cx="104768" cy="152399"/>
            </a:xfrm>
            <a:prstGeom prst="rect">
              <a:avLst/>
            </a:prstGeom>
          </p:spPr>
        </p:pic>
      </p:grpSp>
      <p:sp>
        <p:nvSpPr>
          <p:cNvPr id="16" name="object 16"/>
          <p:cNvSpPr/>
          <p:nvPr/>
        </p:nvSpPr>
        <p:spPr>
          <a:xfrm>
            <a:off x="447674" y="46577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52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47674" y="49625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52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447674" y="52673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19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52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447674" y="55721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19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52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7366004" y="56739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2205" y="190499"/>
                </a:moveTo>
                <a:lnTo>
                  <a:pt x="6369" y="190499"/>
                </a:lnTo>
                <a:lnTo>
                  <a:pt x="0" y="184130"/>
                </a:lnTo>
                <a:lnTo>
                  <a:pt x="0" y="152399"/>
                </a:lnTo>
                <a:lnTo>
                  <a:pt x="7784" y="104195"/>
                </a:lnTo>
                <a:lnTo>
                  <a:pt x="29401" y="62390"/>
                </a:lnTo>
                <a:lnTo>
                  <a:pt x="62390" y="29401"/>
                </a:lnTo>
                <a:lnTo>
                  <a:pt x="104226" y="7768"/>
                </a:lnTo>
                <a:lnTo>
                  <a:pt x="152399" y="0"/>
                </a:lnTo>
                <a:lnTo>
                  <a:pt x="200573" y="7768"/>
                </a:lnTo>
                <a:lnTo>
                  <a:pt x="240810" y="28574"/>
                </a:lnTo>
                <a:lnTo>
                  <a:pt x="152399" y="28574"/>
                </a:lnTo>
                <a:lnTo>
                  <a:pt x="104195" y="38303"/>
                </a:lnTo>
                <a:lnTo>
                  <a:pt x="64836" y="64836"/>
                </a:lnTo>
                <a:lnTo>
                  <a:pt x="38303" y="104195"/>
                </a:lnTo>
                <a:lnTo>
                  <a:pt x="28574" y="152399"/>
                </a:lnTo>
                <a:lnTo>
                  <a:pt x="28574" y="184130"/>
                </a:lnTo>
                <a:lnTo>
                  <a:pt x="22205" y="190499"/>
                </a:lnTo>
                <a:close/>
              </a:path>
              <a:path w="304800" h="304800">
                <a:moveTo>
                  <a:pt x="298414" y="261937"/>
                </a:moveTo>
                <a:lnTo>
                  <a:pt x="252707" y="261937"/>
                </a:lnTo>
                <a:lnTo>
                  <a:pt x="261683" y="260126"/>
                </a:lnTo>
                <a:lnTo>
                  <a:pt x="269252" y="255024"/>
                </a:lnTo>
                <a:lnTo>
                  <a:pt x="274354" y="247455"/>
                </a:lnTo>
                <a:lnTo>
                  <a:pt x="276224" y="238184"/>
                </a:lnTo>
                <a:lnTo>
                  <a:pt x="276224" y="152399"/>
                </a:lnTo>
                <a:lnTo>
                  <a:pt x="266496" y="104195"/>
                </a:lnTo>
                <a:lnTo>
                  <a:pt x="239963" y="64836"/>
                </a:lnTo>
                <a:lnTo>
                  <a:pt x="200604" y="38303"/>
                </a:lnTo>
                <a:lnTo>
                  <a:pt x="152399" y="28574"/>
                </a:lnTo>
                <a:lnTo>
                  <a:pt x="240810" y="28574"/>
                </a:lnTo>
                <a:lnTo>
                  <a:pt x="242409" y="29401"/>
                </a:lnTo>
                <a:lnTo>
                  <a:pt x="275398" y="62390"/>
                </a:lnTo>
                <a:lnTo>
                  <a:pt x="297015" y="104195"/>
                </a:lnTo>
                <a:lnTo>
                  <a:pt x="304799" y="152399"/>
                </a:lnTo>
                <a:lnTo>
                  <a:pt x="304799" y="238184"/>
                </a:lnTo>
                <a:lnTo>
                  <a:pt x="300682" y="258575"/>
                </a:lnTo>
                <a:lnTo>
                  <a:pt x="298414" y="261937"/>
                </a:lnTo>
                <a:close/>
              </a:path>
              <a:path w="304800" h="304800">
                <a:moveTo>
                  <a:pt x="95249" y="228599"/>
                </a:moveTo>
                <a:lnTo>
                  <a:pt x="85724" y="228599"/>
                </a:lnTo>
                <a:lnTo>
                  <a:pt x="70906" y="225602"/>
                </a:lnTo>
                <a:lnTo>
                  <a:pt x="58794" y="217430"/>
                </a:lnTo>
                <a:lnTo>
                  <a:pt x="50622" y="205318"/>
                </a:lnTo>
                <a:lnTo>
                  <a:pt x="47624" y="190499"/>
                </a:lnTo>
                <a:lnTo>
                  <a:pt x="47624" y="161924"/>
                </a:lnTo>
                <a:lnTo>
                  <a:pt x="50622" y="147106"/>
                </a:lnTo>
                <a:lnTo>
                  <a:pt x="58794" y="134994"/>
                </a:lnTo>
                <a:lnTo>
                  <a:pt x="70906" y="126822"/>
                </a:lnTo>
                <a:lnTo>
                  <a:pt x="85724" y="123824"/>
                </a:lnTo>
                <a:lnTo>
                  <a:pt x="95249" y="123824"/>
                </a:lnTo>
                <a:lnTo>
                  <a:pt x="102671" y="125319"/>
                </a:lnTo>
                <a:lnTo>
                  <a:pt x="108726" y="129398"/>
                </a:lnTo>
                <a:lnTo>
                  <a:pt x="112805" y="135453"/>
                </a:lnTo>
                <a:lnTo>
                  <a:pt x="114299" y="142874"/>
                </a:lnTo>
                <a:lnTo>
                  <a:pt x="114299" y="209549"/>
                </a:lnTo>
                <a:lnTo>
                  <a:pt x="112805" y="216971"/>
                </a:lnTo>
                <a:lnTo>
                  <a:pt x="108726" y="223026"/>
                </a:lnTo>
                <a:lnTo>
                  <a:pt x="102671" y="227105"/>
                </a:lnTo>
                <a:lnTo>
                  <a:pt x="95249" y="228599"/>
                </a:lnTo>
                <a:close/>
              </a:path>
              <a:path w="304800" h="304800">
                <a:moveTo>
                  <a:pt x="219074" y="228599"/>
                </a:moveTo>
                <a:lnTo>
                  <a:pt x="209549" y="228599"/>
                </a:lnTo>
                <a:lnTo>
                  <a:pt x="202128" y="227105"/>
                </a:lnTo>
                <a:lnTo>
                  <a:pt x="196073" y="223026"/>
                </a:lnTo>
                <a:lnTo>
                  <a:pt x="191994" y="216971"/>
                </a:lnTo>
                <a:lnTo>
                  <a:pt x="190499" y="209549"/>
                </a:lnTo>
                <a:lnTo>
                  <a:pt x="190499" y="142874"/>
                </a:lnTo>
                <a:lnTo>
                  <a:pt x="191994" y="135453"/>
                </a:lnTo>
                <a:lnTo>
                  <a:pt x="196073" y="129398"/>
                </a:lnTo>
                <a:lnTo>
                  <a:pt x="202128" y="125319"/>
                </a:lnTo>
                <a:lnTo>
                  <a:pt x="209549" y="123824"/>
                </a:lnTo>
                <a:lnTo>
                  <a:pt x="219074" y="123824"/>
                </a:lnTo>
                <a:lnTo>
                  <a:pt x="233893" y="126822"/>
                </a:lnTo>
                <a:lnTo>
                  <a:pt x="246005" y="134994"/>
                </a:lnTo>
                <a:lnTo>
                  <a:pt x="254177" y="147106"/>
                </a:lnTo>
                <a:lnTo>
                  <a:pt x="257174" y="161924"/>
                </a:lnTo>
                <a:lnTo>
                  <a:pt x="257174" y="190499"/>
                </a:lnTo>
                <a:lnTo>
                  <a:pt x="254177" y="205318"/>
                </a:lnTo>
                <a:lnTo>
                  <a:pt x="246005" y="217430"/>
                </a:lnTo>
                <a:lnTo>
                  <a:pt x="233893" y="225602"/>
                </a:lnTo>
                <a:lnTo>
                  <a:pt x="219074" y="228599"/>
                </a:lnTo>
                <a:close/>
              </a:path>
              <a:path w="304800" h="304800">
                <a:moveTo>
                  <a:pt x="161924" y="304799"/>
                </a:moveTo>
                <a:lnTo>
                  <a:pt x="142874" y="304799"/>
                </a:lnTo>
                <a:lnTo>
                  <a:pt x="131754" y="302553"/>
                </a:lnTo>
                <a:lnTo>
                  <a:pt x="122609" y="296336"/>
                </a:lnTo>
                <a:lnTo>
                  <a:pt x="116546" y="287345"/>
                </a:lnTo>
                <a:lnTo>
                  <a:pt x="114299" y="276224"/>
                </a:lnTo>
                <a:lnTo>
                  <a:pt x="116546" y="265104"/>
                </a:lnTo>
                <a:lnTo>
                  <a:pt x="122671" y="256021"/>
                </a:lnTo>
                <a:lnTo>
                  <a:pt x="131754" y="249896"/>
                </a:lnTo>
                <a:lnTo>
                  <a:pt x="142874" y="247649"/>
                </a:lnTo>
                <a:lnTo>
                  <a:pt x="161924" y="247649"/>
                </a:lnTo>
                <a:lnTo>
                  <a:pt x="186689" y="261937"/>
                </a:lnTo>
                <a:lnTo>
                  <a:pt x="298414" y="261937"/>
                </a:lnTo>
                <a:lnTo>
                  <a:pt x="289448" y="275227"/>
                </a:lnTo>
                <a:lnTo>
                  <a:pt x="272778" y="286455"/>
                </a:lnTo>
                <a:lnTo>
                  <a:pt x="252648" y="290512"/>
                </a:lnTo>
                <a:lnTo>
                  <a:pt x="186689" y="290512"/>
                </a:lnTo>
                <a:lnTo>
                  <a:pt x="182226" y="296336"/>
                </a:lnTo>
                <a:lnTo>
                  <a:pt x="176428" y="300848"/>
                </a:lnTo>
                <a:lnTo>
                  <a:pt x="169570" y="303764"/>
                </a:lnTo>
                <a:lnTo>
                  <a:pt x="161924" y="304799"/>
                </a:lnTo>
                <a:close/>
              </a:path>
            </a:pathLst>
          </a:custGeom>
          <a:solidFill>
            <a:srgbClr val="4A8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51804" y="647162"/>
            <a:ext cx="167840" cy="145256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8594729" y="567391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49" y="123824"/>
                </a:moveTo>
                <a:lnTo>
                  <a:pt x="81447" y="120083"/>
                </a:lnTo>
                <a:lnTo>
                  <a:pt x="39059" y="109879"/>
                </a:lnTo>
                <a:lnTo>
                  <a:pt x="10480" y="94742"/>
                </a:lnTo>
                <a:lnTo>
                  <a:pt x="0" y="76199"/>
                </a:lnTo>
                <a:lnTo>
                  <a:pt x="0" y="47624"/>
                </a:lnTo>
                <a:lnTo>
                  <a:pt x="10480" y="29082"/>
                </a:lnTo>
                <a:lnTo>
                  <a:pt x="39059" y="13945"/>
                </a:lnTo>
                <a:lnTo>
                  <a:pt x="81447" y="3741"/>
                </a:lnTo>
                <a:lnTo>
                  <a:pt x="133349" y="0"/>
                </a:lnTo>
                <a:lnTo>
                  <a:pt x="185252" y="3741"/>
                </a:lnTo>
                <a:lnTo>
                  <a:pt x="227640" y="13945"/>
                </a:lnTo>
                <a:lnTo>
                  <a:pt x="256219" y="29082"/>
                </a:lnTo>
                <a:lnTo>
                  <a:pt x="266699" y="47624"/>
                </a:lnTo>
                <a:lnTo>
                  <a:pt x="266699" y="76199"/>
                </a:lnTo>
                <a:lnTo>
                  <a:pt x="256219" y="94742"/>
                </a:lnTo>
                <a:lnTo>
                  <a:pt x="227640" y="109879"/>
                </a:lnTo>
                <a:lnTo>
                  <a:pt x="185252" y="120083"/>
                </a:lnTo>
                <a:lnTo>
                  <a:pt x="133349" y="123824"/>
                </a:lnTo>
                <a:close/>
              </a:path>
              <a:path w="266700" h="304800">
                <a:moveTo>
                  <a:pt x="133349" y="219074"/>
                </a:moveTo>
                <a:lnTo>
                  <a:pt x="81447" y="215333"/>
                </a:lnTo>
                <a:lnTo>
                  <a:pt x="39059" y="205129"/>
                </a:lnTo>
                <a:lnTo>
                  <a:pt x="10480" y="189992"/>
                </a:lnTo>
                <a:lnTo>
                  <a:pt x="0" y="171449"/>
                </a:lnTo>
                <a:lnTo>
                  <a:pt x="0" y="110787"/>
                </a:lnTo>
                <a:lnTo>
                  <a:pt x="7062" y="115766"/>
                </a:lnTo>
                <a:lnTo>
                  <a:pt x="14955" y="120260"/>
                </a:lnTo>
                <a:lnTo>
                  <a:pt x="54238" y="134185"/>
                </a:lnTo>
                <a:lnTo>
                  <a:pt x="105171" y="141861"/>
                </a:lnTo>
                <a:lnTo>
                  <a:pt x="133349" y="142874"/>
                </a:lnTo>
                <a:lnTo>
                  <a:pt x="266699" y="142874"/>
                </a:lnTo>
                <a:lnTo>
                  <a:pt x="266699" y="171449"/>
                </a:lnTo>
                <a:lnTo>
                  <a:pt x="256219" y="189992"/>
                </a:lnTo>
                <a:lnTo>
                  <a:pt x="227640" y="205129"/>
                </a:lnTo>
                <a:lnTo>
                  <a:pt x="185252" y="215333"/>
                </a:lnTo>
                <a:lnTo>
                  <a:pt x="133349" y="219074"/>
                </a:lnTo>
                <a:close/>
              </a:path>
              <a:path w="266700" h="304800">
                <a:moveTo>
                  <a:pt x="266699" y="142874"/>
                </a:moveTo>
                <a:lnTo>
                  <a:pt x="133349" y="142874"/>
                </a:lnTo>
                <a:lnTo>
                  <a:pt x="161528" y="141861"/>
                </a:lnTo>
                <a:lnTo>
                  <a:pt x="188088" y="138916"/>
                </a:lnTo>
                <a:lnTo>
                  <a:pt x="234076" y="127813"/>
                </a:lnTo>
                <a:lnTo>
                  <a:pt x="266699" y="110787"/>
                </a:lnTo>
                <a:lnTo>
                  <a:pt x="266699" y="142874"/>
                </a:lnTo>
                <a:close/>
              </a:path>
              <a:path w="266700" h="304800">
                <a:moveTo>
                  <a:pt x="133349" y="304799"/>
                </a:moveTo>
                <a:lnTo>
                  <a:pt x="81447" y="301058"/>
                </a:lnTo>
                <a:lnTo>
                  <a:pt x="39059" y="290854"/>
                </a:lnTo>
                <a:lnTo>
                  <a:pt x="10480" y="275717"/>
                </a:lnTo>
                <a:lnTo>
                  <a:pt x="0" y="257174"/>
                </a:lnTo>
                <a:lnTo>
                  <a:pt x="0" y="206037"/>
                </a:lnTo>
                <a:lnTo>
                  <a:pt x="7062" y="211016"/>
                </a:lnTo>
                <a:lnTo>
                  <a:pt x="14955" y="215510"/>
                </a:lnTo>
                <a:lnTo>
                  <a:pt x="54238" y="229435"/>
                </a:lnTo>
                <a:lnTo>
                  <a:pt x="105171" y="237111"/>
                </a:lnTo>
                <a:lnTo>
                  <a:pt x="133349" y="238124"/>
                </a:lnTo>
                <a:lnTo>
                  <a:pt x="266699" y="238124"/>
                </a:lnTo>
                <a:lnTo>
                  <a:pt x="266699" y="257174"/>
                </a:lnTo>
                <a:lnTo>
                  <a:pt x="256219" y="275717"/>
                </a:lnTo>
                <a:lnTo>
                  <a:pt x="227640" y="290854"/>
                </a:lnTo>
                <a:lnTo>
                  <a:pt x="185252" y="301058"/>
                </a:lnTo>
                <a:lnTo>
                  <a:pt x="133349" y="304799"/>
                </a:lnTo>
                <a:close/>
              </a:path>
              <a:path w="266700" h="304800">
                <a:moveTo>
                  <a:pt x="266699" y="238124"/>
                </a:moveTo>
                <a:lnTo>
                  <a:pt x="133349" y="238124"/>
                </a:lnTo>
                <a:lnTo>
                  <a:pt x="161528" y="237111"/>
                </a:lnTo>
                <a:lnTo>
                  <a:pt x="188088" y="234166"/>
                </a:lnTo>
                <a:lnTo>
                  <a:pt x="234076" y="223063"/>
                </a:lnTo>
                <a:lnTo>
                  <a:pt x="266699" y="206037"/>
                </a:lnTo>
                <a:lnTo>
                  <a:pt x="266699" y="238124"/>
                </a:lnTo>
                <a:close/>
              </a:path>
            </a:pathLst>
          </a:custGeom>
          <a:solidFill>
            <a:srgbClr val="4A8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9242428" y="586441"/>
            <a:ext cx="857250" cy="266700"/>
            <a:chOff x="9467849" y="981075"/>
            <a:chExt cx="857250" cy="266700"/>
          </a:xfrm>
        </p:grpSpPr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67849" y="1041796"/>
              <a:ext cx="167840" cy="14525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0020299" y="981075"/>
              <a:ext cx="304800" cy="266700"/>
            </a:xfrm>
            <a:custGeom>
              <a:avLst/>
              <a:gdLst/>
              <a:ahLst/>
              <a:cxnLst/>
              <a:rect l="l" t="t" r="r" b="b"/>
              <a:pathLst>
                <a:path w="304800" h="266700">
                  <a:moveTo>
                    <a:pt x="285749" y="266699"/>
                  </a:moveTo>
                  <a:lnTo>
                    <a:pt x="47624" y="266699"/>
                  </a:lnTo>
                  <a:lnTo>
                    <a:pt x="29082" y="262958"/>
                  </a:lnTo>
                  <a:lnTo>
                    <a:pt x="13945" y="252754"/>
                  </a:lnTo>
                  <a:lnTo>
                    <a:pt x="3741" y="237617"/>
                  </a:lnTo>
                  <a:lnTo>
                    <a:pt x="0" y="219074"/>
                  </a:lnTo>
                  <a:lnTo>
                    <a:pt x="0" y="19049"/>
                  </a:lnTo>
                  <a:lnTo>
                    <a:pt x="1494" y="11628"/>
                  </a:lnTo>
                  <a:lnTo>
                    <a:pt x="5573" y="5573"/>
                  </a:lnTo>
                  <a:lnTo>
                    <a:pt x="11628" y="1494"/>
                  </a:lnTo>
                  <a:lnTo>
                    <a:pt x="19049" y="0"/>
                  </a:lnTo>
                  <a:lnTo>
                    <a:pt x="26471" y="1494"/>
                  </a:lnTo>
                  <a:lnTo>
                    <a:pt x="32526" y="5573"/>
                  </a:lnTo>
                  <a:lnTo>
                    <a:pt x="36605" y="11628"/>
                  </a:lnTo>
                  <a:lnTo>
                    <a:pt x="38099" y="19049"/>
                  </a:lnTo>
                  <a:lnTo>
                    <a:pt x="38099" y="224313"/>
                  </a:lnTo>
                  <a:lnTo>
                    <a:pt x="42386" y="228599"/>
                  </a:lnTo>
                  <a:lnTo>
                    <a:pt x="285749" y="228599"/>
                  </a:lnTo>
                  <a:lnTo>
                    <a:pt x="293171" y="230094"/>
                  </a:lnTo>
                  <a:lnTo>
                    <a:pt x="299226" y="234173"/>
                  </a:lnTo>
                  <a:lnTo>
                    <a:pt x="303305" y="240228"/>
                  </a:lnTo>
                  <a:lnTo>
                    <a:pt x="304799" y="247649"/>
                  </a:lnTo>
                  <a:lnTo>
                    <a:pt x="303305" y="255071"/>
                  </a:lnTo>
                  <a:lnTo>
                    <a:pt x="299226" y="261126"/>
                  </a:lnTo>
                  <a:lnTo>
                    <a:pt x="293171" y="265205"/>
                  </a:lnTo>
                  <a:lnTo>
                    <a:pt x="285749" y="266699"/>
                  </a:lnTo>
                  <a:close/>
                </a:path>
                <a:path w="304800" h="266700">
                  <a:moveTo>
                    <a:pt x="209549" y="76199"/>
                  </a:moveTo>
                  <a:lnTo>
                    <a:pt x="95249" y="76199"/>
                  </a:lnTo>
                  <a:lnTo>
                    <a:pt x="87828" y="74705"/>
                  </a:lnTo>
                  <a:lnTo>
                    <a:pt x="81773" y="70626"/>
                  </a:lnTo>
                  <a:lnTo>
                    <a:pt x="77694" y="64571"/>
                  </a:lnTo>
                  <a:lnTo>
                    <a:pt x="76199" y="57149"/>
                  </a:lnTo>
                  <a:lnTo>
                    <a:pt x="77694" y="49728"/>
                  </a:lnTo>
                  <a:lnTo>
                    <a:pt x="81773" y="43673"/>
                  </a:lnTo>
                  <a:lnTo>
                    <a:pt x="87828" y="39594"/>
                  </a:lnTo>
                  <a:lnTo>
                    <a:pt x="95249" y="38099"/>
                  </a:lnTo>
                  <a:lnTo>
                    <a:pt x="209549" y="38099"/>
                  </a:lnTo>
                  <a:lnTo>
                    <a:pt x="216971" y="39594"/>
                  </a:lnTo>
                  <a:lnTo>
                    <a:pt x="223026" y="43673"/>
                  </a:lnTo>
                  <a:lnTo>
                    <a:pt x="227105" y="49728"/>
                  </a:lnTo>
                  <a:lnTo>
                    <a:pt x="228599" y="57149"/>
                  </a:lnTo>
                  <a:lnTo>
                    <a:pt x="227105" y="64571"/>
                  </a:lnTo>
                  <a:lnTo>
                    <a:pt x="223026" y="70626"/>
                  </a:lnTo>
                  <a:lnTo>
                    <a:pt x="216971" y="74705"/>
                  </a:lnTo>
                  <a:lnTo>
                    <a:pt x="209549" y="76199"/>
                  </a:lnTo>
                  <a:close/>
                </a:path>
                <a:path w="304800" h="266700">
                  <a:moveTo>
                    <a:pt x="171449" y="133349"/>
                  </a:moveTo>
                  <a:lnTo>
                    <a:pt x="95249" y="133349"/>
                  </a:lnTo>
                  <a:lnTo>
                    <a:pt x="87828" y="131855"/>
                  </a:lnTo>
                  <a:lnTo>
                    <a:pt x="81773" y="127776"/>
                  </a:lnTo>
                  <a:lnTo>
                    <a:pt x="77694" y="121721"/>
                  </a:lnTo>
                  <a:lnTo>
                    <a:pt x="76199" y="114299"/>
                  </a:lnTo>
                  <a:lnTo>
                    <a:pt x="77694" y="106878"/>
                  </a:lnTo>
                  <a:lnTo>
                    <a:pt x="81773" y="100823"/>
                  </a:lnTo>
                  <a:lnTo>
                    <a:pt x="87828" y="96744"/>
                  </a:lnTo>
                  <a:lnTo>
                    <a:pt x="95249" y="95249"/>
                  </a:lnTo>
                  <a:lnTo>
                    <a:pt x="171449" y="95249"/>
                  </a:lnTo>
                  <a:lnTo>
                    <a:pt x="178871" y="96744"/>
                  </a:lnTo>
                  <a:lnTo>
                    <a:pt x="184926" y="100823"/>
                  </a:lnTo>
                  <a:lnTo>
                    <a:pt x="189005" y="106878"/>
                  </a:lnTo>
                  <a:lnTo>
                    <a:pt x="190499" y="114299"/>
                  </a:lnTo>
                  <a:lnTo>
                    <a:pt x="189005" y="121721"/>
                  </a:lnTo>
                  <a:lnTo>
                    <a:pt x="184926" y="127776"/>
                  </a:lnTo>
                  <a:lnTo>
                    <a:pt x="178871" y="131855"/>
                  </a:lnTo>
                  <a:lnTo>
                    <a:pt x="171449" y="133349"/>
                  </a:lnTo>
                  <a:close/>
                </a:path>
                <a:path w="304800" h="266700">
                  <a:moveTo>
                    <a:pt x="247649" y="190499"/>
                  </a:moveTo>
                  <a:lnTo>
                    <a:pt x="95249" y="190499"/>
                  </a:lnTo>
                  <a:lnTo>
                    <a:pt x="87828" y="189005"/>
                  </a:lnTo>
                  <a:lnTo>
                    <a:pt x="81773" y="184926"/>
                  </a:lnTo>
                  <a:lnTo>
                    <a:pt x="77694" y="178871"/>
                  </a:lnTo>
                  <a:lnTo>
                    <a:pt x="76199" y="171449"/>
                  </a:lnTo>
                  <a:lnTo>
                    <a:pt x="77694" y="164028"/>
                  </a:lnTo>
                  <a:lnTo>
                    <a:pt x="81773" y="157973"/>
                  </a:lnTo>
                  <a:lnTo>
                    <a:pt x="87828" y="153894"/>
                  </a:lnTo>
                  <a:lnTo>
                    <a:pt x="95249" y="152399"/>
                  </a:lnTo>
                  <a:lnTo>
                    <a:pt x="247649" y="152399"/>
                  </a:lnTo>
                  <a:lnTo>
                    <a:pt x="255071" y="153894"/>
                  </a:lnTo>
                  <a:lnTo>
                    <a:pt x="261126" y="157973"/>
                  </a:lnTo>
                  <a:lnTo>
                    <a:pt x="265205" y="164028"/>
                  </a:lnTo>
                  <a:lnTo>
                    <a:pt x="266699" y="171449"/>
                  </a:lnTo>
                  <a:lnTo>
                    <a:pt x="265205" y="178871"/>
                  </a:lnTo>
                  <a:lnTo>
                    <a:pt x="261126" y="184926"/>
                  </a:lnTo>
                  <a:lnTo>
                    <a:pt x="255071" y="189005"/>
                  </a:lnTo>
                  <a:lnTo>
                    <a:pt x="247649" y="190499"/>
                  </a:lnTo>
                  <a:close/>
                </a:path>
              </a:pathLst>
            </a:custGeom>
            <a:solidFill>
              <a:srgbClr val="4A8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696200" y="1337366"/>
            <a:ext cx="198119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0795" algn="ctr">
              <a:lnSpc>
                <a:spcPct val="100000"/>
              </a:lnSpc>
              <a:spcBef>
                <a:spcPts val="100"/>
              </a:spcBef>
            </a:pPr>
            <a:r>
              <a:rPr lang="en-IN" sz="1800" b="1" spc="305" dirty="0">
                <a:solidFill>
                  <a:srgbClr val="4A8FE2"/>
                </a:solidFill>
                <a:latin typeface="Calibri"/>
                <a:cs typeface="Calibri"/>
              </a:rPr>
              <a:t>PROJECT</a:t>
            </a:r>
            <a:r>
              <a:rPr lang="en-IN" sz="1800" b="1" spc="120" dirty="0">
                <a:solidFill>
                  <a:srgbClr val="4A8FE2"/>
                </a:solidFill>
                <a:latin typeface="Calibri"/>
                <a:cs typeface="Calibri"/>
              </a:rPr>
              <a:t> </a:t>
            </a:r>
            <a:r>
              <a:rPr lang="en-IN" sz="1800" b="1" spc="305" dirty="0">
                <a:solidFill>
                  <a:srgbClr val="4A8FE2"/>
                </a:solidFill>
                <a:latin typeface="Calibri"/>
                <a:cs typeface="Calibri"/>
              </a:rPr>
              <a:t>FLOW</a:t>
            </a:r>
            <a:endParaRPr lang="en-IN" sz="1800" dirty="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235431" y="3192015"/>
            <a:ext cx="2800350" cy="914400"/>
            <a:chOff x="6095999" y="3171824"/>
            <a:chExt cx="2800350" cy="914400"/>
          </a:xfrm>
        </p:grpSpPr>
        <p:sp>
          <p:nvSpPr>
            <p:cNvPr id="29" name="object 29"/>
            <p:cNvSpPr/>
            <p:nvPr/>
          </p:nvSpPr>
          <p:spPr>
            <a:xfrm>
              <a:off x="6095999" y="3171824"/>
              <a:ext cx="2800350" cy="914400"/>
            </a:xfrm>
            <a:custGeom>
              <a:avLst/>
              <a:gdLst/>
              <a:ahLst/>
              <a:cxnLst/>
              <a:rect l="l" t="t" r="r" b="b"/>
              <a:pathLst>
                <a:path w="2800350" h="914400">
                  <a:moveTo>
                    <a:pt x="2800349" y="914399"/>
                  </a:moveTo>
                  <a:lnTo>
                    <a:pt x="0" y="914399"/>
                  </a:lnTo>
                  <a:lnTo>
                    <a:pt x="0" y="0"/>
                  </a:lnTo>
                  <a:lnTo>
                    <a:pt x="2800349" y="0"/>
                  </a:lnTo>
                  <a:lnTo>
                    <a:pt x="2800349" y="914399"/>
                  </a:lnTo>
                  <a:close/>
                </a:path>
              </a:pathLst>
            </a:custGeom>
            <a:solidFill>
              <a:srgbClr val="E3F1FD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095999" y="3171824"/>
              <a:ext cx="28575" cy="914400"/>
            </a:xfrm>
            <a:custGeom>
              <a:avLst/>
              <a:gdLst/>
              <a:ahLst/>
              <a:cxnLst/>
              <a:rect l="l" t="t" r="r" b="b"/>
              <a:pathLst>
                <a:path w="28575" h="914400">
                  <a:moveTo>
                    <a:pt x="28574" y="914399"/>
                  </a:moveTo>
                  <a:lnTo>
                    <a:pt x="0" y="9143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914399"/>
                  </a:lnTo>
                  <a:close/>
                </a:path>
              </a:pathLst>
            </a:custGeom>
            <a:solidFill>
              <a:srgbClr val="4A8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38874" y="3328987"/>
              <a:ext cx="214312" cy="142874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6264006" y="3295148"/>
            <a:ext cx="2771775" cy="6889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42595">
              <a:lnSpc>
                <a:spcPct val="100000"/>
              </a:lnSpc>
              <a:spcBef>
                <a:spcPts val="135"/>
              </a:spcBef>
            </a:pPr>
            <a:r>
              <a:rPr sz="1300" spc="-50" dirty="0">
                <a:solidFill>
                  <a:srgbClr val="0052CC"/>
                </a:solidFill>
                <a:latin typeface="Arial"/>
                <a:cs typeface="Arial"/>
              </a:rPr>
              <a:t>Ticket</a:t>
            </a:r>
            <a:r>
              <a:rPr sz="1300" spc="-7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0052CC"/>
                </a:solidFill>
                <a:latin typeface="Arial"/>
                <a:cs typeface="Arial"/>
              </a:rPr>
              <a:t>Trends</a:t>
            </a:r>
            <a:endParaRPr sz="1300">
              <a:latin typeface="Arial"/>
              <a:cs typeface="Arial"/>
            </a:endParaRPr>
          </a:p>
          <a:p>
            <a:pPr marL="114300" marR="357505">
              <a:lnSpc>
                <a:spcPct val="119000"/>
              </a:lnSpc>
              <a:spcBef>
                <a:spcPts val="625"/>
              </a:spcBef>
            </a:pPr>
            <a:r>
              <a:rPr sz="1050" spc="-20" dirty="0">
                <a:solidFill>
                  <a:srgbClr val="0052CC"/>
                </a:solidFill>
                <a:latin typeface="Lato"/>
                <a:cs typeface="Lato"/>
              </a:rPr>
              <a:t>Volume</a:t>
            </a:r>
            <a:r>
              <a:rPr sz="1050" spc="-4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dirty="0">
                <a:solidFill>
                  <a:srgbClr val="0052CC"/>
                </a:solidFill>
                <a:latin typeface="Lato"/>
                <a:cs typeface="Lato"/>
              </a:rPr>
              <a:t>analysis,</a:t>
            </a:r>
            <a:r>
              <a:rPr sz="1050" spc="-4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dirty="0">
                <a:solidFill>
                  <a:srgbClr val="0052CC"/>
                </a:solidFill>
                <a:latin typeface="Lato"/>
                <a:cs typeface="Lato"/>
              </a:rPr>
              <a:t>category</a:t>
            </a:r>
            <a:r>
              <a:rPr sz="1050" spc="-4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dirty="0">
                <a:solidFill>
                  <a:srgbClr val="0052CC"/>
                </a:solidFill>
                <a:latin typeface="Lato"/>
                <a:cs typeface="Lato"/>
              </a:rPr>
              <a:t>patterns,</a:t>
            </a:r>
            <a:r>
              <a:rPr sz="1050" spc="-4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spc="-25" dirty="0">
                <a:solidFill>
                  <a:srgbClr val="0052CC"/>
                </a:solidFill>
                <a:latin typeface="Lato"/>
                <a:cs typeface="Lato"/>
              </a:rPr>
              <a:t>and </a:t>
            </a:r>
            <a:r>
              <a:rPr sz="1050" spc="-10" dirty="0">
                <a:solidFill>
                  <a:srgbClr val="0052CC"/>
                </a:solidFill>
                <a:latin typeface="Lato"/>
                <a:cs typeface="Lato"/>
              </a:rPr>
              <a:t>growth</a:t>
            </a:r>
            <a:r>
              <a:rPr sz="1050" spc="-2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dirty="0">
                <a:solidFill>
                  <a:srgbClr val="0052CC"/>
                </a:solidFill>
                <a:latin typeface="Lato"/>
                <a:cs typeface="Lato"/>
              </a:rPr>
              <a:t>trajectory</a:t>
            </a:r>
            <a:r>
              <a:rPr sz="1050" spc="-2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dirty="0">
                <a:solidFill>
                  <a:srgbClr val="0052CC"/>
                </a:solidFill>
                <a:latin typeface="Lato"/>
                <a:cs typeface="Lato"/>
              </a:rPr>
              <a:t>across</a:t>
            </a:r>
            <a:r>
              <a:rPr sz="1050" spc="-2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spc="-10" dirty="0">
                <a:solidFill>
                  <a:srgbClr val="0052CC"/>
                </a:solidFill>
                <a:latin typeface="Lato"/>
                <a:cs typeface="Lato"/>
              </a:rPr>
              <a:t>years</a:t>
            </a:r>
            <a:endParaRPr sz="1050">
              <a:latin typeface="Lato"/>
              <a:cs typeface="Lato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9150081" y="3192015"/>
            <a:ext cx="2800350" cy="914400"/>
            <a:chOff x="9010649" y="3171824"/>
            <a:chExt cx="2800350" cy="914400"/>
          </a:xfrm>
        </p:grpSpPr>
        <p:sp>
          <p:nvSpPr>
            <p:cNvPr id="34" name="object 34"/>
            <p:cNvSpPr/>
            <p:nvPr/>
          </p:nvSpPr>
          <p:spPr>
            <a:xfrm>
              <a:off x="9010649" y="3171824"/>
              <a:ext cx="2800350" cy="914400"/>
            </a:xfrm>
            <a:custGeom>
              <a:avLst/>
              <a:gdLst/>
              <a:ahLst/>
              <a:cxnLst/>
              <a:rect l="l" t="t" r="r" b="b"/>
              <a:pathLst>
                <a:path w="2800350" h="914400">
                  <a:moveTo>
                    <a:pt x="2800349" y="914399"/>
                  </a:moveTo>
                  <a:lnTo>
                    <a:pt x="0" y="914399"/>
                  </a:lnTo>
                  <a:lnTo>
                    <a:pt x="0" y="0"/>
                  </a:lnTo>
                  <a:lnTo>
                    <a:pt x="2800349" y="0"/>
                  </a:lnTo>
                  <a:lnTo>
                    <a:pt x="2800349" y="914399"/>
                  </a:lnTo>
                  <a:close/>
                </a:path>
              </a:pathLst>
            </a:custGeom>
            <a:solidFill>
              <a:srgbClr val="E3F1FD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010649" y="3171824"/>
              <a:ext cx="28575" cy="914400"/>
            </a:xfrm>
            <a:custGeom>
              <a:avLst/>
              <a:gdLst/>
              <a:ahLst/>
              <a:cxnLst/>
              <a:rect l="l" t="t" r="r" b="b"/>
              <a:pathLst>
                <a:path w="28575" h="914400">
                  <a:moveTo>
                    <a:pt x="28574" y="914399"/>
                  </a:moveTo>
                  <a:lnTo>
                    <a:pt x="0" y="9143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914399"/>
                  </a:lnTo>
                  <a:close/>
                </a:path>
              </a:pathLst>
            </a:custGeom>
            <a:solidFill>
              <a:srgbClr val="4A8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53524" y="3305174"/>
              <a:ext cx="190499" cy="190499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9178656" y="3295148"/>
            <a:ext cx="2771775" cy="6889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19100">
              <a:lnSpc>
                <a:spcPct val="100000"/>
              </a:lnSpc>
              <a:spcBef>
                <a:spcPts val="135"/>
              </a:spcBef>
            </a:pPr>
            <a:r>
              <a:rPr sz="1300" spc="-55" dirty="0">
                <a:solidFill>
                  <a:srgbClr val="0052CC"/>
                </a:solidFill>
                <a:latin typeface="Arial"/>
                <a:cs typeface="Arial"/>
              </a:rPr>
              <a:t>Resolution</a:t>
            </a:r>
            <a:r>
              <a:rPr sz="1300" spc="-8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0052CC"/>
                </a:solidFill>
                <a:latin typeface="Arial"/>
                <a:cs typeface="Arial"/>
              </a:rPr>
              <a:t>Metrics</a:t>
            </a:r>
            <a:endParaRPr sz="1300">
              <a:latin typeface="Arial"/>
              <a:cs typeface="Arial"/>
            </a:endParaRPr>
          </a:p>
          <a:p>
            <a:pPr marL="114300" marR="177800">
              <a:lnSpc>
                <a:spcPct val="119000"/>
              </a:lnSpc>
              <a:spcBef>
                <a:spcPts val="625"/>
              </a:spcBef>
            </a:pPr>
            <a:r>
              <a:rPr sz="1050" dirty="0">
                <a:solidFill>
                  <a:srgbClr val="0052CC"/>
                </a:solidFill>
                <a:latin typeface="Lato"/>
                <a:cs typeface="Lato"/>
              </a:rPr>
              <a:t>Time</a:t>
            </a:r>
            <a:r>
              <a:rPr sz="105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spc="-10" dirty="0">
                <a:solidFill>
                  <a:srgbClr val="0052CC"/>
                </a:solidFill>
                <a:latin typeface="Lato"/>
                <a:cs typeface="Lato"/>
              </a:rPr>
              <a:t>to</a:t>
            </a:r>
            <a:r>
              <a:rPr sz="1050" spc="-4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dirty="0">
                <a:solidFill>
                  <a:srgbClr val="0052CC"/>
                </a:solidFill>
                <a:latin typeface="Lato"/>
                <a:cs typeface="Lato"/>
              </a:rPr>
              <a:t>resolution,</a:t>
            </a:r>
            <a:r>
              <a:rPr sz="1050" spc="-4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spc="-10" dirty="0">
                <a:solidFill>
                  <a:srgbClr val="0052CC"/>
                </a:solidFill>
                <a:latin typeface="Lato"/>
                <a:cs typeface="Lato"/>
              </a:rPr>
              <a:t>efficiency</a:t>
            </a:r>
            <a:r>
              <a:rPr sz="1050" spc="-4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dirty="0">
                <a:solidFill>
                  <a:srgbClr val="0052CC"/>
                </a:solidFill>
                <a:latin typeface="Lato"/>
                <a:cs typeface="Lato"/>
              </a:rPr>
              <a:t>patterns,</a:t>
            </a:r>
            <a:r>
              <a:rPr sz="1050" spc="-4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spc="-25" dirty="0">
                <a:solidFill>
                  <a:srgbClr val="0052CC"/>
                </a:solidFill>
                <a:latin typeface="Lato"/>
                <a:cs typeface="Lato"/>
              </a:rPr>
              <a:t>and </a:t>
            </a:r>
            <a:r>
              <a:rPr sz="1050" dirty="0">
                <a:solidFill>
                  <a:srgbClr val="0052CC"/>
                </a:solidFill>
                <a:latin typeface="Lato"/>
                <a:cs typeface="Lato"/>
              </a:rPr>
              <a:t>impact</a:t>
            </a:r>
            <a:r>
              <a:rPr sz="1050" spc="-6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spc="-20" dirty="0">
                <a:solidFill>
                  <a:srgbClr val="0052CC"/>
                </a:solidFill>
                <a:latin typeface="Lato"/>
                <a:cs typeface="Lato"/>
              </a:rPr>
              <a:t>on</a:t>
            </a:r>
            <a:r>
              <a:rPr sz="1050" spc="-6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spc="-10" dirty="0">
                <a:solidFill>
                  <a:srgbClr val="0052CC"/>
                </a:solidFill>
                <a:latin typeface="Lato"/>
                <a:cs typeface="Lato"/>
              </a:rPr>
              <a:t>satisfaction</a:t>
            </a:r>
            <a:endParaRPr sz="1050">
              <a:latin typeface="Lato"/>
              <a:cs typeface="Lato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235431" y="4335015"/>
            <a:ext cx="2800350" cy="914400"/>
            <a:chOff x="6095999" y="4314824"/>
            <a:chExt cx="2800350" cy="914400"/>
          </a:xfrm>
        </p:grpSpPr>
        <p:sp>
          <p:nvSpPr>
            <p:cNvPr id="39" name="object 39"/>
            <p:cNvSpPr/>
            <p:nvPr/>
          </p:nvSpPr>
          <p:spPr>
            <a:xfrm>
              <a:off x="6095999" y="4314824"/>
              <a:ext cx="2800350" cy="914400"/>
            </a:xfrm>
            <a:custGeom>
              <a:avLst/>
              <a:gdLst/>
              <a:ahLst/>
              <a:cxnLst/>
              <a:rect l="l" t="t" r="r" b="b"/>
              <a:pathLst>
                <a:path w="2800350" h="914400">
                  <a:moveTo>
                    <a:pt x="2800349" y="914399"/>
                  </a:moveTo>
                  <a:lnTo>
                    <a:pt x="0" y="914399"/>
                  </a:lnTo>
                  <a:lnTo>
                    <a:pt x="0" y="0"/>
                  </a:lnTo>
                  <a:lnTo>
                    <a:pt x="2800349" y="0"/>
                  </a:lnTo>
                  <a:lnTo>
                    <a:pt x="2800349" y="914399"/>
                  </a:lnTo>
                  <a:close/>
                </a:path>
              </a:pathLst>
            </a:custGeom>
            <a:solidFill>
              <a:srgbClr val="E3F1FD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095999" y="4314824"/>
              <a:ext cx="28575" cy="914400"/>
            </a:xfrm>
            <a:custGeom>
              <a:avLst/>
              <a:gdLst/>
              <a:ahLst/>
              <a:cxnLst/>
              <a:rect l="l" t="t" r="r" b="b"/>
              <a:pathLst>
                <a:path w="28575" h="914400">
                  <a:moveTo>
                    <a:pt x="28574" y="914399"/>
                  </a:moveTo>
                  <a:lnTo>
                    <a:pt x="0" y="9143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914399"/>
                  </a:lnTo>
                  <a:close/>
                </a:path>
              </a:pathLst>
            </a:custGeom>
            <a:solidFill>
              <a:srgbClr val="4A8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38874" y="4448174"/>
              <a:ext cx="166687" cy="190499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6264006" y="4438148"/>
            <a:ext cx="2771775" cy="6889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94970">
              <a:lnSpc>
                <a:spcPct val="100000"/>
              </a:lnSpc>
              <a:spcBef>
                <a:spcPts val="135"/>
              </a:spcBef>
            </a:pPr>
            <a:r>
              <a:rPr sz="1300" spc="-55" dirty="0">
                <a:solidFill>
                  <a:srgbClr val="0052CC"/>
                </a:solidFill>
                <a:latin typeface="Arial"/>
                <a:cs typeface="Arial"/>
              </a:rPr>
              <a:t>Agent</a:t>
            </a:r>
            <a:r>
              <a:rPr sz="1300" spc="-9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0052CC"/>
                </a:solidFill>
                <a:latin typeface="Arial"/>
                <a:cs typeface="Arial"/>
              </a:rPr>
              <a:t>Performance</a:t>
            </a:r>
            <a:endParaRPr sz="1300">
              <a:latin typeface="Arial"/>
              <a:cs typeface="Arial"/>
            </a:endParaRPr>
          </a:p>
          <a:p>
            <a:pPr marL="114300" marR="462280">
              <a:lnSpc>
                <a:spcPct val="119000"/>
              </a:lnSpc>
              <a:spcBef>
                <a:spcPts val="625"/>
              </a:spcBef>
            </a:pPr>
            <a:r>
              <a:rPr sz="1050" dirty="0">
                <a:solidFill>
                  <a:srgbClr val="0052CC"/>
                </a:solidFill>
                <a:latin typeface="Lato"/>
                <a:cs typeface="Lato"/>
              </a:rPr>
              <a:t>Individual</a:t>
            </a:r>
            <a:r>
              <a:rPr sz="1050" spc="1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spc="-10" dirty="0">
                <a:solidFill>
                  <a:srgbClr val="0052CC"/>
                </a:solidFill>
                <a:latin typeface="Lato"/>
                <a:cs typeface="Lato"/>
              </a:rPr>
              <a:t>effectiveness,</a:t>
            </a:r>
            <a:r>
              <a:rPr sz="1050" spc="1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spc="-10" dirty="0">
                <a:solidFill>
                  <a:srgbClr val="0052CC"/>
                </a:solidFill>
                <a:latin typeface="Lato"/>
                <a:cs typeface="Lato"/>
              </a:rPr>
              <a:t>demographic </a:t>
            </a:r>
            <a:r>
              <a:rPr sz="1050" dirty="0">
                <a:solidFill>
                  <a:srgbClr val="0052CC"/>
                </a:solidFill>
                <a:latin typeface="Lato"/>
                <a:cs typeface="Lato"/>
              </a:rPr>
              <a:t>patterns,</a:t>
            </a:r>
            <a:r>
              <a:rPr sz="105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spc="-10" dirty="0">
                <a:solidFill>
                  <a:srgbClr val="0052CC"/>
                </a:solidFill>
                <a:latin typeface="Lato"/>
                <a:cs typeface="Lato"/>
              </a:rPr>
              <a:t>and</a:t>
            </a:r>
            <a:r>
              <a:rPr sz="105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dirty="0">
                <a:solidFill>
                  <a:srgbClr val="0052CC"/>
                </a:solidFill>
                <a:latin typeface="Lato"/>
                <a:cs typeface="Lato"/>
              </a:rPr>
              <a:t>best</a:t>
            </a:r>
            <a:r>
              <a:rPr sz="105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spc="-10" dirty="0">
                <a:solidFill>
                  <a:srgbClr val="0052CC"/>
                </a:solidFill>
                <a:latin typeface="Lato"/>
                <a:cs typeface="Lato"/>
              </a:rPr>
              <a:t>practices</a:t>
            </a:r>
            <a:endParaRPr sz="1050">
              <a:latin typeface="Lato"/>
              <a:cs typeface="Lato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9150081" y="4335015"/>
            <a:ext cx="2800350" cy="914400"/>
            <a:chOff x="9010649" y="4314824"/>
            <a:chExt cx="2800350" cy="914400"/>
          </a:xfrm>
        </p:grpSpPr>
        <p:sp>
          <p:nvSpPr>
            <p:cNvPr id="44" name="object 44"/>
            <p:cNvSpPr/>
            <p:nvPr/>
          </p:nvSpPr>
          <p:spPr>
            <a:xfrm>
              <a:off x="9010649" y="4314824"/>
              <a:ext cx="2800350" cy="914400"/>
            </a:xfrm>
            <a:custGeom>
              <a:avLst/>
              <a:gdLst/>
              <a:ahLst/>
              <a:cxnLst/>
              <a:rect l="l" t="t" r="r" b="b"/>
              <a:pathLst>
                <a:path w="2800350" h="914400">
                  <a:moveTo>
                    <a:pt x="2800349" y="914399"/>
                  </a:moveTo>
                  <a:lnTo>
                    <a:pt x="0" y="914399"/>
                  </a:lnTo>
                  <a:lnTo>
                    <a:pt x="0" y="0"/>
                  </a:lnTo>
                  <a:lnTo>
                    <a:pt x="2800349" y="0"/>
                  </a:lnTo>
                  <a:lnTo>
                    <a:pt x="2800349" y="914399"/>
                  </a:lnTo>
                  <a:close/>
                </a:path>
              </a:pathLst>
            </a:custGeom>
            <a:solidFill>
              <a:srgbClr val="E3F1FD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010649" y="4314824"/>
              <a:ext cx="28575" cy="914400"/>
            </a:xfrm>
            <a:custGeom>
              <a:avLst/>
              <a:gdLst/>
              <a:ahLst/>
              <a:cxnLst/>
              <a:rect l="l" t="t" r="r" b="b"/>
              <a:pathLst>
                <a:path w="28575" h="914400">
                  <a:moveTo>
                    <a:pt x="28574" y="914399"/>
                  </a:moveTo>
                  <a:lnTo>
                    <a:pt x="0" y="9143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914399"/>
                  </a:lnTo>
                  <a:close/>
                </a:path>
              </a:pathLst>
            </a:custGeom>
            <a:solidFill>
              <a:srgbClr val="4A8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53524" y="4448174"/>
              <a:ext cx="190499" cy="190499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9178656" y="4438148"/>
            <a:ext cx="2771775" cy="6889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19100">
              <a:lnSpc>
                <a:spcPct val="100000"/>
              </a:lnSpc>
              <a:spcBef>
                <a:spcPts val="135"/>
              </a:spcBef>
            </a:pPr>
            <a:r>
              <a:rPr sz="1300" spc="-55" dirty="0">
                <a:solidFill>
                  <a:srgbClr val="0052CC"/>
                </a:solidFill>
                <a:latin typeface="Arial"/>
                <a:cs typeface="Arial"/>
              </a:rPr>
              <a:t>Investment</a:t>
            </a:r>
            <a:r>
              <a:rPr sz="1300" spc="-4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25" dirty="0">
                <a:solidFill>
                  <a:srgbClr val="0052CC"/>
                </a:solidFill>
                <a:latin typeface="Arial"/>
                <a:cs typeface="Arial"/>
              </a:rPr>
              <a:t>ROI</a:t>
            </a:r>
            <a:endParaRPr sz="1300">
              <a:latin typeface="Arial"/>
              <a:cs typeface="Arial"/>
            </a:endParaRPr>
          </a:p>
          <a:p>
            <a:pPr marL="114300" marR="129539">
              <a:lnSpc>
                <a:spcPct val="119000"/>
              </a:lnSpc>
              <a:spcBef>
                <a:spcPts val="625"/>
              </a:spcBef>
            </a:pPr>
            <a:r>
              <a:rPr sz="1050" spc="-10" dirty="0">
                <a:solidFill>
                  <a:srgbClr val="0052CC"/>
                </a:solidFill>
                <a:latin typeface="Lato"/>
                <a:cs typeface="Lato"/>
              </a:rPr>
              <a:t>Data-</a:t>
            </a:r>
            <a:r>
              <a:rPr sz="1050" dirty="0">
                <a:solidFill>
                  <a:srgbClr val="0052CC"/>
                </a:solidFill>
                <a:latin typeface="Lato"/>
                <a:cs typeface="Lato"/>
              </a:rPr>
              <a:t>driven</a:t>
            </a:r>
            <a:r>
              <a:rPr sz="1050" spc="3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spc="-10" dirty="0">
                <a:solidFill>
                  <a:srgbClr val="0052CC"/>
                </a:solidFill>
                <a:latin typeface="Lato"/>
                <a:cs typeface="Lato"/>
              </a:rPr>
              <a:t>recommendations</a:t>
            </a:r>
            <a:r>
              <a:rPr sz="1050" spc="3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spc="-25" dirty="0">
                <a:solidFill>
                  <a:srgbClr val="0052CC"/>
                </a:solidFill>
                <a:latin typeface="Lato"/>
                <a:cs typeface="Lato"/>
              </a:rPr>
              <a:t>for </a:t>
            </a:r>
            <a:r>
              <a:rPr sz="1050" spc="-10" dirty="0">
                <a:solidFill>
                  <a:srgbClr val="0052CC"/>
                </a:solidFill>
                <a:latin typeface="Lato"/>
                <a:cs typeface="Lato"/>
              </a:rPr>
              <a:t>maximum</a:t>
            </a:r>
            <a:r>
              <a:rPr sz="105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dirty="0">
                <a:solidFill>
                  <a:srgbClr val="0052CC"/>
                </a:solidFill>
                <a:latin typeface="Lato"/>
                <a:cs typeface="Lato"/>
              </a:rPr>
              <a:t>impact</a:t>
            </a:r>
            <a:r>
              <a:rPr sz="1050" spc="-4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spc="-10" dirty="0">
                <a:solidFill>
                  <a:srgbClr val="0052CC"/>
                </a:solidFill>
                <a:latin typeface="Lato"/>
                <a:cs typeface="Lato"/>
              </a:rPr>
              <a:t>and</a:t>
            </a:r>
            <a:r>
              <a:rPr sz="1050" spc="-4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dirty="0">
                <a:solidFill>
                  <a:srgbClr val="0052CC"/>
                </a:solidFill>
                <a:latin typeface="Lato"/>
                <a:cs typeface="Lato"/>
              </a:rPr>
              <a:t>operational</a:t>
            </a:r>
            <a:r>
              <a:rPr sz="105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spc="-10" dirty="0">
                <a:solidFill>
                  <a:srgbClr val="0052CC"/>
                </a:solidFill>
                <a:latin typeface="Lato"/>
                <a:cs typeface="Lato"/>
              </a:rPr>
              <a:t>efficiency</a:t>
            </a:r>
            <a:endParaRPr sz="1050">
              <a:latin typeface="Lato"/>
              <a:cs typeface="Lato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2045870" y="6648134"/>
            <a:ext cx="114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52CC"/>
                </a:solidFill>
                <a:latin typeface="Lato"/>
                <a:cs typeface="Lato"/>
              </a:rPr>
              <a:t>2</a:t>
            </a:r>
            <a:endParaRPr sz="1200" dirty="0">
              <a:latin typeface="Lato"/>
              <a:cs typeface="Lato"/>
            </a:endParaRPr>
          </a:p>
        </p:txBody>
      </p:sp>
      <p:sp>
        <p:nvSpPr>
          <p:cNvPr id="51" name="object 39">
            <a:extLst>
              <a:ext uri="{FF2B5EF4-FFF2-40B4-BE49-F238E27FC236}">
                <a16:creationId xmlns:a16="http://schemas.microsoft.com/office/drawing/2014/main" id="{17E428E8-7AF7-44F6-A716-3101DCF9C545}"/>
              </a:ext>
            </a:extLst>
          </p:cNvPr>
          <p:cNvSpPr/>
          <p:nvPr/>
        </p:nvSpPr>
        <p:spPr>
          <a:xfrm>
            <a:off x="9207189" y="0"/>
            <a:ext cx="2973070" cy="2496820"/>
          </a:xfrm>
          <a:custGeom>
            <a:avLst/>
            <a:gdLst/>
            <a:ahLst/>
            <a:cxnLst/>
            <a:rect l="l" t="t" r="r" b="b"/>
            <a:pathLst>
              <a:path w="2973070" h="2496820">
                <a:moveTo>
                  <a:pt x="2020557" y="2496807"/>
                </a:moveTo>
                <a:lnTo>
                  <a:pt x="0" y="476250"/>
                </a:lnTo>
                <a:lnTo>
                  <a:pt x="476250" y="0"/>
                </a:lnTo>
                <a:lnTo>
                  <a:pt x="2973057" y="0"/>
                </a:lnTo>
                <a:lnTo>
                  <a:pt x="2973057" y="1544307"/>
                </a:lnTo>
                <a:lnTo>
                  <a:pt x="2020557" y="2496807"/>
                </a:lnTo>
                <a:close/>
              </a:path>
            </a:pathLst>
          </a:custGeom>
          <a:solidFill>
            <a:srgbClr val="4A8FE2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39">
            <a:extLst>
              <a:ext uri="{FF2B5EF4-FFF2-40B4-BE49-F238E27FC236}">
                <a16:creationId xmlns:a16="http://schemas.microsoft.com/office/drawing/2014/main" id="{5C62355D-E43F-4149-BAAD-3B7CC29A6CF5}"/>
              </a:ext>
            </a:extLst>
          </p:cNvPr>
          <p:cNvSpPr/>
          <p:nvPr/>
        </p:nvSpPr>
        <p:spPr>
          <a:xfrm rot="10800000">
            <a:off x="0" y="4335015"/>
            <a:ext cx="2973070" cy="2496820"/>
          </a:xfrm>
          <a:custGeom>
            <a:avLst/>
            <a:gdLst/>
            <a:ahLst/>
            <a:cxnLst/>
            <a:rect l="l" t="t" r="r" b="b"/>
            <a:pathLst>
              <a:path w="2973070" h="2496820">
                <a:moveTo>
                  <a:pt x="2020557" y="2496807"/>
                </a:moveTo>
                <a:lnTo>
                  <a:pt x="0" y="476250"/>
                </a:lnTo>
                <a:lnTo>
                  <a:pt x="476250" y="0"/>
                </a:lnTo>
                <a:lnTo>
                  <a:pt x="2973057" y="0"/>
                </a:lnTo>
                <a:lnTo>
                  <a:pt x="2973057" y="1544307"/>
                </a:lnTo>
                <a:lnTo>
                  <a:pt x="2020557" y="2496807"/>
                </a:lnTo>
                <a:close/>
              </a:path>
            </a:pathLst>
          </a:custGeom>
          <a:solidFill>
            <a:srgbClr val="4A8FE2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sz="half" idx="2"/>
          </p:nvPr>
        </p:nvSpPr>
        <p:spPr>
          <a:xfrm>
            <a:off x="368298" y="1522913"/>
            <a:ext cx="5499101" cy="464422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452120">
              <a:lnSpc>
                <a:spcPct val="121800"/>
              </a:lnSpc>
              <a:spcBef>
                <a:spcPts val="165"/>
              </a:spcBef>
            </a:pPr>
            <a:r>
              <a:rPr sz="1300" b="0" spc="-40" dirty="0">
                <a:solidFill>
                  <a:srgbClr val="4A8FE2"/>
                </a:solidFill>
                <a:latin typeface="Arial"/>
                <a:cs typeface="Arial"/>
              </a:rPr>
              <a:t>Project</a:t>
            </a:r>
            <a:r>
              <a:rPr sz="1300" b="0" spc="-110" dirty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sz="1300" b="0" spc="-50" dirty="0">
                <a:solidFill>
                  <a:srgbClr val="4A8FE2"/>
                </a:solidFill>
                <a:latin typeface="Arial"/>
                <a:cs typeface="Arial"/>
              </a:rPr>
              <a:t>Context:</a:t>
            </a:r>
            <a:r>
              <a:rPr sz="1300" b="0" spc="-105" dirty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sz="1200" b="0" dirty="0">
                <a:solidFill>
                  <a:srgbClr val="0052CC"/>
                </a:solidFill>
                <a:latin typeface="Lato"/>
                <a:cs typeface="Lato"/>
              </a:rPr>
              <a:t>Analyzed</a:t>
            </a:r>
            <a:r>
              <a:rPr sz="1200" b="0" spc="-5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spc="-10" dirty="0">
                <a:solidFill>
                  <a:srgbClr val="0052CC"/>
                </a:solidFill>
                <a:latin typeface="Lato"/>
                <a:cs typeface="Lato"/>
              </a:rPr>
              <a:t>over</a:t>
            </a:r>
            <a:r>
              <a:rPr sz="1200" b="0" spc="-6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spc="-10" dirty="0">
                <a:solidFill>
                  <a:srgbClr val="0052CC"/>
                </a:solidFill>
                <a:latin typeface="Lato"/>
                <a:cs typeface="Lato"/>
              </a:rPr>
              <a:t>97,</a:t>
            </a:r>
            <a:r>
              <a:rPr lang="en-IN" sz="1200" b="0" spc="-10" dirty="0">
                <a:solidFill>
                  <a:srgbClr val="0052CC"/>
                </a:solidFill>
                <a:latin typeface="Lato"/>
                <a:cs typeface="Lato"/>
              </a:rPr>
              <a:t>000+</a:t>
            </a:r>
            <a:r>
              <a:rPr sz="1200" b="0" spc="-5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dirty="0">
                <a:solidFill>
                  <a:srgbClr val="0052CC"/>
                </a:solidFill>
                <a:latin typeface="Lato"/>
                <a:cs typeface="Lato"/>
              </a:rPr>
              <a:t>IT</a:t>
            </a:r>
            <a:r>
              <a:rPr sz="1200" b="0" spc="-5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spc="-10" dirty="0">
                <a:solidFill>
                  <a:srgbClr val="0052CC"/>
                </a:solidFill>
                <a:latin typeface="Lato"/>
                <a:cs typeface="Lato"/>
              </a:rPr>
              <a:t>tickets</a:t>
            </a:r>
            <a:r>
              <a:rPr sz="1200" b="0" spc="-6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dirty="0">
                <a:solidFill>
                  <a:srgbClr val="0052CC"/>
                </a:solidFill>
                <a:latin typeface="Lato"/>
                <a:cs typeface="Lato"/>
              </a:rPr>
              <a:t>across</a:t>
            </a:r>
            <a:r>
              <a:rPr sz="1200" b="0" spc="-5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spc="-10" dirty="0">
                <a:solidFill>
                  <a:srgbClr val="0052CC"/>
                </a:solidFill>
                <a:latin typeface="Lato"/>
                <a:cs typeface="Lato"/>
              </a:rPr>
              <a:t>5</a:t>
            </a:r>
            <a:r>
              <a:rPr sz="1200" b="0" spc="-5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dirty="0">
                <a:solidFill>
                  <a:srgbClr val="0052CC"/>
                </a:solidFill>
                <a:latin typeface="Lato"/>
                <a:cs typeface="Lato"/>
              </a:rPr>
              <a:t>years</a:t>
            </a:r>
            <a:r>
              <a:rPr sz="1200" b="0" spc="-5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dirty="0">
                <a:solidFill>
                  <a:srgbClr val="0052CC"/>
                </a:solidFill>
                <a:latin typeface="Lato"/>
                <a:cs typeface="Lato"/>
              </a:rPr>
              <a:t>to</a:t>
            </a:r>
            <a:r>
              <a:rPr sz="1200" b="0" spc="-6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spc="-10" dirty="0">
                <a:solidFill>
                  <a:srgbClr val="0052CC"/>
                </a:solidFill>
                <a:latin typeface="Lato"/>
                <a:cs typeface="Lato"/>
              </a:rPr>
              <a:t>evaluate </a:t>
            </a:r>
            <a:r>
              <a:rPr sz="1200" b="0" dirty="0">
                <a:solidFill>
                  <a:srgbClr val="0052CC"/>
                </a:solidFill>
                <a:latin typeface="Lato"/>
                <a:cs typeface="Lato"/>
              </a:rPr>
              <a:t>support</a:t>
            </a:r>
            <a:r>
              <a:rPr sz="1200" b="0" spc="-5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spc="-10" dirty="0">
                <a:solidFill>
                  <a:srgbClr val="0052CC"/>
                </a:solidFill>
                <a:latin typeface="Lato"/>
                <a:cs typeface="Lato"/>
              </a:rPr>
              <a:t>performance</a:t>
            </a:r>
            <a:r>
              <a:rPr sz="1200" b="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spc="-10" dirty="0">
                <a:solidFill>
                  <a:srgbClr val="0052CC"/>
                </a:solidFill>
                <a:latin typeface="Lato"/>
                <a:cs typeface="Lato"/>
              </a:rPr>
              <a:t>and</a:t>
            </a:r>
            <a:r>
              <a:rPr sz="1200" b="0" spc="-5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dirty="0">
                <a:solidFill>
                  <a:srgbClr val="0052CC"/>
                </a:solidFill>
                <a:latin typeface="Lato"/>
                <a:cs typeface="Lato"/>
              </a:rPr>
              <a:t>identify</a:t>
            </a:r>
            <a:r>
              <a:rPr sz="1200" b="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spc="-10" dirty="0">
                <a:solidFill>
                  <a:srgbClr val="0052CC"/>
                </a:solidFill>
                <a:latin typeface="Lato"/>
                <a:cs typeface="Lato"/>
              </a:rPr>
              <a:t>improvement</a:t>
            </a:r>
            <a:r>
              <a:rPr sz="1200" b="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spc="-10" dirty="0">
                <a:solidFill>
                  <a:srgbClr val="0052CC"/>
                </a:solidFill>
                <a:latin typeface="Lato"/>
                <a:cs typeface="Lato"/>
              </a:rPr>
              <a:t>opportunities.</a:t>
            </a:r>
            <a:endParaRPr sz="1200" dirty="0">
              <a:latin typeface="Lato"/>
              <a:cs typeface="La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lang="en-IN" sz="1200" dirty="0">
              <a:latin typeface="Lato"/>
              <a:cs typeface="La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 dirty="0">
              <a:latin typeface="Lato"/>
              <a:cs typeface="Lato"/>
            </a:endParaRPr>
          </a:p>
          <a:p>
            <a:pPr marL="12700">
              <a:lnSpc>
                <a:spcPct val="100000"/>
              </a:lnSpc>
            </a:pPr>
            <a:r>
              <a:rPr sz="1300" b="0" spc="-10" dirty="0">
                <a:solidFill>
                  <a:srgbClr val="4A8FE2"/>
                </a:solidFill>
                <a:latin typeface="Arial"/>
                <a:cs typeface="Arial"/>
              </a:rPr>
              <a:t>Goals:</a:t>
            </a:r>
            <a:endParaRPr sz="13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200" dirty="0">
              <a:latin typeface="Arial"/>
              <a:cs typeface="Arial"/>
            </a:endParaRPr>
          </a:p>
          <a:p>
            <a:pPr marL="413384">
              <a:lnSpc>
                <a:spcPct val="100000"/>
              </a:lnSpc>
            </a:pPr>
            <a:r>
              <a:rPr sz="1200" b="0" spc="-20" dirty="0">
                <a:solidFill>
                  <a:srgbClr val="0052CC"/>
                </a:solidFill>
                <a:latin typeface="Arial"/>
                <a:cs typeface="Arial"/>
              </a:rPr>
              <a:t>Identify</a:t>
            </a:r>
            <a:r>
              <a:rPr sz="1200" b="0" spc="-10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200" b="0" spc="-40" dirty="0">
                <a:solidFill>
                  <a:srgbClr val="0052CC"/>
                </a:solidFill>
                <a:latin typeface="Arial"/>
                <a:cs typeface="Arial"/>
              </a:rPr>
              <a:t>trends</a:t>
            </a:r>
            <a:r>
              <a:rPr sz="1200" b="0" spc="-10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200" b="0" dirty="0">
                <a:solidFill>
                  <a:srgbClr val="0052CC"/>
                </a:solidFill>
                <a:latin typeface="Lato"/>
                <a:cs typeface="Lato"/>
              </a:rPr>
              <a:t>in</a:t>
            </a:r>
            <a:r>
              <a:rPr sz="1200" b="0" spc="-5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dirty="0">
                <a:solidFill>
                  <a:srgbClr val="0052CC"/>
                </a:solidFill>
                <a:latin typeface="Lato"/>
                <a:cs typeface="Lato"/>
              </a:rPr>
              <a:t>ticket</a:t>
            </a:r>
            <a:r>
              <a:rPr sz="1200" b="0" spc="-5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spc="-20" dirty="0">
                <a:solidFill>
                  <a:srgbClr val="0052CC"/>
                </a:solidFill>
                <a:latin typeface="Lato"/>
                <a:cs typeface="Lato"/>
              </a:rPr>
              <a:t>volume,</a:t>
            </a:r>
            <a:r>
              <a:rPr lang="en-IN" sz="1200" b="0" spc="-20" dirty="0">
                <a:solidFill>
                  <a:srgbClr val="0052CC"/>
                </a:solidFill>
                <a:latin typeface="Lato"/>
                <a:cs typeface="Lato"/>
              </a:rPr>
              <a:t> Category</a:t>
            </a:r>
            <a:r>
              <a:rPr sz="1200" b="0" spc="-10" dirty="0">
                <a:solidFill>
                  <a:srgbClr val="0052CC"/>
                </a:solidFill>
                <a:latin typeface="Lato"/>
                <a:cs typeface="Lato"/>
              </a:rPr>
              <a:t>,</a:t>
            </a:r>
            <a:r>
              <a:rPr lang="en-IN" sz="1200" b="0" spc="-10" dirty="0">
                <a:solidFill>
                  <a:srgbClr val="0052CC"/>
                </a:solidFill>
                <a:latin typeface="Lato"/>
                <a:cs typeface="Lato"/>
              </a:rPr>
              <a:t> Quarter, Yearly, </a:t>
            </a:r>
            <a:r>
              <a:rPr lang="en-IN" sz="1200" b="0" spc="-10" dirty="0" err="1">
                <a:solidFill>
                  <a:srgbClr val="0052CC"/>
                </a:solidFill>
                <a:latin typeface="Lato"/>
                <a:cs typeface="Lato"/>
              </a:rPr>
              <a:t>Monthly</a:t>
            </a:r>
            <a:r>
              <a:rPr lang="en-IN" sz="1200" b="0" spc="-50" dirty="0" err="1">
                <a:solidFill>
                  <a:srgbClr val="0052CC"/>
                </a:solidFill>
                <a:latin typeface="Lato"/>
                <a:cs typeface="Lato"/>
              </a:rPr>
              <a:t>,etc</a:t>
            </a:r>
            <a:r>
              <a:rPr lang="en-IN" sz="1200" b="0" spc="-50" dirty="0">
                <a:solidFill>
                  <a:srgbClr val="0052CC"/>
                </a:solidFill>
                <a:latin typeface="Lato"/>
                <a:cs typeface="Lato"/>
              </a:rPr>
              <a:t>.</a:t>
            </a:r>
            <a:endParaRPr sz="1200" dirty="0">
              <a:latin typeface="Lato"/>
              <a:cs typeface="Lato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1200" dirty="0">
              <a:latin typeface="Lato"/>
              <a:cs typeface="Lato"/>
            </a:endParaRPr>
          </a:p>
          <a:p>
            <a:pPr marL="451484">
              <a:lnSpc>
                <a:spcPct val="100000"/>
              </a:lnSpc>
            </a:pPr>
            <a:r>
              <a:rPr sz="1300" b="0" spc="-70" dirty="0">
                <a:solidFill>
                  <a:srgbClr val="0052CC"/>
                </a:solidFill>
                <a:latin typeface="Arial"/>
                <a:cs typeface="Arial"/>
              </a:rPr>
              <a:t>Evaluate</a:t>
            </a:r>
            <a:r>
              <a:rPr sz="1300" b="0" spc="-10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b="0" spc="-65" dirty="0">
                <a:solidFill>
                  <a:srgbClr val="0052CC"/>
                </a:solidFill>
                <a:latin typeface="Arial"/>
                <a:cs typeface="Arial"/>
              </a:rPr>
              <a:t>agent</a:t>
            </a:r>
            <a:r>
              <a:rPr sz="1300" b="0" spc="-9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b="0" spc="-55" dirty="0">
                <a:solidFill>
                  <a:srgbClr val="0052CC"/>
                </a:solidFill>
                <a:latin typeface="Arial"/>
                <a:cs typeface="Arial"/>
              </a:rPr>
              <a:t>performance</a:t>
            </a:r>
            <a:r>
              <a:rPr sz="1300" b="0" spc="-10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200" b="0" spc="-10" dirty="0">
                <a:solidFill>
                  <a:srgbClr val="0052CC"/>
                </a:solidFill>
                <a:latin typeface="Lato"/>
                <a:cs typeface="Lato"/>
              </a:rPr>
              <a:t>using</a:t>
            </a:r>
            <a:r>
              <a:rPr sz="1200" b="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dirty="0">
                <a:solidFill>
                  <a:srgbClr val="0052CC"/>
                </a:solidFill>
                <a:latin typeface="Lato"/>
                <a:cs typeface="Lato"/>
              </a:rPr>
              <a:t>satisfaction</a:t>
            </a:r>
            <a:r>
              <a:rPr sz="1200" b="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spc="-10" dirty="0">
                <a:solidFill>
                  <a:srgbClr val="0052CC"/>
                </a:solidFill>
                <a:latin typeface="Lato"/>
                <a:cs typeface="Lato"/>
              </a:rPr>
              <a:t>and</a:t>
            </a:r>
            <a:r>
              <a:rPr sz="1200" b="0" spc="-5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dirty="0">
                <a:solidFill>
                  <a:srgbClr val="0052CC"/>
                </a:solidFill>
                <a:latin typeface="Lato"/>
                <a:cs typeface="Lato"/>
              </a:rPr>
              <a:t>resolution</a:t>
            </a:r>
            <a:r>
              <a:rPr sz="1200" b="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spc="-10" dirty="0">
                <a:solidFill>
                  <a:srgbClr val="0052CC"/>
                </a:solidFill>
                <a:latin typeface="Lato"/>
                <a:cs typeface="Lato"/>
              </a:rPr>
              <a:t>metrics</a:t>
            </a:r>
            <a:endParaRPr sz="1200" dirty="0">
              <a:latin typeface="Lato"/>
              <a:cs typeface="Lato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1200" dirty="0">
              <a:latin typeface="Lato"/>
              <a:cs typeface="Lato"/>
            </a:endParaRPr>
          </a:p>
          <a:p>
            <a:pPr marL="375285">
              <a:lnSpc>
                <a:spcPct val="100000"/>
              </a:lnSpc>
            </a:pPr>
            <a:r>
              <a:rPr sz="1300" b="0" spc="-100" dirty="0">
                <a:solidFill>
                  <a:srgbClr val="0052CC"/>
                </a:solidFill>
                <a:latin typeface="Arial"/>
                <a:cs typeface="Arial"/>
              </a:rPr>
              <a:t>Recommend</a:t>
            </a:r>
            <a:r>
              <a:rPr sz="1300" b="0" spc="-8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b="0" spc="-50" dirty="0">
                <a:solidFill>
                  <a:srgbClr val="0052CC"/>
                </a:solidFill>
                <a:latin typeface="Arial"/>
                <a:cs typeface="Arial"/>
              </a:rPr>
              <a:t>data-</a:t>
            </a:r>
            <a:r>
              <a:rPr sz="1300" b="0" spc="-85" dirty="0">
                <a:solidFill>
                  <a:srgbClr val="0052CC"/>
                </a:solidFill>
                <a:latin typeface="Arial"/>
                <a:cs typeface="Arial"/>
              </a:rPr>
              <a:t>backed</a:t>
            </a:r>
            <a:r>
              <a:rPr sz="1300" b="0" spc="-7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b="0" spc="-60" dirty="0">
                <a:solidFill>
                  <a:srgbClr val="0052CC"/>
                </a:solidFill>
                <a:latin typeface="Arial"/>
                <a:cs typeface="Arial"/>
              </a:rPr>
              <a:t>investments</a:t>
            </a:r>
            <a:r>
              <a:rPr sz="1300" b="0" spc="-7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200" b="0" dirty="0">
                <a:solidFill>
                  <a:srgbClr val="0052CC"/>
                </a:solidFill>
                <a:latin typeface="Lato"/>
                <a:cs typeface="Lato"/>
              </a:rPr>
              <a:t>(training,</a:t>
            </a:r>
            <a:r>
              <a:rPr sz="1200" b="0" spc="-2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dirty="0">
                <a:solidFill>
                  <a:srgbClr val="0052CC"/>
                </a:solidFill>
                <a:latin typeface="Lato"/>
                <a:cs typeface="Lato"/>
              </a:rPr>
              <a:t>hiring,</a:t>
            </a:r>
            <a:r>
              <a:rPr sz="1200" b="0" spc="-2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dirty="0">
                <a:solidFill>
                  <a:srgbClr val="0052CC"/>
                </a:solidFill>
                <a:latin typeface="Lato"/>
                <a:cs typeface="Lato"/>
              </a:rPr>
              <a:t>or</a:t>
            </a:r>
            <a:r>
              <a:rPr sz="1200" b="0" spc="-2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spc="-10" dirty="0">
                <a:solidFill>
                  <a:srgbClr val="0052CC"/>
                </a:solidFill>
                <a:latin typeface="Lato"/>
                <a:cs typeface="Lato"/>
              </a:rPr>
              <a:t>tools)</a:t>
            </a:r>
            <a:endParaRPr sz="1200" dirty="0">
              <a:latin typeface="Lato"/>
              <a:cs typeface="Lato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IN" sz="1200" dirty="0">
              <a:latin typeface="Lato"/>
              <a:cs typeface="Lato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200" dirty="0">
              <a:latin typeface="Lato"/>
              <a:cs typeface="Lato"/>
            </a:endParaRPr>
          </a:p>
          <a:p>
            <a:pPr marL="12700">
              <a:lnSpc>
                <a:spcPct val="100000"/>
              </a:lnSpc>
            </a:pPr>
            <a:r>
              <a:rPr sz="1300" b="0" spc="-55" dirty="0">
                <a:solidFill>
                  <a:srgbClr val="4A8FE2"/>
                </a:solidFill>
                <a:latin typeface="Arial"/>
                <a:cs typeface="Arial"/>
              </a:rPr>
              <a:t>Strategic</a:t>
            </a:r>
            <a:r>
              <a:rPr sz="1300" b="0" spc="-75" dirty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sz="1300" b="0" spc="-10" dirty="0">
                <a:solidFill>
                  <a:srgbClr val="4A8FE2"/>
                </a:solidFill>
                <a:latin typeface="Arial"/>
                <a:cs typeface="Arial"/>
              </a:rPr>
              <a:t>Impact:</a:t>
            </a:r>
            <a:endParaRPr sz="13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200" dirty="0">
              <a:latin typeface="Arial"/>
              <a:cs typeface="Arial"/>
            </a:endParaRPr>
          </a:p>
          <a:p>
            <a:pPr marL="240665">
              <a:lnSpc>
                <a:spcPct val="100000"/>
              </a:lnSpc>
            </a:pPr>
            <a:r>
              <a:rPr sz="1200" b="0" spc="-10" dirty="0">
                <a:solidFill>
                  <a:srgbClr val="0052CC"/>
                </a:solidFill>
                <a:latin typeface="Lato"/>
                <a:cs typeface="Lato"/>
              </a:rPr>
              <a:t>Guide</a:t>
            </a:r>
            <a:r>
              <a:rPr sz="1200" b="0" spc="-5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dirty="0">
                <a:solidFill>
                  <a:srgbClr val="0052CC"/>
                </a:solidFill>
                <a:latin typeface="Lato"/>
                <a:cs typeface="Lato"/>
              </a:rPr>
              <a:t>team</a:t>
            </a:r>
            <a:r>
              <a:rPr sz="1200" b="0" spc="-5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spc="-10" dirty="0">
                <a:solidFill>
                  <a:srgbClr val="0052CC"/>
                </a:solidFill>
                <a:latin typeface="Lato"/>
                <a:cs typeface="Lato"/>
              </a:rPr>
              <a:t>management</a:t>
            </a:r>
            <a:r>
              <a:rPr sz="1200" b="0" spc="-5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spc="-10" dirty="0">
                <a:solidFill>
                  <a:srgbClr val="0052CC"/>
                </a:solidFill>
                <a:latin typeface="Lato"/>
                <a:cs typeface="Lato"/>
              </a:rPr>
              <a:t>decisions</a:t>
            </a:r>
            <a:endParaRPr sz="1200" dirty="0">
              <a:latin typeface="Lato"/>
              <a:cs typeface="Lato"/>
            </a:endParaRPr>
          </a:p>
          <a:p>
            <a:pPr marL="240665" marR="2200910">
              <a:lnSpc>
                <a:spcPct val="166700"/>
              </a:lnSpc>
            </a:pPr>
            <a:r>
              <a:rPr sz="1200" b="0" dirty="0">
                <a:solidFill>
                  <a:srgbClr val="0052CC"/>
                </a:solidFill>
                <a:latin typeface="Lato"/>
                <a:cs typeface="Lato"/>
              </a:rPr>
              <a:t>Drive</a:t>
            </a:r>
            <a:r>
              <a:rPr sz="1200" b="0" spc="-5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dirty="0">
                <a:solidFill>
                  <a:srgbClr val="0052CC"/>
                </a:solidFill>
                <a:latin typeface="Lato"/>
                <a:cs typeface="Lato"/>
              </a:rPr>
              <a:t>service</a:t>
            </a:r>
            <a:r>
              <a:rPr sz="1200" b="0" spc="-5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dirty="0">
                <a:solidFill>
                  <a:srgbClr val="0052CC"/>
                </a:solidFill>
                <a:latin typeface="Lato"/>
                <a:cs typeface="Lato"/>
              </a:rPr>
              <a:t>quality</a:t>
            </a:r>
            <a:r>
              <a:rPr sz="1200" b="0" spc="-5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spc="-10" dirty="0">
                <a:solidFill>
                  <a:srgbClr val="0052CC"/>
                </a:solidFill>
                <a:latin typeface="Lato"/>
                <a:cs typeface="Lato"/>
              </a:rPr>
              <a:t>improvement</a:t>
            </a:r>
            <a:r>
              <a:rPr sz="1200" b="0" spc="-5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spc="-10" dirty="0">
                <a:solidFill>
                  <a:srgbClr val="0052CC"/>
                </a:solidFill>
                <a:latin typeface="Lato"/>
                <a:cs typeface="Lato"/>
              </a:rPr>
              <a:t>initiatives Support</a:t>
            </a:r>
            <a:r>
              <a:rPr sz="1200" b="0" spc="-3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dirty="0">
                <a:solidFill>
                  <a:srgbClr val="0052CC"/>
                </a:solidFill>
                <a:latin typeface="Lato"/>
                <a:cs typeface="Lato"/>
              </a:rPr>
              <a:t>operational</a:t>
            </a:r>
            <a:r>
              <a:rPr sz="1200" b="0" spc="-3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spc="-10" dirty="0">
                <a:solidFill>
                  <a:srgbClr val="0052CC"/>
                </a:solidFill>
                <a:latin typeface="Lato"/>
                <a:cs typeface="Lato"/>
              </a:rPr>
              <a:t>scaling</a:t>
            </a:r>
            <a:r>
              <a:rPr sz="1200" b="0" spc="-3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spc="-10" dirty="0">
                <a:solidFill>
                  <a:srgbClr val="0052CC"/>
                </a:solidFill>
                <a:latin typeface="Lato"/>
                <a:cs typeface="Lato"/>
              </a:rPr>
              <a:t>strategies</a:t>
            </a:r>
            <a:endParaRPr sz="1200" dirty="0">
              <a:latin typeface="Lato"/>
              <a:cs typeface="Lato"/>
            </a:endParaRPr>
          </a:p>
          <a:p>
            <a:pPr marL="240665">
              <a:lnSpc>
                <a:spcPct val="100000"/>
              </a:lnSpc>
              <a:spcBef>
                <a:spcPts val="960"/>
              </a:spcBef>
            </a:pPr>
            <a:r>
              <a:rPr sz="1200" b="0" dirty="0">
                <a:solidFill>
                  <a:srgbClr val="0052CC"/>
                </a:solidFill>
                <a:latin typeface="Lato"/>
                <a:cs typeface="Lato"/>
              </a:rPr>
              <a:t>Optimize</a:t>
            </a:r>
            <a:r>
              <a:rPr sz="1200" b="0" spc="-6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dirty="0">
                <a:solidFill>
                  <a:srgbClr val="0052CC"/>
                </a:solidFill>
                <a:latin typeface="Lato"/>
                <a:cs typeface="Lato"/>
              </a:rPr>
              <a:t>resource</a:t>
            </a:r>
            <a:r>
              <a:rPr sz="1200" b="0" spc="-6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dirty="0">
                <a:solidFill>
                  <a:srgbClr val="0052CC"/>
                </a:solidFill>
                <a:latin typeface="Lato"/>
                <a:cs typeface="Lato"/>
              </a:rPr>
              <a:t>allocation</a:t>
            </a:r>
            <a:r>
              <a:rPr sz="1200" b="0" spc="-6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spc="-10" dirty="0">
                <a:solidFill>
                  <a:srgbClr val="0052CC"/>
                </a:solidFill>
                <a:latin typeface="Lato"/>
                <a:cs typeface="Lato"/>
              </a:rPr>
              <a:t>based</a:t>
            </a:r>
            <a:r>
              <a:rPr sz="1200" b="0" spc="-5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spc="-20" dirty="0">
                <a:solidFill>
                  <a:srgbClr val="0052CC"/>
                </a:solidFill>
                <a:latin typeface="Lato"/>
                <a:cs typeface="Lato"/>
              </a:rPr>
              <a:t>on</a:t>
            </a:r>
            <a:r>
              <a:rPr sz="1200" b="0" spc="-6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dirty="0">
                <a:solidFill>
                  <a:srgbClr val="0052CC"/>
                </a:solidFill>
                <a:latin typeface="Lato"/>
                <a:cs typeface="Lato"/>
              </a:rPr>
              <a:t>data</a:t>
            </a:r>
            <a:r>
              <a:rPr sz="1200" b="0" spc="-6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b="0" spc="-10" dirty="0">
                <a:solidFill>
                  <a:srgbClr val="0052CC"/>
                </a:solidFill>
                <a:latin typeface="Lato"/>
                <a:cs typeface="Lato"/>
              </a:rPr>
              <a:t>insights</a:t>
            </a:r>
            <a:endParaRPr sz="1200" dirty="0">
              <a:latin typeface="Lato"/>
              <a:cs typeface="Lato"/>
            </a:endParaRPr>
          </a:p>
        </p:txBody>
      </p:sp>
      <p:sp>
        <p:nvSpPr>
          <p:cNvPr id="53" name="object 27">
            <a:extLst>
              <a:ext uri="{FF2B5EF4-FFF2-40B4-BE49-F238E27FC236}">
                <a16:creationId xmlns:a16="http://schemas.microsoft.com/office/drawing/2014/main" id="{7EF70310-787A-45CF-9D4F-32AF8DCA9E98}"/>
              </a:ext>
            </a:extLst>
          </p:cNvPr>
          <p:cNvSpPr txBox="1"/>
          <p:nvPr/>
        </p:nvSpPr>
        <p:spPr>
          <a:xfrm>
            <a:off x="6204321" y="2705714"/>
            <a:ext cx="384047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1800" b="1" spc="305" dirty="0">
                <a:solidFill>
                  <a:srgbClr val="4A8FE2"/>
                </a:solidFill>
                <a:latin typeface="Calibri"/>
                <a:cs typeface="Calibri"/>
              </a:rPr>
              <a:t>KEY</a:t>
            </a:r>
            <a:r>
              <a:rPr sz="1800" b="1" spc="110" dirty="0">
                <a:solidFill>
                  <a:srgbClr val="4A8FE2"/>
                </a:solidFill>
                <a:latin typeface="Calibri"/>
                <a:cs typeface="Calibri"/>
              </a:rPr>
              <a:t> </a:t>
            </a:r>
            <a:r>
              <a:rPr sz="1800" b="1" spc="250" dirty="0">
                <a:solidFill>
                  <a:srgbClr val="4A8FE2"/>
                </a:solidFill>
                <a:latin typeface="Calibri"/>
                <a:cs typeface="Calibri"/>
              </a:rPr>
              <a:t>ANALYTICAL</a:t>
            </a:r>
            <a:r>
              <a:rPr sz="1800" b="1" spc="114" dirty="0">
                <a:solidFill>
                  <a:srgbClr val="4A8FE2"/>
                </a:solidFill>
                <a:latin typeface="Calibri"/>
                <a:cs typeface="Calibri"/>
              </a:rPr>
              <a:t> </a:t>
            </a:r>
            <a:r>
              <a:rPr sz="1800" b="1" spc="295" dirty="0">
                <a:solidFill>
                  <a:srgbClr val="4A8FE2"/>
                </a:solidFill>
                <a:latin typeface="Calibri"/>
                <a:cs typeface="Calibri"/>
              </a:rPr>
              <a:t>FOCUS</a:t>
            </a:r>
            <a:r>
              <a:rPr sz="1800" b="1" spc="114" dirty="0">
                <a:solidFill>
                  <a:srgbClr val="4A8FE2"/>
                </a:solidFill>
                <a:latin typeface="Calibri"/>
                <a:cs typeface="Calibri"/>
              </a:rPr>
              <a:t> </a:t>
            </a:r>
            <a:r>
              <a:rPr sz="1800" b="1" spc="275" dirty="0">
                <a:solidFill>
                  <a:srgbClr val="4A8FE2"/>
                </a:solidFill>
                <a:latin typeface="Calibri"/>
                <a:cs typeface="Calibri"/>
              </a:rPr>
              <a:t>AREAS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11741" y="629154"/>
            <a:ext cx="1075305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83450" algn="ctr">
              <a:lnSpc>
                <a:spcPct val="100000"/>
              </a:lnSpc>
              <a:spcBef>
                <a:spcPts val="100"/>
              </a:spcBef>
            </a:pPr>
            <a:r>
              <a:rPr sz="1800" spc="260" dirty="0">
                <a:solidFill>
                  <a:srgbClr val="4A8FE2"/>
                </a:solidFill>
              </a:rPr>
              <a:t>DATASET</a:t>
            </a:r>
            <a:r>
              <a:rPr sz="1800" spc="110" dirty="0">
                <a:solidFill>
                  <a:srgbClr val="4A8FE2"/>
                </a:solidFill>
              </a:rPr>
              <a:t> </a:t>
            </a:r>
            <a:r>
              <a:rPr sz="1800" spc="254" dirty="0">
                <a:solidFill>
                  <a:srgbClr val="4A8FE2"/>
                </a:solidFill>
              </a:rPr>
              <a:t>STRUCTURE</a:t>
            </a:r>
            <a:endParaRPr sz="1800" dirty="0"/>
          </a:p>
        </p:txBody>
      </p:sp>
      <p:sp>
        <p:nvSpPr>
          <p:cNvPr id="2" name="object 2"/>
          <p:cNvSpPr txBox="1"/>
          <p:nvPr/>
        </p:nvSpPr>
        <p:spPr>
          <a:xfrm>
            <a:off x="376592" y="513606"/>
            <a:ext cx="31184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365" dirty="0">
                <a:solidFill>
                  <a:srgbClr val="0052CC"/>
                </a:solidFill>
                <a:latin typeface="Calibri"/>
                <a:cs typeface="Calibri"/>
              </a:rPr>
              <a:t>DATA</a:t>
            </a:r>
            <a:r>
              <a:rPr sz="2700" b="1" spc="165" dirty="0">
                <a:solidFill>
                  <a:srgbClr val="0052CC"/>
                </a:solidFill>
                <a:latin typeface="Calibri"/>
                <a:cs typeface="Calibri"/>
              </a:rPr>
              <a:t> </a:t>
            </a:r>
            <a:r>
              <a:rPr sz="2700" b="1" spc="405" dirty="0">
                <a:solidFill>
                  <a:srgbClr val="0052CC"/>
                </a:solidFill>
                <a:latin typeface="Calibri"/>
                <a:cs typeface="Calibri"/>
              </a:rPr>
              <a:t>OVERVIEW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9292" y="1078755"/>
            <a:ext cx="571500" cy="38100"/>
          </a:xfrm>
          <a:custGeom>
            <a:avLst/>
            <a:gdLst/>
            <a:ahLst/>
            <a:cxnLst/>
            <a:rect l="l" t="t" r="r" b="b"/>
            <a:pathLst>
              <a:path w="571500" h="38100">
                <a:moveTo>
                  <a:pt x="571499" y="38099"/>
                </a:moveTo>
                <a:lnTo>
                  <a:pt x="0" y="38099"/>
                </a:lnTo>
                <a:lnTo>
                  <a:pt x="0" y="0"/>
                </a:lnTo>
                <a:lnTo>
                  <a:pt x="571499" y="0"/>
                </a:lnTo>
                <a:lnTo>
                  <a:pt x="571499" y="38099"/>
                </a:lnTo>
                <a:close/>
              </a:path>
            </a:pathLst>
          </a:custGeom>
          <a:solidFill>
            <a:srgbClr val="4A8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80998" y="1739584"/>
            <a:ext cx="5410200" cy="815481"/>
            <a:chOff x="380999" y="2066924"/>
            <a:chExt cx="5410200" cy="609600"/>
          </a:xfrm>
        </p:grpSpPr>
        <p:sp>
          <p:nvSpPr>
            <p:cNvPr id="5" name="object 5"/>
            <p:cNvSpPr/>
            <p:nvPr/>
          </p:nvSpPr>
          <p:spPr>
            <a:xfrm>
              <a:off x="380999" y="2066924"/>
              <a:ext cx="5410200" cy="609600"/>
            </a:xfrm>
            <a:custGeom>
              <a:avLst/>
              <a:gdLst/>
              <a:ahLst/>
              <a:cxnLst/>
              <a:rect l="l" t="t" r="r" b="b"/>
              <a:pathLst>
                <a:path w="5410200" h="609600">
                  <a:moveTo>
                    <a:pt x="5410199" y="609599"/>
                  </a:moveTo>
                  <a:lnTo>
                    <a:pt x="0" y="609599"/>
                  </a:lnTo>
                  <a:lnTo>
                    <a:pt x="0" y="0"/>
                  </a:lnTo>
                  <a:lnTo>
                    <a:pt x="5410199" y="0"/>
                  </a:lnTo>
                  <a:lnTo>
                    <a:pt x="5410199" y="609599"/>
                  </a:lnTo>
                  <a:close/>
                </a:path>
              </a:pathLst>
            </a:custGeom>
            <a:solidFill>
              <a:srgbClr val="E3F1FD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0999" y="2066924"/>
              <a:ext cx="28575" cy="609600"/>
            </a:xfrm>
            <a:custGeom>
              <a:avLst/>
              <a:gdLst/>
              <a:ahLst/>
              <a:cxnLst/>
              <a:rect l="l" t="t" r="r" b="b"/>
              <a:pathLst>
                <a:path w="28575" h="609600">
                  <a:moveTo>
                    <a:pt x="28574" y="609599"/>
                  </a:moveTo>
                  <a:lnTo>
                    <a:pt x="0" y="6095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609599"/>
                  </a:lnTo>
                  <a:close/>
                </a:path>
              </a:pathLst>
            </a:custGeom>
            <a:solidFill>
              <a:srgbClr val="4A8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80998" y="2614613"/>
            <a:ext cx="5410200" cy="609600"/>
            <a:chOff x="380999" y="2828924"/>
            <a:chExt cx="5410200" cy="609600"/>
          </a:xfrm>
        </p:grpSpPr>
        <p:sp>
          <p:nvSpPr>
            <p:cNvPr id="8" name="object 8"/>
            <p:cNvSpPr/>
            <p:nvPr/>
          </p:nvSpPr>
          <p:spPr>
            <a:xfrm>
              <a:off x="380999" y="2828924"/>
              <a:ext cx="5410200" cy="609600"/>
            </a:xfrm>
            <a:custGeom>
              <a:avLst/>
              <a:gdLst/>
              <a:ahLst/>
              <a:cxnLst/>
              <a:rect l="l" t="t" r="r" b="b"/>
              <a:pathLst>
                <a:path w="5410200" h="609600">
                  <a:moveTo>
                    <a:pt x="5410199" y="609599"/>
                  </a:moveTo>
                  <a:lnTo>
                    <a:pt x="0" y="609599"/>
                  </a:lnTo>
                  <a:lnTo>
                    <a:pt x="0" y="0"/>
                  </a:lnTo>
                  <a:lnTo>
                    <a:pt x="5410199" y="0"/>
                  </a:lnTo>
                  <a:lnTo>
                    <a:pt x="5410199" y="609599"/>
                  </a:lnTo>
                  <a:close/>
                </a:path>
              </a:pathLst>
            </a:custGeom>
            <a:solidFill>
              <a:srgbClr val="E3F1FD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0999" y="2828924"/>
              <a:ext cx="28575" cy="609600"/>
            </a:xfrm>
            <a:custGeom>
              <a:avLst/>
              <a:gdLst/>
              <a:ahLst/>
              <a:cxnLst/>
              <a:rect l="l" t="t" r="r" b="b"/>
              <a:pathLst>
                <a:path w="28575" h="609600">
                  <a:moveTo>
                    <a:pt x="28574" y="609599"/>
                  </a:moveTo>
                  <a:lnTo>
                    <a:pt x="0" y="6095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609599"/>
                  </a:lnTo>
                  <a:close/>
                </a:path>
              </a:pathLst>
            </a:custGeom>
            <a:solidFill>
              <a:srgbClr val="4A8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68298" y="1449389"/>
            <a:ext cx="125095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80" dirty="0">
                <a:solidFill>
                  <a:srgbClr val="4A8FE2"/>
                </a:solidFill>
                <a:latin typeface="Segoe UI Symbol"/>
                <a:cs typeface="Segoe UI Symbol"/>
              </a:rPr>
              <a:t>📁</a:t>
            </a:r>
            <a:r>
              <a:rPr sz="1400" spc="-130" dirty="0">
                <a:solidFill>
                  <a:srgbClr val="4A8FE2"/>
                </a:solidFill>
                <a:latin typeface="Segoe UI Symbol"/>
                <a:cs typeface="Segoe UI Symbol"/>
              </a:rPr>
              <a:t> </a:t>
            </a:r>
            <a:r>
              <a:rPr sz="1300" spc="-65" dirty="0">
                <a:solidFill>
                  <a:srgbClr val="4A8FE2"/>
                </a:solidFill>
                <a:latin typeface="Arial"/>
                <a:cs typeface="Arial"/>
              </a:rPr>
              <a:t>Datasets</a:t>
            </a:r>
            <a:r>
              <a:rPr sz="1300" spc="-100" dirty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sz="1300" spc="-70" dirty="0">
                <a:solidFill>
                  <a:srgbClr val="4A8FE2"/>
                </a:solidFill>
                <a:latin typeface="Arial"/>
                <a:cs typeface="Arial"/>
              </a:rPr>
              <a:t>Used: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9292" y="1763766"/>
            <a:ext cx="6105526" cy="69230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14300" marR="514350">
              <a:lnSpc>
                <a:spcPct val="121800"/>
              </a:lnSpc>
              <a:spcBef>
                <a:spcPts val="165"/>
              </a:spcBef>
            </a:pPr>
            <a:r>
              <a:rPr sz="1300" spc="-60" dirty="0">
                <a:solidFill>
                  <a:srgbClr val="4A8FE2"/>
                </a:solidFill>
                <a:latin typeface="Arial"/>
                <a:cs typeface="Arial"/>
              </a:rPr>
              <a:t>Tickets</a:t>
            </a:r>
            <a:r>
              <a:rPr sz="1300" spc="-100" dirty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4A8FE2"/>
                </a:solidFill>
                <a:latin typeface="Arial"/>
                <a:cs typeface="Arial"/>
              </a:rPr>
              <a:t>Sheet:</a:t>
            </a:r>
            <a:r>
              <a:rPr sz="1300" spc="-95" dirty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97,498</a:t>
            </a:r>
            <a:r>
              <a:rPr sz="1200" spc="-5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records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with</a:t>
            </a:r>
            <a:r>
              <a:rPr sz="1200" spc="-5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attributes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like</a:t>
            </a:r>
            <a:r>
              <a:rPr sz="1200" spc="-5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lang="en-IN" sz="1200" spc="-50" dirty="0">
                <a:solidFill>
                  <a:srgbClr val="0052CC"/>
                </a:solidFill>
                <a:latin typeface="Lato"/>
                <a:cs typeface="Lato"/>
              </a:rPr>
              <a:t>ID Ticket, </a:t>
            </a:r>
            <a:r>
              <a:rPr lang="en-IN" sz="1200" spc="-50" dirty="0" err="1">
                <a:solidFill>
                  <a:srgbClr val="0052CC"/>
                </a:solidFill>
                <a:latin typeface="Lato"/>
                <a:cs typeface="Lato"/>
              </a:rPr>
              <a:t>Fecha</a:t>
            </a:r>
            <a:r>
              <a:rPr lang="en-IN" sz="1200" spc="-50" dirty="0">
                <a:solidFill>
                  <a:srgbClr val="0052CC"/>
                </a:solidFill>
                <a:latin typeface="Lato"/>
                <a:cs typeface="Lato"/>
              </a:rPr>
              <a:t>, Employee ID Agent ID, Request Category, Issue </a:t>
            </a:r>
            <a:r>
              <a:rPr lang="en-IN" sz="1200" spc="-10" dirty="0">
                <a:solidFill>
                  <a:srgbClr val="0052CC"/>
                </a:solidFill>
                <a:latin typeface="Lato"/>
                <a:cs typeface="Lato"/>
              </a:rPr>
              <a:t>T</a:t>
            </a:r>
            <a:r>
              <a:rPr sz="1200" spc="-10" dirty="0" err="1">
                <a:solidFill>
                  <a:srgbClr val="0052CC"/>
                </a:solidFill>
                <a:latin typeface="Lato"/>
                <a:cs typeface="Lato"/>
              </a:rPr>
              <a:t>ype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,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lang="en-IN" sz="1200" spc="-10" dirty="0">
                <a:solidFill>
                  <a:srgbClr val="0052CC"/>
                </a:solidFill>
                <a:latin typeface="Lato"/>
                <a:cs typeface="Lato"/>
              </a:rPr>
              <a:t>S</a:t>
            </a:r>
            <a:r>
              <a:rPr sz="1200" spc="-10" dirty="0" err="1">
                <a:solidFill>
                  <a:srgbClr val="0052CC"/>
                </a:solidFill>
                <a:latin typeface="Lato"/>
                <a:cs typeface="Lato"/>
              </a:rPr>
              <a:t>everity</a:t>
            </a:r>
            <a:r>
              <a:rPr lang="en-IN" sz="1200" spc="-10" dirty="0">
                <a:solidFill>
                  <a:srgbClr val="0052CC"/>
                </a:solidFill>
                <a:latin typeface="Lato"/>
                <a:cs typeface="Lato"/>
              </a:rPr>
              <a:t>, Priority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, </a:t>
            </a:r>
            <a:r>
              <a:rPr lang="en-IN" sz="1200" spc="-10" dirty="0">
                <a:solidFill>
                  <a:srgbClr val="0052CC"/>
                </a:solidFill>
                <a:latin typeface="Lato"/>
                <a:cs typeface="Lato"/>
              </a:rPr>
              <a:t>R</a:t>
            </a:r>
            <a:r>
              <a:rPr sz="1200" dirty="0" err="1">
                <a:solidFill>
                  <a:srgbClr val="0052CC"/>
                </a:solidFill>
                <a:latin typeface="Lato"/>
                <a:cs typeface="Lato"/>
              </a:rPr>
              <a:t>esolution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lang="en-IN" sz="1200" spc="-10" dirty="0">
                <a:solidFill>
                  <a:srgbClr val="0052CC"/>
                </a:solidFill>
                <a:latin typeface="Lato"/>
                <a:cs typeface="Lato"/>
              </a:rPr>
              <a:t>T</a:t>
            </a:r>
            <a:r>
              <a:rPr sz="1200" spc="-10" dirty="0" err="1">
                <a:solidFill>
                  <a:srgbClr val="0052CC"/>
                </a:solidFill>
                <a:latin typeface="Lato"/>
                <a:cs typeface="Lato"/>
              </a:rPr>
              <a:t>ime</a:t>
            </a:r>
            <a:r>
              <a:rPr lang="en-IN" sz="1200" spc="-10" dirty="0">
                <a:solidFill>
                  <a:srgbClr val="0052CC"/>
                </a:solidFill>
                <a:latin typeface="Lato"/>
                <a:cs typeface="Lato"/>
              </a:rPr>
              <a:t> (Days)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,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lang="en-IN" sz="1200" spc="-10" dirty="0">
                <a:solidFill>
                  <a:srgbClr val="0052CC"/>
                </a:solidFill>
                <a:latin typeface="Lato"/>
                <a:cs typeface="Lato"/>
              </a:rPr>
              <a:t>S</a:t>
            </a:r>
            <a:r>
              <a:rPr sz="1200" spc="-10" dirty="0" err="1">
                <a:solidFill>
                  <a:srgbClr val="0052CC"/>
                </a:solidFill>
                <a:latin typeface="Lato"/>
                <a:cs typeface="Lato"/>
              </a:rPr>
              <a:t>atisfaction</a:t>
            </a:r>
            <a:r>
              <a:rPr lang="en-IN" sz="1200" spc="-10" dirty="0">
                <a:solidFill>
                  <a:srgbClr val="0052CC"/>
                </a:solidFill>
                <a:latin typeface="Lato"/>
                <a:cs typeface="Lato"/>
              </a:rPr>
              <a:t> Rate.</a:t>
            </a:r>
            <a:endParaRPr sz="1200" dirty="0">
              <a:latin typeface="Lato"/>
              <a:cs typeface="La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9292" y="2652320"/>
            <a:ext cx="5381625" cy="46698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14300" marR="169545">
              <a:lnSpc>
                <a:spcPct val="121800"/>
              </a:lnSpc>
              <a:spcBef>
                <a:spcPts val="165"/>
              </a:spcBef>
            </a:pPr>
            <a:r>
              <a:rPr sz="1300" spc="-55" dirty="0">
                <a:solidFill>
                  <a:srgbClr val="4A8FE2"/>
                </a:solidFill>
                <a:latin typeface="Arial"/>
                <a:cs typeface="Arial"/>
              </a:rPr>
              <a:t>IT</a:t>
            </a:r>
            <a:r>
              <a:rPr sz="1300" spc="-100" dirty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sz="1300" spc="-70" dirty="0">
                <a:solidFill>
                  <a:srgbClr val="4A8FE2"/>
                </a:solidFill>
                <a:latin typeface="Arial"/>
                <a:cs typeface="Arial"/>
              </a:rPr>
              <a:t>Agents</a:t>
            </a:r>
            <a:r>
              <a:rPr sz="1300" spc="-100" dirty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4A8FE2"/>
                </a:solidFill>
                <a:latin typeface="Arial"/>
                <a:cs typeface="Arial"/>
              </a:rPr>
              <a:t>Sheet:</a:t>
            </a:r>
            <a:r>
              <a:rPr sz="1300" spc="-100" dirty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50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agents</a:t>
            </a:r>
            <a:r>
              <a:rPr sz="1200" spc="-5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with</a:t>
            </a:r>
            <a:r>
              <a:rPr sz="1200" spc="-5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demographic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info</a:t>
            </a:r>
            <a:r>
              <a:rPr sz="1200" spc="-5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(</a:t>
            </a:r>
            <a:r>
              <a:rPr lang="en-IN" sz="1200" spc="-10" dirty="0">
                <a:solidFill>
                  <a:srgbClr val="0052CC"/>
                </a:solidFill>
                <a:latin typeface="Lato"/>
                <a:cs typeface="Lato"/>
              </a:rPr>
              <a:t>Agent ID, Full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Name</a:t>
            </a:r>
            <a:r>
              <a:rPr lang="en-IN" sz="1200" spc="-10" dirty="0">
                <a:solidFill>
                  <a:srgbClr val="0052CC"/>
                </a:solidFill>
                <a:latin typeface="Lato"/>
                <a:cs typeface="Lato"/>
              </a:rPr>
              <a:t>, Year of Birth, Month of Birth, Day of Birth</a:t>
            </a:r>
            <a:r>
              <a:rPr sz="1200" spc="-20" dirty="0">
                <a:solidFill>
                  <a:srgbClr val="0052CC"/>
                </a:solidFill>
                <a:latin typeface="Lato"/>
                <a:cs typeface="Lato"/>
              </a:rPr>
              <a:t>)</a:t>
            </a:r>
            <a:endParaRPr sz="1200" dirty="0">
              <a:latin typeface="Lato"/>
              <a:cs typeface="La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72203" y="2737876"/>
            <a:ext cx="2341880" cy="2160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55" dirty="0">
                <a:solidFill>
                  <a:srgbClr val="4A8FE2"/>
                </a:solidFill>
                <a:latin typeface="Arial"/>
                <a:cs typeface="Arial"/>
              </a:rPr>
              <a:t>Data</a:t>
            </a:r>
            <a:r>
              <a:rPr sz="1300" spc="-110" dirty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sz="1300" spc="-70" dirty="0">
                <a:solidFill>
                  <a:srgbClr val="4A8FE2"/>
                </a:solidFill>
                <a:latin typeface="Arial"/>
                <a:cs typeface="Arial"/>
              </a:rPr>
              <a:t>Cleaning</a:t>
            </a:r>
            <a:r>
              <a:rPr sz="1300" spc="-105" dirty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4A8FE2"/>
                </a:solidFill>
                <a:latin typeface="Arial"/>
                <a:cs typeface="Arial"/>
              </a:rPr>
              <a:t>&amp;</a:t>
            </a:r>
            <a:r>
              <a:rPr sz="1300" spc="-110" dirty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sz="1300" spc="-125" dirty="0">
                <a:solidFill>
                  <a:srgbClr val="4A8FE2"/>
                </a:solidFill>
                <a:latin typeface="Arial"/>
                <a:cs typeface="Arial"/>
              </a:rPr>
              <a:t>Preprocessing: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259871" y="322656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52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400803" y="3147451"/>
            <a:ext cx="49256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Fixed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spelling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inconsistencies:</a:t>
            </a:r>
            <a:r>
              <a:rPr sz="1200" spc="-4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"Mayor"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52CC"/>
                </a:solidFill>
                <a:latin typeface="Liberation Sans"/>
                <a:cs typeface="Liberation Sans"/>
              </a:rPr>
              <a:t>→</a:t>
            </a:r>
            <a:r>
              <a:rPr sz="1200" spc="-65" dirty="0">
                <a:solidFill>
                  <a:srgbClr val="0052CC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"Major",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"Mid"</a:t>
            </a:r>
            <a:r>
              <a:rPr sz="1200" spc="-4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52CC"/>
                </a:solidFill>
                <a:latin typeface="Liberation Sans"/>
                <a:cs typeface="Liberation Sans"/>
              </a:rPr>
              <a:t>→</a:t>
            </a:r>
            <a:r>
              <a:rPr sz="1200" spc="-70" dirty="0">
                <a:solidFill>
                  <a:srgbClr val="0052CC"/>
                </a:solidFill>
                <a:latin typeface="Liberation Sans"/>
                <a:cs typeface="Liberation Sans"/>
              </a:rPr>
              <a:t> </a:t>
            </a:r>
            <a:r>
              <a:rPr sz="1200" spc="-30" dirty="0">
                <a:solidFill>
                  <a:srgbClr val="0052CC"/>
                </a:solidFill>
                <a:latin typeface="Lato"/>
                <a:cs typeface="Lato"/>
              </a:rPr>
              <a:t>"Medium",</a:t>
            </a:r>
            <a:r>
              <a:rPr sz="1200" spc="-4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20" dirty="0">
                <a:solidFill>
                  <a:srgbClr val="0052CC"/>
                </a:solidFill>
                <a:latin typeface="Lato"/>
                <a:cs typeface="Lato"/>
              </a:rPr>
              <a:t>etc.</a:t>
            </a:r>
            <a:endParaRPr sz="1200">
              <a:latin typeface="Lato"/>
              <a:cs typeface="Lato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Confirmed</a:t>
            </a:r>
            <a:r>
              <a:rPr sz="1200" spc="-5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20" dirty="0">
                <a:solidFill>
                  <a:srgbClr val="0052CC"/>
                </a:solidFill>
                <a:latin typeface="Lato"/>
                <a:cs typeface="Lato"/>
              </a:rPr>
              <a:t>no</a:t>
            </a:r>
            <a:r>
              <a:rPr sz="1200" spc="-5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missing</a:t>
            </a:r>
            <a:r>
              <a:rPr sz="1200" spc="-5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values</a:t>
            </a:r>
            <a:r>
              <a:rPr sz="1200" spc="-5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in</a:t>
            </a:r>
            <a:r>
              <a:rPr sz="1200" spc="-5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any</a:t>
            </a:r>
            <a:r>
              <a:rPr sz="1200" spc="-5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column</a:t>
            </a:r>
            <a:endParaRPr sz="1200">
              <a:latin typeface="Lato"/>
              <a:cs typeface="Lat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259871" y="353136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52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82679" y="4201188"/>
            <a:ext cx="191643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80" dirty="0">
                <a:solidFill>
                  <a:srgbClr val="4A8FE2"/>
                </a:solidFill>
                <a:latin typeface="Segoe UI Symbol"/>
                <a:cs typeface="Segoe UI Symbol"/>
              </a:rPr>
              <a:t>🔍</a:t>
            </a:r>
            <a:r>
              <a:rPr sz="1400" spc="-135" dirty="0">
                <a:solidFill>
                  <a:srgbClr val="4A8FE2"/>
                </a:solidFill>
                <a:latin typeface="Segoe UI Symbol"/>
                <a:cs typeface="Segoe UI Symbol"/>
              </a:rPr>
              <a:t> </a:t>
            </a:r>
            <a:r>
              <a:rPr sz="1300" spc="-50" dirty="0">
                <a:solidFill>
                  <a:srgbClr val="4A8FE2"/>
                </a:solidFill>
                <a:latin typeface="Arial"/>
                <a:cs typeface="Arial"/>
              </a:rPr>
              <a:t>Why</a:t>
            </a:r>
            <a:r>
              <a:rPr sz="1300" spc="-110" dirty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sz="1300" spc="-75" dirty="0">
                <a:solidFill>
                  <a:srgbClr val="4A8FE2"/>
                </a:solidFill>
                <a:latin typeface="Arial"/>
                <a:cs typeface="Arial"/>
              </a:rPr>
              <a:t>This</a:t>
            </a:r>
            <a:r>
              <a:rPr sz="1300" spc="-110" dirty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4A8FE2"/>
                </a:solidFill>
                <a:latin typeface="Arial"/>
                <a:cs typeface="Arial"/>
              </a:rPr>
              <a:t>Data</a:t>
            </a:r>
            <a:r>
              <a:rPr sz="1300" spc="-105" dirty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4A8FE2"/>
                </a:solidFill>
                <a:latin typeface="Arial"/>
                <a:cs typeface="Arial"/>
              </a:rPr>
              <a:t>is</a:t>
            </a:r>
            <a:r>
              <a:rPr sz="1300" spc="-110" dirty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4A8FE2"/>
                </a:solidFill>
                <a:latin typeface="Arial"/>
                <a:cs typeface="Arial"/>
              </a:rPr>
              <a:t>Critical:</a:t>
            </a:r>
            <a:endParaRPr sz="13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62054" y="470918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52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11279" y="4610763"/>
            <a:ext cx="439039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Offers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full-cycle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visibility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from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ticket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assignment</a:t>
            </a:r>
            <a:r>
              <a:rPr sz="1200" spc="-4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to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resolution</a:t>
            </a:r>
            <a:endParaRPr sz="1200" dirty="0">
              <a:latin typeface="Lato"/>
              <a:cs typeface="Lato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Enables</a:t>
            </a:r>
            <a:r>
              <a:rPr sz="1200" spc="-4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agent-level</a:t>
            </a:r>
            <a:r>
              <a:rPr sz="1200" spc="-4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productivity</a:t>
            </a:r>
            <a:r>
              <a:rPr sz="1200" spc="-4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analysis</a:t>
            </a:r>
            <a:endParaRPr sz="1200" dirty="0">
              <a:latin typeface="Lato"/>
              <a:cs typeface="Lato"/>
            </a:endParaRPr>
          </a:p>
          <a:p>
            <a:pPr marL="12700" marR="5080">
              <a:lnSpc>
                <a:spcPct val="166700"/>
              </a:lnSpc>
            </a:pP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Identifies</a:t>
            </a:r>
            <a:r>
              <a:rPr sz="1200" spc="-1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bottlenecks,</a:t>
            </a:r>
            <a:r>
              <a:rPr sz="1200" spc="-1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underperformance,</a:t>
            </a:r>
            <a:r>
              <a:rPr sz="1200" spc="-1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and</a:t>
            </a:r>
            <a:r>
              <a:rPr sz="1200" spc="-1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satisfaction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 drivers Supports</a:t>
            </a:r>
            <a:r>
              <a:rPr sz="1200" spc="-5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KPIs</a:t>
            </a:r>
            <a:r>
              <a:rPr sz="1200" spc="-5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for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both</a:t>
            </a:r>
            <a:r>
              <a:rPr sz="1200" spc="-5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operational</a:t>
            </a:r>
            <a:r>
              <a:rPr sz="1200" spc="-5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and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strategic</a:t>
            </a:r>
            <a:r>
              <a:rPr sz="1200" spc="-5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planning</a:t>
            </a:r>
            <a:endParaRPr sz="1200" dirty="0">
              <a:latin typeface="Lato"/>
              <a:cs typeface="Lat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2054" y="501398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19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52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62054" y="531878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52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62054" y="562358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19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52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162673" y="4457065"/>
            <a:ext cx="2239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40" dirty="0">
                <a:solidFill>
                  <a:srgbClr val="4A8FE2"/>
                </a:solidFill>
                <a:latin typeface="Calibri"/>
                <a:cs typeface="Calibri"/>
              </a:rPr>
              <a:t>DATA</a:t>
            </a:r>
            <a:r>
              <a:rPr sz="1800" b="1" spc="114" dirty="0">
                <a:solidFill>
                  <a:srgbClr val="4A8FE2"/>
                </a:solidFill>
                <a:latin typeface="Calibri"/>
                <a:cs typeface="Calibri"/>
              </a:rPr>
              <a:t> </a:t>
            </a:r>
            <a:r>
              <a:rPr sz="1800" b="1" spc="240" dirty="0">
                <a:solidFill>
                  <a:srgbClr val="4A8FE2"/>
                </a:solidFill>
                <a:latin typeface="Calibri"/>
                <a:cs typeface="Calibri"/>
              </a:rPr>
              <a:t>ATTRIBUTES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162673" y="5015230"/>
            <a:ext cx="2800350" cy="1152525"/>
            <a:chOff x="6095999" y="5419724"/>
            <a:chExt cx="2800350" cy="1152525"/>
          </a:xfrm>
        </p:grpSpPr>
        <p:sp>
          <p:nvSpPr>
            <p:cNvPr id="34" name="object 34"/>
            <p:cNvSpPr/>
            <p:nvPr/>
          </p:nvSpPr>
          <p:spPr>
            <a:xfrm>
              <a:off x="6095999" y="5419724"/>
              <a:ext cx="2800350" cy="1152525"/>
            </a:xfrm>
            <a:custGeom>
              <a:avLst/>
              <a:gdLst/>
              <a:ahLst/>
              <a:cxnLst/>
              <a:rect l="l" t="t" r="r" b="b"/>
              <a:pathLst>
                <a:path w="2800350" h="1152525">
                  <a:moveTo>
                    <a:pt x="2800349" y="1152524"/>
                  </a:moveTo>
                  <a:lnTo>
                    <a:pt x="0" y="1152524"/>
                  </a:lnTo>
                  <a:lnTo>
                    <a:pt x="0" y="0"/>
                  </a:lnTo>
                  <a:lnTo>
                    <a:pt x="2800349" y="0"/>
                  </a:lnTo>
                  <a:lnTo>
                    <a:pt x="2800349" y="1152524"/>
                  </a:lnTo>
                  <a:close/>
                </a:path>
              </a:pathLst>
            </a:custGeom>
            <a:solidFill>
              <a:srgbClr val="E3F1FD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296012" y="5953137"/>
              <a:ext cx="47625" cy="428625"/>
            </a:xfrm>
            <a:custGeom>
              <a:avLst/>
              <a:gdLst/>
              <a:ahLst/>
              <a:cxnLst/>
              <a:rect l="l" t="t" r="r" b="b"/>
              <a:pathLst>
                <a:path w="47625" h="428625">
                  <a:moveTo>
                    <a:pt x="47625" y="401650"/>
                  </a:moveTo>
                  <a:lnTo>
                    <a:pt x="26974" y="380987"/>
                  </a:lnTo>
                  <a:lnTo>
                    <a:pt x="20662" y="380987"/>
                  </a:lnTo>
                  <a:lnTo>
                    <a:pt x="0" y="401650"/>
                  </a:lnTo>
                  <a:lnTo>
                    <a:pt x="0" y="407962"/>
                  </a:lnTo>
                  <a:lnTo>
                    <a:pt x="20662" y="428612"/>
                  </a:lnTo>
                  <a:lnTo>
                    <a:pt x="26974" y="428612"/>
                  </a:lnTo>
                  <a:lnTo>
                    <a:pt x="47625" y="407962"/>
                  </a:lnTo>
                  <a:lnTo>
                    <a:pt x="47625" y="404799"/>
                  </a:lnTo>
                  <a:lnTo>
                    <a:pt x="47625" y="401650"/>
                  </a:lnTo>
                  <a:close/>
                </a:path>
                <a:path w="47625" h="428625">
                  <a:moveTo>
                    <a:pt x="47625" y="211150"/>
                  </a:moveTo>
                  <a:lnTo>
                    <a:pt x="26974" y="190500"/>
                  </a:lnTo>
                  <a:lnTo>
                    <a:pt x="20662" y="190500"/>
                  </a:lnTo>
                  <a:lnTo>
                    <a:pt x="0" y="211150"/>
                  </a:lnTo>
                  <a:lnTo>
                    <a:pt x="0" y="217462"/>
                  </a:lnTo>
                  <a:lnTo>
                    <a:pt x="20662" y="238112"/>
                  </a:lnTo>
                  <a:lnTo>
                    <a:pt x="26974" y="238112"/>
                  </a:lnTo>
                  <a:lnTo>
                    <a:pt x="47625" y="217462"/>
                  </a:lnTo>
                  <a:lnTo>
                    <a:pt x="47625" y="214312"/>
                  </a:lnTo>
                  <a:lnTo>
                    <a:pt x="47625" y="211150"/>
                  </a:lnTo>
                  <a:close/>
                </a:path>
                <a:path w="47625" h="428625">
                  <a:moveTo>
                    <a:pt x="47625" y="20650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50"/>
                  </a:lnTo>
                  <a:lnTo>
                    <a:pt x="0" y="26962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62"/>
                  </a:lnTo>
                  <a:lnTo>
                    <a:pt x="47625" y="23812"/>
                  </a:lnTo>
                  <a:lnTo>
                    <a:pt x="47625" y="20650"/>
                  </a:lnTo>
                  <a:close/>
                </a:path>
              </a:pathLst>
            </a:custGeom>
            <a:solidFill>
              <a:srgbClr val="005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167436" y="5019993"/>
            <a:ext cx="2790825" cy="1143000"/>
          </a:xfrm>
          <a:prstGeom prst="rect">
            <a:avLst/>
          </a:prstGeom>
          <a:ln w="9524">
            <a:solidFill>
              <a:srgbClr val="4A8FE2"/>
            </a:solidFill>
          </a:ln>
        </p:spPr>
        <p:txBody>
          <a:bodyPr vert="horz" wrap="square" lIns="0" tIns="128270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1010"/>
              </a:spcBef>
            </a:pPr>
            <a:r>
              <a:rPr sz="1350" b="1" spc="145" dirty="0">
                <a:solidFill>
                  <a:srgbClr val="4A8FE2"/>
                </a:solidFill>
                <a:latin typeface="Calibri"/>
                <a:cs typeface="Calibri"/>
              </a:rPr>
              <a:t>TIME</a:t>
            </a:r>
            <a:r>
              <a:rPr sz="1350" b="1" spc="80" dirty="0">
                <a:solidFill>
                  <a:srgbClr val="4A8FE2"/>
                </a:solidFill>
                <a:latin typeface="Calibri"/>
                <a:cs typeface="Calibri"/>
              </a:rPr>
              <a:t> </a:t>
            </a:r>
            <a:r>
              <a:rPr sz="1350" b="1" spc="190" dirty="0">
                <a:solidFill>
                  <a:srgbClr val="4A8FE2"/>
                </a:solidFill>
                <a:latin typeface="Calibri"/>
                <a:cs typeface="Calibri"/>
              </a:rPr>
              <a:t>SPAN</a:t>
            </a:r>
            <a:endParaRPr sz="1350">
              <a:latin typeface="Calibri"/>
              <a:cs typeface="Calibri"/>
            </a:endParaRPr>
          </a:p>
          <a:p>
            <a:pPr marL="347345">
              <a:lnSpc>
                <a:spcPct val="100000"/>
              </a:lnSpc>
              <a:spcBef>
                <a:spcPts val="1005"/>
              </a:spcBef>
            </a:pPr>
            <a:r>
              <a:rPr sz="1050" spc="-10" dirty="0">
                <a:solidFill>
                  <a:srgbClr val="0052CC"/>
                </a:solidFill>
                <a:latin typeface="Lato"/>
                <a:cs typeface="Lato"/>
              </a:rPr>
              <a:t>5</a:t>
            </a:r>
            <a:r>
              <a:rPr sz="1050" spc="-3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spc="-10" dirty="0">
                <a:solidFill>
                  <a:srgbClr val="0052CC"/>
                </a:solidFill>
                <a:latin typeface="Lato"/>
                <a:cs typeface="Lato"/>
              </a:rPr>
              <a:t>Years</a:t>
            </a:r>
            <a:r>
              <a:rPr sz="1050" spc="-3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spc="-10" dirty="0">
                <a:solidFill>
                  <a:srgbClr val="0052CC"/>
                </a:solidFill>
                <a:latin typeface="Lato"/>
                <a:cs typeface="Lato"/>
              </a:rPr>
              <a:t>(2016-2020)</a:t>
            </a:r>
            <a:endParaRPr sz="1050">
              <a:latin typeface="Lato"/>
              <a:cs typeface="Lato"/>
            </a:endParaRPr>
          </a:p>
          <a:p>
            <a:pPr marL="347345">
              <a:lnSpc>
                <a:spcPct val="100000"/>
              </a:lnSpc>
              <a:spcBef>
                <a:spcPts val="240"/>
              </a:spcBef>
            </a:pPr>
            <a:r>
              <a:rPr sz="1050" spc="-10" dirty="0">
                <a:solidFill>
                  <a:srgbClr val="0052CC"/>
                </a:solidFill>
                <a:latin typeface="Lato"/>
                <a:cs typeface="Lato"/>
              </a:rPr>
              <a:t>20</a:t>
            </a:r>
            <a:r>
              <a:rPr sz="1050" spc="-6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spc="-10" dirty="0">
                <a:solidFill>
                  <a:srgbClr val="0052CC"/>
                </a:solidFill>
                <a:latin typeface="Lato"/>
                <a:cs typeface="Lato"/>
              </a:rPr>
              <a:t>Quarters</a:t>
            </a:r>
            <a:endParaRPr sz="1050">
              <a:latin typeface="Lato"/>
              <a:cs typeface="Lato"/>
            </a:endParaRPr>
          </a:p>
          <a:p>
            <a:pPr marL="347345">
              <a:lnSpc>
                <a:spcPct val="100000"/>
              </a:lnSpc>
              <a:spcBef>
                <a:spcPts val="240"/>
              </a:spcBef>
            </a:pPr>
            <a:r>
              <a:rPr sz="1050" dirty="0">
                <a:solidFill>
                  <a:srgbClr val="0052CC"/>
                </a:solidFill>
                <a:latin typeface="Lato"/>
                <a:cs typeface="Lato"/>
              </a:rPr>
              <a:t>Complete</a:t>
            </a:r>
            <a:r>
              <a:rPr sz="1050" spc="-6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dirty="0">
                <a:solidFill>
                  <a:srgbClr val="0052CC"/>
                </a:solidFill>
                <a:latin typeface="Lato"/>
                <a:cs typeface="Lato"/>
              </a:rPr>
              <a:t>data</a:t>
            </a:r>
            <a:r>
              <a:rPr sz="1050" spc="-5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spc="-10" dirty="0">
                <a:solidFill>
                  <a:srgbClr val="0052CC"/>
                </a:solidFill>
                <a:latin typeface="Lato"/>
                <a:cs typeface="Lato"/>
              </a:rPr>
              <a:t>lifecycle</a:t>
            </a:r>
            <a:endParaRPr sz="1050">
              <a:latin typeface="Lato"/>
              <a:cs typeface="Lato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077323" y="5015230"/>
            <a:ext cx="2800350" cy="1152525"/>
            <a:chOff x="9010649" y="5419724"/>
            <a:chExt cx="2800350" cy="1152525"/>
          </a:xfrm>
        </p:grpSpPr>
        <p:sp>
          <p:nvSpPr>
            <p:cNvPr id="38" name="object 38"/>
            <p:cNvSpPr/>
            <p:nvPr/>
          </p:nvSpPr>
          <p:spPr>
            <a:xfrm>
              <a:off x="9010649" y="5419724"/>
              <a:ext cx="2800350" cy="1152525"/>
            </a:xfrm>
            <a:custGeom>
              <a:avLst/>
              <a:gdLst/>
              <a:ahLst/>
              <a:cxnLst/>
              <a:rect l="l" t="t" r="r" b="b"/>
              <a:pathLst>
                <a:path w="2800350" h="1152525">
                  <a:moveTo>
                    <a:pt x="2800349" y="1152524"/>
                  </a:moveTo>
                  <a:lnTo>
                    <a:pt x="0" y="1152524"/>
                  </a:lnTo>
                  <a:lnTo>
                    <a:pt x="0" y="0"/>
                  </a:lnTo>
                  <a:lnTo>
                    <a:pt x="2800349" y="0"/>
                  </a:lnTo>
                  <a:lnTo>
                    <a:pt x="2800349" y="1152524"/>
                  </a:lnTo>
                  <a:close/>
                </a:path>
              </a:pathLst>
            </a:custGeom>
            <a:solidFill>
              <a:srgbClr val="E3F1FD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210662" y="5953137"/>
              <a:ext cx="47625" cy="428625"/>
            </a:xfrm>
            <a:custGeom>
              <a:avLst/>
              <a:gdLst/>
              <a:ahLst/>
              <a:cxnLst/>
              <a:rect l="l" t="t" r="r" b="b"/>
              <a:pathLst>
                <a:path w="47625" h="428625">
                  <a:moveTo>
                    <a:pt x="47625" y="401650"/>
                  </a:moveTo>
                  <a:lnTo>
                    <a:pt x="26974" y="380987"/>
                  </a:lnTo>
                  <a:lnTo>
                    <a:pt x="20662" y="380987"/>
                  </a:lnTo>
                  <a:lnTo>
                    <a:pt x="0" y="401650"/>
                  </a:lnTo>
                  <a:lnTo>
                    <a:pt x="0" y="407962"/>
                  </a:lnTo>
                  <a:lnTo>
                    <a:pt x="20662" y="428612"/>
                  </a:lnTo>
                  <a:lnTo>
                    <a:pt x="26974" y="428612"/>
                  </a:lnTo>
                  <a:lnTo>
                    <a:pt x="47625" y="407962"/>
                  </a:lnTo>
                  <a:lnTo>
                    <a:pt x="47625" y="404799"/>
                  </a:lnTo>
                  <a:lnTo>
                    <a:pt x="47625" y="401650"/>
                  </a:lnTo>
                  <a:close/>
                </a:path>
                <a:path w="47625" h="428625">
                  <a:moveTo>
                    <a:pt x="47625" y="211150"/>
                  </a:moveTo>
                  <a:lnTo>
                    <a:pt x="26974" y="190500"/>
                  </a:lnTo>
                  <a:lnTo>
                    <a:pt x="20662" y="190500"/>
                  </a:lnTo>
                  <a:lnTo>
                    <a:pt x="0" y="211150"/>
                  </a:lnTo>
                  <a:lnTo>
                    <a:pt x="0" y="217462"/>
                  </a:lnTo>
                  <a:lnTo>
                    <a:pt x="20662" y="238112"/>
                  </a:lnTo>
                  <a:lnTo>
                    <a:pt x="26974" y="238112"/>
                  </a:lnTo>
                  <a:lnTo>
                    <a:pt x="47625" y="217462"/>
                  </a:lnTo>
                  <a:lnTo>
                    <a:pt x="47625" y="214312"/>
                  </a:lnTo>
                  <a:lnTo>
                    <a:pt x="47625" y="211150"/>
                  </a:lnTo>
                  <a:close/>
                </a:path>
                <a:path w="47625" h="428625">
                  <a:moveTo>
                    <a:pt x="47625" y="20650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50"/>
                  </a:lnTo>
                  <a:lnTo>
                    <a:pt x="0" y="26962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62"/>
                  </a:lnTo>
                  <a:lnTo>
                    <a:pt x="47625" y="23812"/>
                  </a:lnTo>
                  <a:lnTo>
                    <a:pt x="47625" y="20650"/>
                  </a:lnTo>
                  <a:close/>
                </a:path>
              </a:pathLst>
            </a:custGeom>
            <a:solidFill>
              <a:srgbClr val="005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9082085" y="5019993"/>
            <a:ext cx="2790825" cy="1143000"/>
          </a:xfrm>
          <a:prstGeom prst="rect">
            <a:avLst/>
          </a:prstGeom>
          <a:ln w="9524">
            <a:solidFill>
              <a:srgbClr val="4A8FE2"/>
            </a:solidFill>
          </a:ln>
        </p:spPr>
        <p:txBody>
          <a:bodyPr vert="horz" wrap="square" lIns="0" tIns="128270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1010"/>
              </a:spcBef>
            </a:pPr>
            <a:r>
              <a:rPr sz="1350" b="1" spc="185" dirty="0">
                <a:solidFill>
                  <a:srgbClr val="4A8FE2"/>
                </a:solidFill>
                <a:latin typeface="Calibri"/>
                <a:cs typeface="Calibri"/>
              </a:rPr>
              <a:t>DATA</a:t>
            </a:r>
            <a:r>
              <a:rPr sz="1350" b="1" spc="85" dirty="0">
                <a:solidFill>
                  <a:srgbClr val="4A8FE2"/>
                </a:solidFill>
                <a:latin typeface="Calibri"/>
                <a:cs typeface="Calibri"/>
              </a:rPr>
              <a:t> </a:t>
            </a:r>
            <a:r>
              <a:rPr sz="1350" b="1" spc="165" dirty="0">
                <a:solidFill>
                  <a:srgbClr val="4A8FE2"/>
                </a:solidFill>
                <a:latin typeface="Calibri"/>
                <a:cs typeface="Calibri"/>
              </a:rPr>
              <a:t>QUALITY</a:t>
            </a:r>
            <a:endParaRPr sz="1350">
              <a:latin typeface="Calibri"/>
              <a:cs typeface="Calibri"/>
            </a:endParaRPr>
          </a:p>
          <a:p>
            <a:pPr marL="347345" marR="1029335">
              <a:lnSpc>
                <a:spcPct val="119000"/>
              </a:lnSpc>
              <a:spcBef>
                <a:spcPts val="765"/>
              </a:spcBef>
            </a:pPr>
            <a:r>
              <a:rPr sz="1050" spc="-20" dirty="0">
                <a:solidFill>
                  <a:srgbClr val="0052CC"/>
                </a:solidFill>
                <a:latin typeface="Lato"/>
                <a:cs typeface="Lato"/>
              </a:rPr>
              <a:t>No</a:t>
            </a:r>
            <a:r>
              <a:rPr sz="1050" spc="-6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dirty="0">
                <a:solidFill>
                  <a:srgbClr val="0052CC"/>
                </a:solidFill>
                <a:latin typeface="Lato"/>
                <a:cs typeface="Lato"/>
              </a:rPr>
              <a:t>missing</a:t>
            </a:r>
            <a:r>
              <a:rPr sz="1050" spc="-5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spc="-10" dirty="0">
                <a:solidFill>
                  <a:srgbClr val="0052CC"/>
                </a:solidFill>
                <a:latin typeface="Lato"/>
                <a:cs typeface="Lato"/>
              </a:rPr>
              <a:t>values </a:t>
            </a:r>
            <a:r>
              <a:rPr sz="1050" dirty="0">
                <a:solidFill>
                  <a:srgbClr val="0052CC"/>
                </a:solidFill>
                <a:latin typeface="Lato"/>
                <a:cs typeface="Lato"/>
              </a:rPr>
              <a:t>Standardized</a:t>
            </a:r>
            <a:r>
              <a:rPr sz="1050" spc="-3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spc="-10" dirty="0">
                <a:solidFill>
                  <a:srgbClr val="0052CC"/>
                </a:solidFill>
                <a:latin typeface="Lato"/>
                <a:cs typeface="Lato"/>
              </a:rPr>
              <a:t>categories </a:t>
            </a:r>
            <a:r>
              <a:rPr sz="1050" dirty="0">
                <a:solidFill>
                  <a:srgbClr val="0052CC"/>
                </a:solidFill>
                <a:latin typeface="Lato"/>
                <a:cs typeface="Lato"/>
              </a:rPr>
              <a:t>Consistent</a:t>
            </a:r>
            <a:r>
              <a:rPr sz="1050" spc="-3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050" spc="-10" dirty="0">
                <a:solidFill>
                  <a:srgbClr val="0052CC"/>
                </a:solidFill>
                <a:latin typeface="Lato"/>
                <a:cs typeface="Lato"/>
              </a:rPr>
              <a:t>naming</a:t>
            </a:r>
            <a:endParaRPr sz="1050">
              <a:latin typeface="Lato"/>
              <a:cs typeface="Lato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9207189" y="1078083"/>
            <a:ext cx="1200150" cy="1200150"/>
            <a:chOff x="9077323" y="1228724"/>
            <a:chExt cx="1200150" cy="1200150"/>
          </a:xfrm>
        </p:grpSpPr>
        <p:sp>
          <p:nvSpPr>
            <p:cNvPr id="43" name="object 43"/>
            <p:cNvSpPr/>
            <p:nvPr/>
          </p:nvSpPr>
          <p:spPr>
            <a:xfrm>
              <a:off x="9077323" y="1228724"/>
              <a:ext cx="1200150" cy="1200150"/>
            </a:xfrm>
            <a:custGeom>
              <a:avLst/>
              <a:gdLst/>
              <a:ahLst/>
              <a:cxnLst/>
              <a:rect l="l" t="t" r="r" b="b"/>
              <a:pathLst>
                <a:path w="1200150" h="1200150">
                  <a:moveTo>
                    <a:pt x="1158840" y="1200149"/>
                  </a:moveTo>
                  <a:lnTo>
                    <a:pt x="41309" y="1200149"/>
                  </a:lnTo>
                  <a:lnTo>
                    <a:pt x="35233" y="1198941"/>
                  </a:lnTo>
                  <a:lnTo>
                    <a:pt x="1208" y="1164915"/>
                  </a:lnTo>
                  <a:lnTo>
                    <a:pt x="0" y="1158840"/>
                  </a:lnTo>
                  <a:lnTo>
                    <a:pt x="0" y="1152524"/>
                  </a:lnTo>
                  <a:lnTo>
                    <a:pt x="0" y="41309"/>
                  </a:lnTo>
                  <a:lnTo>
                    <a:pt x="23564" y="6041"/>
                  </a:lnTo>
                  <a:lnTo>
                    <a:pt x="41309" y="0"/>
                  </a:lnTo>
                  <a:lnTo>
                    <a:pt x="1158840" y="0"/>
                  </a:lnTo>
                  <a:lnTo>
                    <a:pt x="1194107" y="23564"/>
                  </a:lnTo>
                  <a:lnTo>
                    <a:pt x="1200149" y="41309"/>
                  </a:lnTo>
                  <a:lnTo>
                    <a:pt x="1200149" y="1158840"/>
                  </a:lnTo>
                  <a:lnTo>
                    <a:pt x="1176584" y="1194107"/>
                  </a:lnTo>
                  <a:lnTo>
                    <a:pt x="1164915" y="1198941"/>
                  </a:lnTo>
                  <a:lnTo>
                    <a:pt x="1158840" y="12001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077323" y="1228724"/>
              <a:ext cx="1200150" cy="1200150"/>
            </a:xfrm>
            <a:custGeom>
              <a:avLst/>
              <a:gdLst/>
              <a:ahLst/>
              <a:cxnLst/>
              <a:rect l="l" t="t" r="r" b="b"/>
              <a:pathLst>
                <a:path w="1200150" h="1200150">
                  <a:moveTo>
                    <a:pt x="0" y="1152524"/>
                  </a:moveTo>
                  <a:lnTo>
                    <a:pt x="0" y="47624"/>
                  </a:lnTo>
                  <a:lnTo>
                    <a:pt x="0" y="41309"/>
                  </a:lnTo>
                  <a:lnTo>
                    <a:pt x="1208" y="35234"/>
                  </a:lnTo>
                  <a:lnTo>
                    <a:pt x="3624" y="29399"/>
                  </a:lnTo>
                  <a:lnTo>
                    <a:pt x="6041" y="23564"/>
                  </a:lnTo>
                  <a:lnTo>
                    <a:pt x="9483" y="18414"/>
                  </a:lnTo>
                  <a:lnTo>
                    <a:pt x="13949" y="13948"/>
                  </a:lnTo>
                  <a:lnTo>
                    <a:pt x="18414" y="9483"/>
                  </a:lnTo>
                  <a:lnTo>
                    <a:pt x="23564" y="6041"/>
                  </a:lnTo>
                  <a:lnTo>
                    <a:pt x="29399" y="3625"/>
                  </a:lnTo>
                  <a:lnTo>
                    <a:pt x="35233" y="1208"/>
                  </a:lnTo>
                  <a:lnTo>
                    <a:pt x="41309" y="0"/>
                  </a:lnTo>
                  <a:lnTo>
                    <a:pt x="47625" y="0"/>
                  </a:lnTo>
                  <a:lnTo>
                    <a:pt x="1152525" y="0"/>
                  </a:lnTo>
                  <a:lnTo>
                    <a:pt x="1158840" y="0"/>
                  </a:lnTo>
                  <a:lnTo>
                    <a:pt x="1164915" y="1208"/>
                  </a:lnTo>
                  <a:lnTo>
                    <a:pt x="1170749" y="3625"/>
                  </a:lnTo>
                  <a:lnTo>
                    <a:pt x="1176584" y="6041"/>
                  </a:lnTo>
                  <a:lnTo>
                    <a:pt x="1181735" y="9483"/>
                  </a:lnTo>
                  <a:lnTo>
                    <a:pt x="1186201" y="13948"/>
                  </a:lnTo>
                  <a:lnTo>
                    <a:pt x="1190667" y="18414"/>
                  </a:lnTo>
                  <a:lnTo>
                    <a:pt x="1194107" y="23564"/>
                  </a:lnTo>
                  <a:lnTo>
                    <a:pt x="1196523" y="29399"/>
                  </a:lnTo>
                  <a:lnTo>
                    <a:pt x="1198941" y="35234"/>
                  </a:lnTo>
                  <a:lnTo>
                    <a:pt x="1200149" y="41309"/>
                  </a:lnTo>
                  <a:lnTo>
                    <a:pt x="1200150" y="47624"/>
                  </a:lnTo>
                  <a:lnTo>
                    <a:pt x="1200150" y="1152524"/>
                  </a:lnTo>
                  <a:lnTo>
                    <a:pt x="1200149" y="1158840"/>
                  </a:lnTo>
                  <a:lnTo>
                    <a:pt x="1198941" y="1164915"/>
                  </a:lnTo>
                  <a:lnTo>
                    <a:pt x="1196523" y="1170749"/>
                  </a:lnTo>
                  <a:lnTo>
                    <a:pt x="1194107" y="1176584"/>
                  </a:lnTo>
                  <a:lnTo>
                    <a:pt x="1170749" y="1196524"/>
                  </a:lnTo>
                  <a:lnTo>
                    <a:pt x="1164915" y="1198941"/>
                  </a:lnTo>
                  <a:lnTo>
                    <a:pt x="1158840" y="1200149"/>
                  </a:lnTo>
                  <a:lnTo>
                    <a:pt x="1152525" y="1200149"/>
                  </a:lnTo>
                  <a:lnTo>
                    <a:pt x="47625" y="1200149"/>
                  </a:lnTo>
                  <a:lnTo>
                    <a:pt x="13949" y="1186200"/>
                  </a:lnTo>
                  <a:lnTo>
                    <a:pt x="9483" y="1181734"/>
                  </a:lnTo>
                  <a:lnTo>
                    <a:pt x="6041" y="1176584"/>
                  </a:lnTo>
                  <a:lnTo>
                    <a:pt x="3624" y="1170749"/>
                  </a:lnTo>
                  <a:lnTo>
                    <a:pt x="1208" y="1164915"/>
                  </a:lnTo>
                  <a:lnTo>
                    <a:pt x="0" y="1158840"/>
                  </a:lnTo>
                  <a:lnTo>
                    <a:pt x="0" y="1152524"/>
                  </a:lnTo>
                  <a:close/>
                </a:path>
              </a:pathLst>
            </a:custGeom>
            <a:ln w="19049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524999" y="1400174"/>
              <a:ext cx="300355" cy="342900"/>
            </a:xfrm>
            <a:custGeom>
              <a:avLst/>
              <a:gdLst/>
              <a:ahLst/>
              <a:cxnLst/>
              <a:rect l="l" t="t" r="r" b="b"/>
              <a:pathLst>
                <a:path w="300354" h="342900">
                  <a:moveTo>
                    <a:pt x="155647" y="171449"/>
                  </a:moveTo>
                  <a:lnTo>
                    <a:pt x="144389" y="171449"/>
                  </a:lnTo>
                  <a:lnTo>
                    <a:pt x="138815" y="170900"/>
                  </a:lnTo>
                  <a:lnTo>
                    <a:pt x="97712" y="153875"/>
                  </a:lnTo>
                  <a:lnTo>
                    <a:pt x="72973" y="123730"/>
                  </a:lnTo>
                  <a:lnTo>
                    <a:pt x="64293" y="91353"/>
                  </a:lnTo>
                  <a:lnTo>
                    <a:pt x="64293" y="80096"/>
                  </a:lnTo>
                  <a:lnTo>
                    <a:pt x="75613" y="42778"/>
                  </a:lnTo>
                  <a:lnTo>
                    <a:pt x="107072" y="11320"/>
                  </a:lnTo>
                  <a:lnTo>
                    <a:pt x="144389" y="0"/>
                  </a:lnTo>
                  <a:lnTo>
                    <a:pt x="155647" y="0"/>
                  </a:lnTo>
                  <a:lnTo>
                    <a:pt x="192964" y="11320"/>
                  </a:lnTo>
                  <a:lnTo>
                    <a:pt x="224423" y="42778"/>
                  </a:lnTo>
                  <a:lnTo>
                    <a:pt x="235743" y="80096"/>
                  </a:lnTo>
                  <a:lnTo>
                    <a:pt x="235743" y="91353"/>
                  </a:lnTo>
                  <a:lnTo>
                    <a:pt x="224423" y="128671"/>
                  </a:lnTo>
                  <a:lnTo>
                    <a:pt x="192964" y="160129"/>
                  </a:lnTo>
                  <a:lnTo>
                    <a:pt x="155647" y="171449"/>
                  </a:lnTo>
                  <a:close/>
                </a:path>
                <a:path w="300354" h="342900">
                  <a:moveTo>
                    <a:pt x="182299" y="323544"/>
                  </a:moveTo>
                  <a:lnTo>
                    <a:pt x="117737" y="323544"/>
                  </a:lnTo>
                  <a:lnTo>
                    <a:pt x="140039" y="240565"/>
                  </a:lnTo>
                  <a:lnTo>
                    <a:pt x="130797" y="225162"/>
                  </a:lnTo>
                  <a:lnTo>
                    <a:pt x="127609" y="219737"/>
                  </a:lnTo>
                  <a:lnTo>
                    <a:pt x="125466" y="216187"/>
                  </a:lnTo>
                  <a:lnTo>
                    <a:pt x="123401" y="212638"/>
                  </a:lnTo>
                  <a:lnTo>
                    <a:pt x="128520" y="203596"/>
                  </a:lnTo>
                  <a:lnTo>
                    <a:pt x="171583" y="203596"/>
                  </a:lnTo>
                  <a:lnTo>
                    <a:pt x="176740" y="212638"/>
                  </a:lnTo>
                  <a:lnTo>
                    <a:pt x="159997" y="240565"/>
                  </a:lnTo>
                  <a:lnTo>
                    <a:pt x="182299" y="323544"/>
                  </a:lnTo>
                  <a:close/>
                </a:path>
                <a:path w="300354" h="342900">
                  <a:moveTo>
                    <a:pt x="279476" y="342899"/>
                  </a:moveTo>
                  <a:lnTo>
                    <a:pt x="20560" y="342899"/>
                  </a:lnTo>
                  <a:lnTo>
                    <a:pt x="12559" y="341279"/>
                  </a:lnTo>
                  <a:lnTo>
                    <a:pt x="6018" y="336864"/>
                  </a:lnTo>
                  <a:lnTo>
                    <a:pt x="1615" y="330326"/>
                  </a:lnTo>
                  <a:lnTo>
                    <a:pt x="0" y="322339"/>
                  </a:lnTo>
                  <a:lnTo>
                    <a:pt x="6163" y="286289"/>
                  </a:lnTo>
                  <a:lnTo>
                    <a:pt x="23239" y="255400"/>
                  </a:lnTo>
                  <a:lnTo>
                    <a:pt x="49105" y="231794"/>
                  </a:lnTo>
                  <a:lnTo>
                    <a:pt x="81639" y="217594"/>
                  </a:lnTo>
                  <a:lnTo>
                    <a:pt x="87064" y="216187"/>
                  </a:lnTo>
                  <a:lnTo>
                    <a:pt x="92288" y="219737"/>
                  </a:lnTo>
                  <a:lnTo>
                    <a:pt x="117737" y="323544"/>
                  </a:lnTo>
                  <a:lnTo>
                    <a:pt x="299794" y="323544"/>
                  </a:lnTo>
                  <a:lnTo>
                    <a:pt x="298425" y="330326"/>
                  </a:lnTo>
                  <a:lnTo>
                    <a:pt x="294026" y="336864"/>
                  </a:lnTo>
                  <a:lnTo>
                    <a:pt x="287492" y="341279"/>
                  </a:lnTo>
                  <a:lnTo>
                    <a:pt x="279476" y="342899"/>
                  </a:lnTo>
                  <a:close/>
                </a:path>
                <a:path w="300354" h="342900">
                  <a:moveTo>
                    <a:pt x="299794" y="323544"/>
                  </a:moveTo>
                  <a:lnTo>
                    <a:pt x="182299" y="323544"/>
                  </a:lnTo>
                  <a:lnTo>
                    <a:pt x="206409" y="225162"/>
                  </a:lnTo>
                  <a:lnTo>
                    <a:pt x="207847" y="219737"/>
                  </a:lnTo>
                  <a:lnTo>
                    <a:pt x="213071" y="216187"/>
                  </a:lnTo>
                  <a:lnTo>
                    <a:pt x="212701" y="216187"/>
                  </a:lnTo>
                  <a:lnTo>
                    <a:pt x="250931" y="231794"/>
                  </a:lnTo>
                  <a:lnTo>
                    <a:pt x="293873" y="286289"/>
                  </a:lnTo>
                  <a:lnTo>
                    <a:pt x="300037" y="322339"/>
                  </a:lnTo>
                  <a:lnTo>
                    <a:pt x="299794" y="32354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7749865" y="1068558"/>
            <a:ext cx="1219200" cy="1219200"/>
            <a:chOff x="7619999" y="1219199"/>
            <a:chExt cx="1219200" cy="1219200"/>
          </a:xfrm>
        </p:grpSpPr>
        <p:sp>
          <p:nvSpPr>
            <p:cNvPr id="48" name="object 48"/>
            <p:cNvSpPr/>
            <p:nvPr/>
          </p:nvSpPr>
          <p:spPr>
            <a:xfrm>
              <a:off x="7629524" y="1228724"/>
              <a:ext cx="1200150" cy="1200150"/>
            </a:xfrm>
            <a:custGeom>
              <a:avLst/>
              <a:gdLst/>
              <a:ahLst/>
              <a:cxnLst/>
              <a:rect l="l" t="t" r="r" b="b"/>
              <a:pathLst>
                <a:path w="1200150" h="1200150">
                  <a:moveTo>
                    <a:pt x="1158840" y="1200149"/>
                  </a:moveTo>
                  <a:lnTo>
                    <a:pt x="41308" y="1200149"/>
                  </a:lnTo>
                  <a:lnTo>
                    <a:pt x="35233" y="1198941"/>
                  </a:lnTo>
                  <a:lnTo>
                    <a:pt x="1208" y="1164915"/>
                  </a:lnTo>
                  <a:lnTo>
                    <a:pt x="0" y="1158840"/>
                  </a:lnTo>
                  <a:lnTo>
                    <a:pt x="0" y="1152524"/>
                  </a:lnTo>
                  <a:lnTo>
                    <a:pt x="0" y="41309"/>
                  </a:lnTo>
                  <a:lnTo>
                    <a:pt x="23563" y="6041"/>
                  </a:lnTo>
                  <a:lnTo>
                    <a:pt x="41308" y="0"/>
                  </a:lnTo>
                  <a:lnTo>
                    <a:pt x="1158840" y="0"/>
                  </a:lnTo>
                  <a:lnTo>
                    <a:pt x="1194107" y="23564"/>
                  </a:lnTo>
                  <a:lnTo>
                    <a:pt x="1200149" y="41309"/>
                  </a:lnTo>
                  <a:lnTo>
                    <a:pt x="1200149" y="1158840"/>
                  </a:lnTo>
                  <a:lnTo>
                    <a:pt x="1176584" y="1194107"/>
                  </a:lnTo>
                  <a:lnTo>
                    <a:pt x="1164914" y="1198941"/>
                  </a:lnTo>
                  <a:lnTo>
                    <a:pt x="1158840" y="12001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629524" y="1228724"/>
              <a:ext cx="1200150" cy="1200150"/>
            </a:xfrm>
            <a:custGeom>
              <a:avLst/>
              <a:gdLst/>
              <a:ahLst/>
              <a:cxnLst/>
              <a:rect l="l" t="t" r="r" b="b"/>
              <a:pathLst>
                <a:path w="1200150" h="1200150">
                  <a:moveTo>
                    <a:pt x="0" y="1152524"/>
                  </a:moveTo>
                  <a:lnTo>
                    <a:pt x="0" y="47624"/>
                  </a:lnTo>
                  <a:lnTo>
                    <a:pt x="0" y="41309"/>
                  </a:lnTo>
                  <a:lnTo>
                    <a:pt x="1208" y="35234"/>
                  </a:lnTo>
                  <a:lnTo>
                    <a:pt x="3624" y="29399"/>
                  </a:lnTo>
                  <a:lnTo>
                    <a:pt x="6041" y="23564"/>
                  </a:lnTo>
                  <a:lnTo>
                    <a:pt x="9482" y="18414"/>
                  </a:lnTo>
                  <a:lnTo>
                    <a:pt x="13948" y="13948"/>
                  </a:lnTo>
                  <a:lnTo>
                    <a:pt x="18414" y="9483"/>
                  </a:lnTo>
                  <a:lnTo>
                    <a:pt x="23563" y="6041"/>
                  </a:lnTo>
                  <a:lnTo>
                    <a:pt x="29398" y="3625"/>
                  </a:lnTo>
                  <a:lnTo>
                    <a:pt x="35233" y="1208"/>
                  </a:lnTo>
                  <a:lnTo>
                    <a:pt x="41308" y="0"/>
                  </a:lnTo>
                  <a:lnTo>
                    <a:pt x="47624" y="0"/>
                  </a:lnTo>
                  <a:lnTo>
                    <a:pt x="1152524" y="0"/>
                  </a:lnTo>
                  <a:lnTo>
                    <a:pt x="1158840" y="0"/>
                  </a:lnTo>
                  <a:lnTo>
                    <a:pt x="1164914" y="1208"/>
                  </a:lnTo>
                  <a:lnTo>
                    <a:pt x="1170749" y="3625"/>
                  </a:lnTo>
                  <a:lnTo>
                    <a:pt x="1176584" y="6041"/>
                  </a:lnTo>
                  <a:lnTo>
                    <a:pt x="1196523" y="29399"/>
                  </a:lnTo>
                  <a:lnTo>
                    <a:pt x="1198940" y="35234"/>
                  </a:lnTo>
                  <a:lnTo>
                    <a:pt x="1200149" y="41309"/>
                  </a:lnTo>
                  <a:lnTo>
                    <a:pt x="1200149" y="47624"/>
                  </a:lnTo>
                  <a:lnTo>
                    <a:pt x="1200149" y="1152524"/>
                  </a:lnTo>
                  <a:lnTo>
                    <a:pt x="1200149" y="1158840"/>
                  </a:lnTo>
                  <a:lnTo>
                    <a:pt x="1198940" y="1164915"/>
                  </a:lnTo>
                  <a:lnTo>
                    <a:pt x="1196523" y="1170749"/>
                  </a:lnTo>
                  <a:lnTo>
                    <a:pt x="1194107" y="1176584"/>
                  </a:lnTo>
                  <a:lnTo>
                    <a:pt x="1170749" y="1196524"/>
                  </a:lnTo>
                  <a:lnTo>
                    <a:pt x="1164914" y="1198941"/>
                  </a:lnTo>
                  <a:lnTo>
                    <a:pt x="1158840" y="1200149"/>
                  </a:lnTo>
                  <a:lnTo>
                    <a:pt x="1152524" y="1200149"/>
                  </a:lnTo>
                  <a:lnTo>
                    <a:pt x="47624" y="1200149"/>
                  </a:lnTo>
                  <a:lnTo>
                    <a:pt x="13948" y="1186200"/>
                  </a:lnTo>
                  <a:lnTo>
                    <a:pt x="9482" y="1181734"/>
                  </a:lnTo>
                  <a:lnTo>
                    <a:pt x="6041" y="1176584"/>
                  </a:lnTo>
                  <a:lnTo>
                    <a:pt x="3624" y="1170749"/>
                  </a:lnTo>
                  <a:lnTo>
                    <a:pt x="1208" y="1164915"/>
                  </a:lnTo>
                  <a:lnTo>
                    <a:pt x="0" y="1158840"/>
                  </a:lnTo>
                  <a:lnTo>
                    <a:pt x="0" y="1152524"/>
                  </a:lnTo>
                  <a:close/>
                </a:path>
              </a:pathLst>
            </a:custGeom>
            <a:ln w="19049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039099" y="1443037"/>
              <a:ext cx="386080" cy="257175"/>
            </a:xfrm>
            <a:custGeom>
              <a:avLst/>
              <a:gdLst/>
              <a:ahLst/>
              <a:cxnLst/>
              <a:rect l="l" t="t" r="r" b="b"/>
              <a:pathLst>
                <a:path w="386079" h="257175">
                  <a:moveTo>
                    <a:pt x="342899" y="257174"/>
                  </a:moveTo>
                  <a:lnTo>
                    <a:pt x="42862" y="257174"/>
                  </a:lnTo>
                  <a:lnTo>
                    <a:pt x="26191" y="253802"/>
                  </a:lnTo>
                  <a:lnTo>
                    <a:pt x="12565" y="244609"/>
                  </a:lnTo>
                  <a:lnTo>
                    <a:pt x="3372" y="230983"/>
                  </a:lnTo>
                  <a:lnTo>
                    <a:pt x="0" y="214312"/>
                  </a:lnTo>
                  <a:lnTo>
                    <a:pt x="0" y="165556"/>
                  </a:lnTo>
                  <a:lnTo>
                    <a:pt x="4955" y="160935"/>
                  </a:lnTo>
                  <a:lnTo>
                    <a:pt x="10514" y="158993"/>
                  </a:lnTo>
                  <a:lnTo>
                    <a:pt x="19206" y="154383"/>
                  </a:lnTo>
                  <a:lnTo>
                    <a:pt x="26052" y="147431"/>
                  </a:lnTo>
                  <a:lnTo>
                    <a:pt x="30537" y="138659"/>
                  </a:lnTo>
                  <a:lnTo>
                    <a:pt x="32146" y="128587"/>
                  </a:lnTo>
                  <a:lnTo>
                    <a:pt x="30537" y="118515"/>
                  </a:lnTo>
                  <a:lnTo>
                    <a:pt x="26052" y="109743"/>
                  </a:lnTo>
                  <a:lnTo>
                    <a:pt x="19206" y="102791"/>
                  </a:lnTo>
                  <a:lnTo>
                    <a:pt x="10514" y="98181"/>
                  </a:lnTo>
                  <a:lnTo>
                    <a:pt x="4955" y="96239"/>
                  </a:lnTo>
                  <a:lnTo>
                    <a:pt x="0" y="91618"/>
                  </a:lnTo>
                  <a:lnTo>
                    <a:pt x="0" y="42862"/>
                  </a:lnTo>
                  <a:lnTo>
                    <a:pt x="3372" y="26191"/>
                  </a:lnTo>
                  <a:lnTo>
                    <a:pt x="12565" y="12565"/>
                  </a:lnTo>
                  <a:lnTo>
                    <a:pt x="26191" y="3372"/>
                  </a:lnTo>
                  <a:lnTo>
                    <a:pt x="42862" y="0"/>
                  </a:lnTo>
                  <a:lnTo>
                    <a:pt x="342899" y="0"/>
                  </a:lnTo>
                  <a:lnTo>
                    <a:pt x="359570" y="3372"/>
                  </a:lnTo>
                  <a:lnTo>
                    <a:pt x="373196" y="12565"/>
                  </a:lnTo>
                  <a:lnTo>
                    <a:pt x="382389" y="26191"/>
                  </a:lnTo>
                  <a:lnTo>
                    <a:pt x="385762" y="42862"/>
                  </a:lnTo>
                  <a:lnTo>
                    <a:pt x="385762" y="91618"/>
                  </a:lnTo>
                  <a:lnTo>
                    <a:pt x="380806" y="96239"/>
                  </a:lnTo>
                  <a:lnTo>
                    <a:pt x="375247" y="98181"/>
                  </a:lnTo>
                  <a:lnTo>
                    <a:pt x="366555" y="102791"/>
                  </a:lnTo>
                  <a:lnTo>
                    <a:pt x="359710" y="109743"/>
                  </a:lnTo>
                  <a:lnTo>
                    <a:pt x="355225" y="118515"/>
                  </a:lnTo>
                  <a:lnTo>
                    <a:pt x="353615" y="128587"/>
                  </a:lnTo>
                  <a:lnTo>
                    <a:pt x="355225" y="138659"/>
                  </a:lnTo>
                  <a:lnTo>
                    <a:pt x="359710" y="147431"/>
                  </a:lnTo>
                  <a:lnTo>
                    <a:pt x="366555" y="154383"/>
                  </a:lnTo>
                  <a:lnTo>
                    <a:pt x="375247" y="158993"/>
                  </a:lnTo>
                  <a:lnTo>
                    <a:pt x="380806" y="160935"/>
                  </a:lnTo>
                  <a:lnTo>
                    <a:pt x="385762" y="165556"/>
                  </a:lnTo>
                  <a:lnTo>
                    <a:pt x="385762" y="214312"/>
                  </a:lnTo>
                  <a:lnTo>
                    <a:pt x="382389" y="230983"/>
                  </a:lnTo>
                  <a:lnTo>
                    <a:pt x="373196" y="244609"/>
                  </a:lnTo>
                  <a:lnTo>
                    <a:pt x="359570" y="253802"/>
                  </a:lnTo>
                  <a:lnTo>
                    <a:pt x="342899" y="25717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7903258" y="1634860"/>
            <a:ext cx="912494" cy="464184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65"/>
              </a:spcBef>
            </a:pPr>
            <a:r>
              <a:rPr sz="1300" spc="-10" dirty="0">
                <a:solidFill>
                  <a:srgbClr val="2562EB"/>
                </a:solidFill>
                <a:latin typeface="Lato"/>
                <a:cs typeface="Lato"/>
              </a:rPr>
              <a:t>Tickets</a:t>
            </a:r>
            <a:endParaRPr sz="1300" dirty="0">
              <a:latin typeface="Lato"/>
              <a:cs typeface="Lato"/>
            </a:endParaRPr>
          </a:p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1050" spc="-10" dirty="0">
                <a:solidFill>
                  <a:srgbClr val="3B81F5"/>
                </a:solidFill>
                <a:latin typeface="Lato"/>
                <a:cs typeface="Lato"/>
              </a:rPr>
              <a:t>97,498</a:t>
            </a:r>
            <a:r>
              <a:rPr sz="1050" spc="-60" dirty="0">
                <a:solidFill>
                  <a:srgbClr val="3B81F5"/>
                </a:solidFill>
                <a:latin typeface="Lato"/>
                <a:cs typeface="Lato"/>
              </a:rPr>
              <a:t> </a:t>
            </a:r>
            <a:endParaRPr sz="1050" dirty="0">
              <a:latin typeface="Lato"/>
              <a:cs typeface="Lato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481133" y="1634860"/>
            <a:ext cx="652145" cy="464184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65"/>
              </a:spcBef>
            </a:pPr>
            <a:r>
              <a:rPr sz="1300" spc="-10" dirty="0">
                <a:solidFill>
                  <a:srgbClr val="2562EB"/>
                </a:solidFill>
                <a:latin typeface="Lato"/>
                <a:cs typeface="Lato"/>
              </a:rPr>
              <a:t>Agents</a:t>
            </a:r>
            <a:endParaRPr sz="1300" dirty="0">
              <a:latin typeface="Lato"/>
              <a:cs typeface="Lato"/>
            </a:endParaRPr>
          </a:p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1050" spc="-10" dirty="0">
                <a:solidFill>
                  <a:srgbClr val="3B81F5"/>
                </a:solidFill>
                <a:latin typeface="Lato"/>
                <a:cs typeface="Lato"/>
              </a:rPr>
              <a:t>50</a:t>
            </a:r>
            <a:r>
              <a:rPr sz="1050" spc="-65" dirty="0">
                <a:solidFill>
                  <a:srgbClr val="3B81F5"/>
                </a:solidFill>
                <a:latin typeface="Lato"/>
                <a:cs typeface="Lato"/>
              </a:rPr>
              <a:t> </a:t>
            </a:r>
            <a:endParaRPr sz="1050" dirty="0">
              <a:latin typeface="Lato"/>
              <a:cs typeface="Lato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2044905" y="6648134"/>
            <a:ext cx="114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52CC"/>
                </a:solidFill>
                <a:latin typeface="Lato"/>
                <a:cs typeface="Lato"/>
              </a:rPr>
              <a:t>3</a:t>
            </a:r>
            <a:endParaRPr sz="1200" dirty="0">
              <a:latin typeface="Lato"/>
              <a:cs typeface="Lato"/>
            </a:endParaRPr>
          </a:p>
        </p:txBody>
      </p:sp>
      <p:sp>
        <p:nvSpPr>
          <p:cNvPr id="46" name="object 39">
            <a:extLst>
              <a:ext uri="{FF2B5EF4-FFF2-40B4-BE49-F238E27FC236}">
                <a16:creationId xmlns:a16="http://schemas.microsoft.com/office/drawing/2014/main" id="{CE9E8456-1F50-4910-AA45-D83ACAF0DDA3}"/>
              </a:ext>
            </a:extLst>
          </p:cNvPr>
          <p:cNvSpPr/>
          <p:nvPr/>
        </p:nvSpPr>
        <p:spPr>
          <a:xfrm>
            <a:off x="9207189" y="0"/>
            <a:ext cx="2973070" cy="2496820"/>
          </a:xfrm>
          <a:custGeom>
            <a:avLst/>
            <a:gdLst/>
            <a:ahLst/>
            <a:cxnLst/>
            <a:rect l="l" t="t" r="r" b="b"/>
            <a:pathLst>
              <a:path w="2973070" h="2496820">
                <a:moveTo>
                  <a:pt x="2020557" y="2496807"/>
                </a:moveTo>
                <a:lnTo>
                  <a:pt x="0" y="476250"/>
                </a:lnTo>
                <a:lnTo>
                  <a:pt x="476250" y="0"/>
                </a:lnTo>
                <a:lnTo>
                  <a:pt x="2973057" y="0"/>
                </a:lnTo>
                <a:lnTo>
                  <a:pt x="2973057" y="1544307"/>
                </a:lnTo>
                <a:lnTo>
                  <a:pt x="2020557" y="2496807"/>
                </a:lnTo>
                <a:close/>
              </a:path>
            </a:pathLst>
          </a:custGeom>
          <a:solidFill>
            <a:srgbClr val="4A8FE2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39">
            <a:extLst>
              <a:ext uri="{FF2B5EF4-FFF2-40B4-BE49-F238E27FC236}">
                <a16:creationId xmlns:a16="http://schemas.microsoft.com/office/drawing/2014/main" id="{5918D49C-DABE-463E-B448-1763D4E4A5D5}"/>
              </a:ext>
            </a:extLst>
          </p:cNvPr>
          <p:cNvSpPr/>
          <p:nvPr/>
        </p:nvSpPr>
        <p:spPr>
          <a:xfrm rot="10800000">
            <a:off x="0" y="4335015"/>
            <a:ext cx="2973070" cy="2496820"/>
          </a:xfrm>
          <a:custGeom>
            <a:avLst/>
            <a:gdLst/>
            <a:ahLst/>
            <a:cxnLst/>
            <a:rect l="l" t="t" r="r" b="b"/>
            <a:pathLst>
              <a:path w="2973070" h="2496820">
                <a:moveTo>
                  <a:pt x="2020557" y="2496807"/>
                </a:moveTo>
                <a:lnTo>
                  <a:pt x="0" y="476250"/>
                </a:lnTo>
                <a:lnTo>
                  <a:pt x="476250" y="0"/>
                </a:lnTo>
                <a:lnTo>
                  <a:pt x="2973057" y="0"/>
                </a:lnTo>
                <a:lnTo>
                  <a:pt x="2973057" y="1544307"/>
                </a:lnTo>
                <a:lnTo>
                  <a:pt x="2020557" y="2496807"/>
                </a:lnTo>
                <a:close/>
              </a:path>
            </a:pathLst>
          </a:custGeom>
          <a:solidFill>
            <a:srgbClr val="4A8FE2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299" y="349250"/>
            <a:ext cx="29229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5" dirty="0">
                <a:solidFill>
                  <a:srgbClr val="0052CC"/>
                </a:solidFill>
              </a:rPr>
              <a:t>METHODOLOGY</a:t>
            </a:r>
          </a:p>
        </p:txBody>
      </p:sp>
      <p:sp>
        <p:nvSpPr>
          <p:cNvPr id="3" name="object 3"/>
          <p:cNvSpPr/>
          <p:nvPr/>
        </p:nvSpPr>
        <p:spPr>
          <a:xfrm>
            <a:off x="380999" y="904874"/>
            <a:ext cx="571500" cy="38100"/>
          </a:xfrm>
          <a:custGeom>
            <a:avLst/>
            <a:gdLst/>
            <a:ahLst/>
            <a:cxnLst/>
            <a:rect l="l" t="t" r="r" b="b"/>
            <a:pathLst>
              <a:path w="571500" h="38100">
                <a:moveTo>
                  <a:pt x="571499" y="38099"/>
                </a:moveTo>
                <a:lnTo>
                  <a:pt x="0" y="38099"/>
                </a:lnTo>
                <a:lnTo>
                  <a:pt x="0" y="0"/>
                </a:lnTo>
                <a:lnTo>
                  <a:pt x="571499" y="0"/>
                </a:lnTo>
                <a:lnTo>
                  <a:pt x="571499" y="38099"/>
                </a:lnTo>
                <a:close/>
              </a:path>
            </a:pathLst>
          </a:custGeom>
          <a:solidFill>
            <a:srgbClr val="4A8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71111" y="2058446"/>
            <a:ext cx="5410200" cy="609600"/>
            <a:chOff x="380999" y="1933574"/>
            <a:chExt cx="5410200" cy="609600"/>
          </a:xfrm>
        </p:grpSpPr>
        <p:sp>
          <p:nvSpPr>
            <p:cNvPr id="5" name="object 5"/>
            <p:cNvSpPr/>
            <p:nvPr/>
          </p:nvSpPr>
          <p:spPr>
            <a:xfrm>
              <a:off x="380999" y="1933574"/>
              <a:ext cx="5410200" cy="609600"/>
            </a:xfrm>
            <a:custGeom>
              <a:avLst/>
              <a:gdLst/>
              <a:ahLst/>
              <a:cxnLst/>
              <a:rect l="l" t="t" r="r" b="b"/>
              <a:pathLst>
                <a:path w="5410200" h="609600">
                  <a:moveTo>
                    <a:pt x="5410199" y="609599"/>
                  </a:moveTo>
                  <a:lnTo>
                    <a:pt x="0" y="609599"/>
                  </a:lnTo>
                  <a:lnTo>
                    <a:pt x="0" y="0"/>
                  </a:lnTo>
                  <a:lnTo>
                    <a:pt x="5410199" y="0"/>
                  </a:lnTo>
                  <a:lnTo>
                    <a:pt x="5410199" y="609599"/>
                  </a:lnTo>
                  <a:close/>
                </a:path>
              </a:pathLst>
            </a:custGeom>
            <a:solidFill>
              <a:srgbClr val="E3F1FD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0999" y="1933574"/>
              <a:ext cx="28575" cy="609600"/>
            </a:xfrm>
            <a:custGeom>
              <a:avLst/>
              <a:gdLst/>
              <a:ahLst/>
              <a:cxnLst/>
              <a:rect l="l" t="t" r="r" b="b"/>
              <a:pathLst>
                <a:path w="28575" h="609600">
                  <a:moveTo>
                    <a:pt x="28574" y="609599"/>
                  </a:moveTo>
                  <a:lnTo>
                    <a:pt x="0" y="6095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609599"/>
                  </a:lnTo>
                  <a:close/>
                </a:path>
              </a:pathLst>
            </a:custGeom>
            <a:solidFill>
              <a:srgbClr val="4A8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71111" y="2820446"/>
            <a:ext cx="5410200" cy="381000"/>
            <a:chOff x="380999" y="2695574"/>
            <a:chExt cx="5410200" cy="381000"/>
          </a:xfrm>
        </p:grpSpPr>
        <p:sp>
          <p:nvSpPr>
            <p:cNvPr id="8" name="object 8"/>
            <p:cNvSpPr/>
            <p:nvPr/>
          </p:nvSpPr>
          <p:spPr>
            <a:xfrm>
              <a:off x="380999" y="2695574"/>
              <a:ext cx="5410200" cy="381000"/>
            </a:xfrm>
            <a:custGeom>
              <a:avLst/>
              <a:gdLst/>
              <a:ahLst/>
              <a:cxnLst/>
              <a:rect l="l" t="t" r="r" b="b"/>
              <a:pathLst>
                <a:path w="5410200" h="381000">
                  <a:moveTo>
                    <a:pt x="54101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5410199" y="0"/>
                  </a:lnTo>
                  <a:lnTo>
                    <a:pt x="5410199" y="380999"/>
                  </a:lnTo>
                  <a:close/>
                </a:path>
              </a:pathLst>
            </a:custGeom>
            <a:solidFill>
              <a:srgbClr val="E3F1FD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0999" y="2695574"/>
              <a:ext cx="28575" cy="381000"/>
            </a:xfrm>
            <a:custGeom>
              <a:avLst/>
              <a:gdLst/>
              <a:ahLst/>
              <a:cxnLst/>
              <a:rect l="l" t="t" r="r" b="b"/>
              <a:pathLst>
                <a:path w="28575" h="381000">
                  <a:moveTo>
                    <a:pt x="28574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80999"/>
                  </a:lnTo>
                  <a:close/>
                </a:path>
              </a:pathLst>
            </a:custGeom>
            <a:solidFill>
              <a:srgbClr val="4A8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71111" y="3353846"/>
            <a:ext cx="5410200" cy="381000"/>
            <a:chOff x="380999" y="3228974"/>
            <a:chExt cx="5410200" cy="381000"/>
          </a:xfrm>
        </p:grpSpPr>
        <p:sp>
          <p:nvSpPr>
            <p:cNvPr id="11" name="object 11"/>
            <p:cNvSpPr/>
            <p:nvPr/>
          </p:nvSpPr>
          <p:spPr>
            <a:xfrm>
              <a:off x="380999" y="3228974"/>
              <a:ext cx="5410200" cy="381000"/>
            </a:xfrm>
            <a:custGeom>
              <a:avLst/>
              <a:gdLst/>
              <a:ahLst/>
              <a:cxnLst/>
              <a:rect l="l" t="t" r="r" b="b"/>
              <a:pathLst>
                <a:path w="5410200" h="381000">
                  <a:moveTo>
                    <a:pt x="54101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5410199" y="0"/>
                  </a:lnTo>
                  <a:lnTo>
                    <a:pt x="5410199" y="380999"/>
                  </a:lnTo>
                  <a:close/>
                </a:path>
              </a:pathLst>
            </a:custGeom>
            <a:solidFill>
              <a:srgbClr val="E3F1FD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0999" y="3228974"/>
              <a:ext cx="28575" cy="381000"/>
            </a:xfrm>
            <a:custGeom>
              <a:avLst/>
              <a:gdLst/>
              <a:ahLst/>
              <a:cxnLst/>
              <a:rect l="l" t="t" r="r" b="b"/>
              <a:pathLst>
                <a:path w="28575" h="381000">
                  <a:moveTo>
                    <a:pt x="28574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80999"/>
                  </a:lnTo>
                  <a:close/>
                </a:path>
              </a:pathLst>
            </a:custGeom>
            <a:solidFill>
              <a:srgbClr val="4A8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371111" y="3887246"/>
            <a:ext cx="5410200" cy="381000"/>
            <a:chOff x="380999" y="3762374"/>
            <a:chExt cx="5410200" cy="381000"/>
          </a:xfrm>
        </p:grpSpPr>
        <p:sp>
          <p:nvSpPr>
            <p:cNvPr id="14" name="object 14"/>
            <p:cNvSpPr/>
            <p:nvPr/>
          </p:nvSpPr>
          <p:spPr>
            <a:xfrm>
              <a:off x="380999" y="3762374"/>
              <a:ext cx="5410200" cy="381000"/>
            </a:xfrm>
            <a:custGeom>
              <a:avLst/>
              <a:gdLst/>
              <a:ahLst/>
              <a:cxnLst/>
              <a:rect l="l" t="t" r="r" b="b"/>
              <a:pathLst>
                <a:path w="5410200" h="381000">
                  <a:moveTo>
                    <a:pt x="54101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5410199" y="0"/>
                  </a:lnTo>
                  <a:lnTo>
                    <a:pt x="5410199" y="380999"/>
                  </a:lnTo>
                  <a:close/>
                </a:path>
              </a:pathLst>
            </a:custGeom>
            <a:solidFill>
              <a:srgbClr val="E3F1FD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15"/>
            <p:cNvSpPr/>
            <p:nvPr/>
          </p:nvSpPr>
          <p:spPr>
            <a:xfrm>
              <a:off x="380999" y="3762374"/>
              <a:ext cx="28575" cy="381000"/>
            </a:xfrm>
            <a:custGeom>
              <a:avLst/>
              <a:gdLst/>
              <a:ahLst/>
              <a:cxnLst/>
              <a:rect l="l" t="t" r="r" b="b"/>
              <a:pathLst>
                <a:path w="28575" h="381000">
                  <a:moveTo>
                    <a:pt x="28574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80999"/>
                  </a:lnTo>
                  <a:close/>
                </a:path>
              </a:pathLst>
            </a:custGeom>
            <a:solidFill>
              <a:srgbClr val="4A8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58411" y="1285279"/>
            <a:ext cx="1718310" cy="2298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40" dirty="0">
                <a:solidFill>
                  <a:srgbClr val="4A8FE2"/>
                </a:solidFill>
                <a:latin typeface="Arial"/>
                <a:cs typeface="Arial"/>
              </a:rPr>
              <a:t>Platform:</a:t>
            </a:r>
            <a:r>
              <a:rPr sz="1300" spc="-100" dirty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Microsoft</a:t>
            </a:r>
            <a:r>
              <a:rPr sz="1200" spc="-5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Excel</a:t>
            </a:r>
            <a:endParaRPr sz="1200">
              <a:latin typeface="Lato"/>
              <a:cs typeface="La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8411" y="1666279"/>
            <a:ext cx="1185545" cy="2298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90" dirty="0">
                <a:solidFill>
                  <a:srgbClr val="4A8FE2"/>
                </a:solidFill>
                <a:latin typeface="Arial"/>
                <a:cs typeface="Arial"/>
              </a:rPr>
              <a:t>Techniques</a:t>
            </a:r>
            <a:r>
              <a:rPr sz="1300" spc="-70" dirty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sz="1300" spc="-75" dirty="0">
                <a:solidFill>
                  <a:srgbClr val="4A8FE2"/>
                </a:solidFill>
                <a:latin typeface="Arial"/>
                <a:cs typeface="Arial"/>
              </a:rPr>
              <a:t>Used:</a:t>
            </a:r>
            <a:endParaRPr sz="13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9686" y="2076410"/>
            <a:ext cx="5381625" cy="46698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14300" marR="483870">
              <a:lnSpc>
                <a:spcPct val="121800"/>
              </a:lnSpc>
              <a:spcBef>
                <a:spcPts val="165"/>
              </a:spcBef>
            </a:pPr>
            <a:r>
              <a:rPr sz="1300" spc="-65" dirty="0">
                <a:solidFill>
                  <a:srgbClr val="4A8FE2"/>
                </a:solidFill>
                <a:latin typeface="Arial"/>
                <a:cs typeface="Arial"/>
              </a:rPr>
              <a:t>Functions:</a:t>
            </a:r>
            <a:r>
              <a:rPr sz="1300" spc="-75" dirty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0052CC"/>
                </a:solidFill>
                <a:latin typeface="Lato"/>
                <a:cs typeface="Lato"/>
              </a:rPr>
              <a:t>AVERAGE,</a:t>
            </a:r>
            <a:r>
              <a:rPr sz="1200" spc="-2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35" dirty="0">
                <a:solidFill>
                  <a:srgbClr val="0052CC"/>
                </a:solidFill>
                <a:latin typeface="Lato"/>
                <a:cs typeface="Lato"/>
              </a:rPr>
              <a:t>VLOOKUP,</a:t>
            </a:r>
            <a:r>
              <a:rPr sz="1200" spc="-2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40" dirty="0">
                <a:solidFill>
                  <a:srgbClr val="0052CC"/>
                </a:solidFill>
                <a:latin typeface="Lato"/>
                <a:cs typeface="Lato"/>
              </a:rPr>
              <a:t>IF,</a:t>
            </a:r>
            <a:r>
              <a:rPr sz="1200" spc="-2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30" dirty="0">
                <a:solidFill>
                  <a:srgbClr val="0052CC"/>
                </a:solidFill>
                <a:latin typeface="Lato"/>
                <a:cs typeface="Lato"/>
              </a:rPr>
              <a:t>INDEX/MATCH,</a:t>
            </a:r>
            <a:r>
              <a:rPr sz="1200" spc="-2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35" dirty="0">
                <a:solidFill>
                  <a:srgbClr val="0052CC"/>
                </a:solidFill>
                <a:latin typeface="Lato"/>
                <a:cs typeface="Lato"/>
              </a:rPr>
              <a:t>TEXT,</a:t>
            </a:r>
            <a:r>
              <a:rPr sz="1200" spc="-25" dirty="0">
                <a:solidFill>
                  <a:srgbClr val="0052CC"/>
                </a:solidFill>
                <a:latin typeface="Lato"/>
                <a:cs typeface="Lato"/>
              </a:rPr>
              <a:t> RIGHT, </a:t>
            </a:r>
            <a:r>
              <a:rPr sz="1200" spc="-20" dirty="0">
                <a:solidFill>
                  <a:srgbClr val="0052CC"/>
                </a:solidFill>
                <a:latin typeface="Lato"/>
                <a:cs typeface="Lato"/>
              </a:rPr>
              <a:t>LEN, FIND</a:t>
            </a:r>
            <a:r>
              <a:rPr lang="en-IN" sz="1200" spc="-20" dirty="0">
                <a:solidFill>
                  <a:srgbClr val="0052CC"/>
                </a:solidFill>
                <a:latin typeface="Lato"/>
                <a:cs typeface="Lato"/>
              </a:rPr>
              <a:t>. ARRAY</a:t>
            </a:r>
            <a:endParaRPr sz="1200" dirty="0">
              <a:latin typeface="Lato"/>
              <a:cs typeface="La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9686" y="2885479"/>
            <a:ext cx="5381625" cy="2298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35"/>
              </a:spcBef>
            </a:pPr>
            <a:r>
              <a:rPr sz="1300" spc="-40" dirty="0">
                <a:solidFill>
                  <a:srgbClr val="4A8FE2"/>
                </a:solidFill>
                <a:latin typeface="Arial"/>
                <a:cs typeface="Arial"/>
              </a:rPr>
              <a:t>Pivot</a:t>
            </a:r>
            <a:r>
              <a:rPr sz="1300" spc="-90" dirty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sz="1300" spc="-105" dirty="0">
                <a:solidFill>
                  <a:srgbClr val="4A8FE2"/>
                </a:solidFill>
                <a:latin typeface="Arial"/>
                <a:cs typeface="Arial"/>
              </a:rPr>
              <a:t>Tables:</a:t>
            </a:r>
            <a:r>
              <a:rPr sz="1300" spc="-85" dirty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Built</a:t>
            </a:r>
            <a:r>
              <a:rPr sz="1200" spc="-3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for</a:t>
            </a:r>
            <a:r>
              <a:rPr sz="1200" spc="-3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category-wise</a:t>
            </a:r>
            <a:r>
              <a:rPr sz="1200" spc="-4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20" dirty="0">
                <a:solidFill>
                  <a:srgbClr val="0052CC"/>
                </a:solidFill>
                <a:latin typeface="Lato"/>
                <a:cs typeface="Lato"/>
              </a:rPr>
              <a:t>volume,</a:t>
            </a:r>
            <a:r>
              <a:rPr sz="1200" spc="-3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agent</a:t>
            </a:r>
            <a:r>
              <a:rPr sz="1200" spc="-3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KPIs,</a:t>
            </a:r>
            <a:r>
              <a:rPr sz="1200" spc="-3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trend</a:t>
            </a:r>
            <a:r>
              <a:rPr sz="1200" spc="-4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charts</a:t>
            </a:r>
            <a:endParaRPr sz="1200">
              <a:latin typeface="Lato"/>
              <a:cs typeface="La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9686" y="3418879"/>
            <a:ext cx="5381625" cy="2298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35"/>
              </a:spcBef>
            </a:pPr>
            <a:r>
              <a:rPr sz="1300" spc="-90" dirty="0">
                <a:solidFill>
                  <a:srgbClr val="4A8FE2"/>
                </a:solidFill>
                <a:latin typeface="Arial"/>
                <a:cs typeface="Arial"/>
              </a:rPr>
              <a:t>Age</a:t>
            </a:r>
            <a:r>
              <a:rPr sz="1300" spc="-95" dirty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4A8FE2"/>
                </a:solidFill>
                <a:latin typeface="Arial"/>
                <a:cs typeface="Arial"/>
              </a:rPr>
              <a:t>Calculation:</a:t>
            </a:r>
            <a:r>
              <a:rPr sz="1300" spc="-95" dirty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Derived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from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DOB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using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30" dirty="0">
                <a:solidFill>
                  <a:srgbClr val="0052CC"/>
                </a:solidFill>
                <a:latin typeface="Lato"/>
                <a:cs typeface="Lato"/>
              </a:rPr>
              <a:t>TODAY()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and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DATE()</a:t>
            </a:r>
            <a:endParaRPr sz="1200">
              <a:latin typeface="Lato"/>
              <a:cs typeface="La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9686" y="3952279"/>
            <a:ext cx="5381625" cy="21736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35"/>
              </a:spcBef>
            </a:pPr>
            <a:r>
              <a:rPr sz="1300" spc="-75" dirty="0">
                <a:solidFill>
                  <a:srgbClr val="4A8FE2"/>
                </a:solidFill>
                <a:latin typeface="Arial"/>
                <a:cs typeface="Arial"/>
              </a:rPr>
              <a:t>Custom</a:t>
            </a:r>
            <a:r>
              <a:rPr sz="1300" spc="-100" dirty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4A8FE2"/>
                </a:solidFill>
                <a:latin typeface="Arial"/>
                <a:cs typeface="Arial"/>
              </a:rPr>
              <a:t>Grouping:</a:t>
            </a:r>
            <a:r>
              <a:rPr sz="1300" spc="-100" dirty="0">
                <a:solidFill>
                  <a:srgbClr val="4A8FE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Created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Age</a:t>
            </a:r>
            <a:r>
              <a:rPr sz="1200" spc="-5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Buckets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with</a:t>
            </a:r>
            <a:r>
              <a:rPr sz="1200" spc="-5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nested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25" dirty="0">
                <a:solidFill>
                  <a:srgbClr val="0052CC"/>
                </a:solidFill>
                <a:latin typeface="Lato"/>
                <a:cs typeface="Lato"/>
              </a:rPr>
              <a:t>IF</a:t>
            </a:r>
            <a:r>
              <a:rPr lang="en-IN" sz="1200" spc="-25" dirty="0">
                <a:solidFill>
                  <a:srgbClr val="0052CC"/>
                </a:solidFill>
                <a:latin typeface="Lato"/>
                <a:cs typeface="Lato"/>
              </a:rPr>
              <a:t> &amp; ARRAY</a:t>
            </a:r>
            <a:endParaRPr sz="1200" dirty="0">
              <a:latin typeface="Lato"/>
              <a:cs typeface="La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1866" y="4702119"/>
            <a:ext cx="618490" cy="2298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70" dirty="0">
                <a:solidFill>
                  <a:srgbClr val="4A8FE2"/>
                </a:solidFill>
                <a:latin typeface="Arial"/>
                <a:cs typeface="Arial"/>
              </a:rPr>
              <a:t>Purpose:</a:t>
            </a:r>
            <a:endParaRPr sz="13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71241" y="519906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52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20466" y="5100637"/>
            <a:ext cx="324802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Discover</a:t>
            </a:r>
            <a:r>
              <a:rPr sz="1200" spc="-5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patterns</a:t>
            </a:r>
            <a:r>
              <a:rPr sz="1200" spc="-5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in</a:t>
            </a:r>
            <a:r>
              <a:rPr sz="1200" spc="-5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performance</a:t>
            </a:r>
            <a:endParaRPr sz="1200">
              <a:latin typeface="Lato"/>
              <a:cs typeface="Lato"/>
            </a:endParaRPr>
          </a:p>
          <a:p>
            <a:pPr marL="12700" marR="5080">
              <a:lnSpc>
                <a:spcPct val="166700"/>
              </a:lnSpc>
            </a:pP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Analyze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agent</a:t>
            </a:r>
            <a:r>
              <a:rPr sz="1200" spc="-4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20" dirty="0">
                <a:solidFill>
                  <a:srgbClr val="0052CC"/>
                </a:solidFill>
                <a:latin typeface="Lato"/>
                <a:cs typeface="Lato"/>
              </a:rPr>
              <a:t>efficiency</a:t>
            </a:r>
            <a:r>
              <a:rPr sz="1200" spc="-4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across</a:t>
            </a:r>
            <a:r>
              <a:rPr sz="1200" spc="-4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demographics 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Build</a:t>
            </a:r>
            <a:r>
              <a:rPr sz="1200" spc="-6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decision-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ready</a:t>
            </a:r>
            <a:r>
              <a:rPr sz="1200" spc="-6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dashboard</a:t>
            </a:r>
            <a:r>
              <a:rPr sz="1200" spc="-6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52CC"/>
                </a:solidFill>
                <a:latin typeface="Lato"/>
                <a:cs typeface="Lato"/>
              </a:rPr>
              <a:t>for</a:t>
            </a:r>
            <a:r>
              <a:rPr sz="1200" spc="-60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management Support</a:t>
            </a:r>
            <a:r>
              <a:rPr sz="1200" spc="-1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data-driven</a:t>
            </a:r>
            <a:r>
              <a:rPr sz="1200" spc="-1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investment</a:t>
            </a:r>
            <a:r>
              <a:rPr sz="1200" spc="-15" dirty="0">
                <a:solidFill>
                  <a:srgbClr val="0052CC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52CC"/>
                </a:solidFill>
                <a:latin typeface="Lato"/>
                <a:cs typeface="Lato"/>
              </a:rPr>
              <a:t>decisions</a:t>
            </a:r>
            <a:endParaRPr sz="1200">
              <a:latin typeface="Lato"/>
              <a:cs typeface="Lato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71241" y="550386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52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71241" y="580866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19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52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71241" y="611346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52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825779" y="606425"/>
            <a:ext cx="2255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40" dirty="0">
                <a:solidFill>
                  <a:srgbClr val="4A8FE2"/>
                </a:solidFill>
                <a:latin typeface="Calibri"/>
                <a:cs typeface="Calibri"/>
              </a:rPr>
              <a:t>VISUAL</a:t>
            </a:r>
            <a:r>
              <a:rPr sz="1800" b="1" spc="125" dirty="0">
                <a:solidFill>
                  <a:srgbClr val="4A8FE2"/>
                </a:solidFill>
                <a:latin typeface="Calibri"/>
                <a:cs typeface="Calibri"/>
              </a:rPr>
              <a:t> </a:t>
            </a:r>
            <a:r>
              <a:rPr sz="1800" b="1" spc="265" dirty="0">
                <a:solidFill>
                  <a:srgbClr val="4A8FE2"/>
                </a:solidFill>
                <a:latin typeface="Calibri"/>
                <a:cs typeface="Calibri"/>
              </a:rPr>
              <a:t>ELEMENTS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095999" y="1095374"/>
            <a:ext cx="1828800" cy="1143000"/>
            <a:chOff x="6095999" y="1095374"/>
            <a:chExt cx="1828800" cy="1143000"/>
          </a:xfrm>
        </p:grpSpPr>
        <p:sp>
          <p:nvSpPr>
            <p:cNvPr id="30" name="object 30"/>
            <p:cNvSpPr/>
            <p:nvPr/>
          </p:nvSpPr>
          <p:spPr>
            <a:xfrm>
              <a:off x="6095999" y="1095374"/>
              <a:ext cx="1828800" cy="1143000"/>
            </a:xfrm>
            <a:custGeom>
              <a:avLst/>
              <a:gdLst/>
              <a:ahLst/>
              <a:cxnLst/>
              <a:rect l="l" t="t" r="r" b="b"/>
              <a:pathLst>
                <a:path w="1828800" h="1143000">
                  <a:moveTo>
                    <a:pt x="1828799" y="1142999"/>
                  </a:moveTo>
                  <a:lnTo>
                    <a:pt x="0" y="1142999"/>
                  </a:lnTo>
                  <a:lnTo>
                    <a:pt x="0" y="0"/>
                  </a:lnTo>
                  <a:lnTo>
                    <a:pt x="1828799" y="0"/>
                  </a:lnTo>
                  <a:lnTo>
                    <a:pt x="1828799" y="1142999"/>
                  </a:lnTo>
                  <a:close/>
                </a:path>
              </a:pathLst>
            </a:custGeom>
            <a:solidFill>
              <a:srgbClr val="E3F1FD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838949" y="1364456"/>
              <a:ext cx="342900" cy="300355"/>
            </a:xfrm>
            <a:custGeom>
              <a:avLst/>
              <a:gdLst/>
              <a:ahLst/>
              <a:cxnLst/>
              <a:rect l="l" t="t" r="r" b="b"/>
              <a:pathLst>
                <a:path w="342900" h="300355">
                  <a:moveTo>
                    <a:pt x="321468" y="300037"/>
                  </a:moveTo>
                  <a:lnTo>
                    <a:pt x="53578" y="300037"/>
                  </a:lnTo>
                  <a:lnTo>
                    <a:pt x="32718" y="295828"/>
                  </a:lnTo>
                  <a:lnTo>
                    <a:pt x="15688" y="284349"/>
                  </a:lnTo>
                  <a:lnTo>
                    <a:pt x="4208" y="267319"/>
                  </a:lnTo>
                  <a:lnTo>
                    <a:pt x="0" y="246459"/>
                  </a:lnTo>
                  <a:lnTo>
                    <a:pt x="0" y="21431"/>
                  </a:lnTo>
                  <a:lnTo>
                    <a:pt x="1681" y="13081"/>
                  </a:lnTo>
                  <a:lnTo>
                    <a:pt x="6270" y="6270"/>
                  </a:lnTo>
                  <a:lnTo>
                    <a:pt x="13081" y="1681"/>
                  </a:lnTo>
                  <a:lnTo>
                    <a:pt x="21431" y="0"/>
                  </a:lnTo>
                  <a:lnTo>
                    <a:pt x="29780" y="1681"/>
                  </a:lnTo>
                  <a:lnTo>
                    <a:pt x="36592" y="6270"/>
                  </a:lnTo>
                  <a:lnTo>
                    <a:pt x="41180" y="13081"/>
                  </a:lnTo>
                  <a:lnTo>
                    <a:pt x="42862" y="21431"/>
                  </a:lnTo>
                  <a:lnTo>
                    <a:pt x="42862" y="252352"/>
                  </a:lnTo>
                  <a:lnTo>
                    <a:pt x="47684" y="257174"/>
                  </a:lnTo>
                  <a:lnTo>
                    <a:pt x="321468" y="257174"/>
                  </a:lnTo>
                  <a:lnTo>
                    <a:pt x="329818" y="258856"/>
                  </a:lnTo>
                  <a:lnTo>
                    <a:pt x="336629" y="263445"/>
                  </a:lnTo>
                  <a:lnTo>
                    <a:pt x="341218" y="270256"/>
                  </a:lnTo>
                  <a:lnTo>
                    <a:pt x="342899" y="278606"/>
                  </a:lnTo>
                  <a:lnTo>
                    <a:pt x="341218" y="286955"/>
                  </a:lnTo>
                  <a:lnTo>
                    <a:pt x="336629" y="293767"/>
                  </a:lnTo>
                  <a:lnTo>
                    <a:pt x="329818" y="298355"/>
                  </a:lnTo>
                  <a:lnTo>
                    <a:pt x="321468" y="300037"/>
                  </a:lnTo>
                  <a:close/>
                </a:path>
                <a:path w="342900" h="300355">
                  <a:moveTo>
                    <a:pt x="235743" y="85724"/>
                  </a:moveTo>
                  <a:lnTo>
                    <a:pt x="107156" y="85724"/>
                  </a:lnTo>
                  <a:lnTo>
                    <a:pt x="98806" y="84043"/>
                  </a:lnTo>
                  <a:lnTo>
                    <a:pt x="91995" y="79454"/>
                  </a:lnTo>
                  <a:lnTo>
                    <a:pt x="87406" y="72643"/>
                  </a:lnTo>
                  <a:lnTo>
                    <a:pt x="85724" y="64293"/>
                  </a:lnTo>
                  <a:lnTo>
                    <a:pt x="87406" y="55944"/>
                  </a:lnTo>
                  <a:lnTo>
                    <a:pt x="91995" y="49132"/>
                  </a:lnTo>
                  <a:lnTo>
                    <a:pt x="98806" y="44544"/>
                  </a:lnTo>
                  <a:lnTo>
                    <a:pt x="107156" y="42862"/>
                  </a:lnTo>
                  <a:lnTo>
                    <a:pt x="235743" y="42862"/>
                  </a:lnTo>
                  <a:lnTo>
                    <a:pt x="244093" y="44544"/>
                  </a:lnTo>
                  <a:lnTo>
                    <a:pt x="250904" y="49132"/>
                  </a:lnTo>
                  <a:lnTo>
                    <a:pt x="255493" y="55944"/>
                  </a:lnTo>
                  <a:lnTo>
                    <a:pt x="257174" y="64293"/>
                  </a:lnTo>
                  <a:lnTo>
                    <a:pt x="255493" y="72643"/>
                  </a:lnTo>
                  <a:lnTo>
                    <a:pt x="250904" y="79454"/>
                  </a:lnTo>
                  <a:lnTo>
                    <a:pt x="244093" y="84043"/>
                  </a:lnTo>
                  <a:lnTo>
                    <a:pt x="235743" y="85724"/>
                  </a:lnTo>
                  <a:close/>
                </a:path>
                <a:path w="342900" h="300355">
                  <a:moveTo>
                    <a:pt x="192881" y="150018"/>
                  </a:moveTo>
                  <a:lnTo>
                    <a:pt x="107156" y="150018"/>
                  </a:lnTo>
                  <a:lnTo>
                    <a:pt x="98806" y="148337"/>
                  </a:lnTo>
                  <a:lnTo>
                    <a:pt x="91995" y="143748"/>
                  </a:lnTo>
                  <a:lnTo>
                    <a:pt x="87406" y="136937"/>
                  </a:lnTo>
                  <a:lnTo>
                    <a:pt x="85724" y="128587"/>
                  </a:lnTo>
                  <a:lnTo>
                    <a:pt x="87406" y="120237"/>
                  </a:lnTo>
                  <a:lnTo>
                    <a:pt x="91995" y="113426"/>
                  </a:lnTo>
                  <a:lnTo>
                    <a:pt x="98806" y="108837"/>
                  </a:lnTo>
                  <a:lnTo>
                    <a:pt x="107156" y="107156"/>
                  </a:lnTo>
                  <a:lnTo>
                    <a:pt x="192881" y="107156"/>
                  </a:lnTo>
                  <a:lnTo>
                    <a:pt x="201230" y="108837"/>
                  </a:lnTo>
                  <a:lnTo>
                    <a:pt x="208042" y="113426"/>
                  </a:lnTo>
                  <a:lnTo>
                    <a:pt x="212630" y="120237"/>
                  </a:lnTo>
                  <a:lnTo>
                    <a:pt x="214312" y="128587"/>
                  </a:lnTo>
                  <a:lnTo>
                    <a:pt x="212630" y="136937"/>
                  </a:lnTo>
                  <a:lnTo>
                    <a:pt x="208042" y="143748"/>
                  </a:lnTo>
                  <a:lnTo>
                    <a:pt x="201230" y="148337"/>
                  </a:lnTo>
                  <a:lnTo>
                    <a:pt x="192881" y="150018"/>
                  </a:lnTo>
                  <a:close/>
                </a:path>
                <a:path w="342900" h="300355">
                  <a:moveTo>
                    <a:pt x="278606" y="214312"/>
                  </a:moveTo>
                  <a:lnTo>
                    <a:pt x="107156" y="214312"/>
                  </a:lnTo>
                  <a:lnTo>
                    <a:pt x="98806" y="212630"/>
                  </a:lnTo>
                  <a:lnTo>
                    <a:pt x="91995" y="208042"/>
                  </a:lnTo>
                  <a:lnTo>
                    <a:pt x="87406" y="201230"/>
                  </a:lnTo>
                  <a:lnTo>
                    <a:pt x="85724" y="192881"/>
                  </a:lnTo>
                  <a:lnTo>
                    <a:pt x="87406" y="184531"/>
                  </a:lnTo>
                  <a:lnTo>
                    <a:pt x="91995" y="177720"/>
                  </a:lnTo>
                  <a:lnTo>
                    <a:pt x="98806" y="173131"/>
                  </a:lnTo>
                  <a:lnTo>
                    <a:pt x="107156" y="171449"/>
                  </a:lnTo>
                  <a:lnTo>
                    <a:pt x="278606" y="171449"/>
                  </a:lnTo>
                  <a:lnTo>
                    <a:pt x="286955" y="173131"/>
                  </a:lnTo>
                  <a:lnTo>
                    <a:pt x="293767" y="177720"/>
                  </a:lnTo>
                  <a:lnTo>
                    <a:pt x="298355" y="184531"/>
                  </a:lnTo>
                  <a:lnTo>
                    <a:pt x="300037" y="192881"/>
                  </a:lnTo>
                  <a:lnTo>
                    <a:pt x="298355" y="201230"/>
                  </a:lnTo>
                  <a:lnTo>
                    <a:pt x="293767" y="208042"/>
                  </a:lnTo>
                  <a:lnTo>
                    <a:pt x="286955" y="212630"/>
                  </a:lnTo>
                  <a:lnTo>
                    <a:pt x="278606" y="214312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100762" y="1100137"/>
            <a:ext cx="1819275" cy="1133475"/>
          </a:xfrm>
          <a:prstGeom prst="rect">
            <a:avLst/>
          </a:prstGeom>
          <a:ln w="9524">
            <a:solidFill>
              <a:srgbClr val="4A8FE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200">
              <a:latin typeface="Times New Roman"/>
              <a:cs typeface="Times New Roman"/>
            </a:endParaRPr>
          </a:p>
          <a:p>
            <a:pPr marL="583565">
              <a:lnSpc>
                <a:spcPct val="100000"/>
              </a:lnSpc>
            </a:pPr>
            <a:r>
              <a:rPr sz="1300" spc="-60" dirty="0">
                <a:solidFill>
                  <a:srgbClr val="0052CC"/>
                </a:solidFill>
                <a:latin typeface="Arial"/>
                <a:cs typeface="Arial"/>
              </a:rPr>
              <a:t>Bar</a:t>
            </a:r>
            <a:r>
              <a:rPr sz="1300" spc="-114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0052CC"/>
                </a:solidFill>
                <a:latin typeface="Arial"/>
                <a:cs typeface="Arial"/>
              </a:rPr>
              <a:t>Chart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039099" y="1095374"/>
            <a:ext cx="1828800" cy="1143000"/>
            <a:chOff x="8039099" y="1095374"/>
            <a:chExt cx="1828800" cy="1143000"/>
          </a:xfrm>
        </p:grpSpPr>
        <p:sp>
          <p:nvSpPr>
            <p:cNvPr id="34" name="object 34"/>
            <p:cNvSpPr/>
            <p:nvPr/>
          </p:nvSpPr>
          <p:spPr>
            <a:xfrm>
              <a:off x="8039099" y="1095374"/>
              <a:ext cx="1828800" cy="1143000"/>
            </a:xfrm>
            <a:custGeom>
              <a:avLst/>
              <a:gdLst/>
              <a:ahLst/>
              <a:cxnLst/>
              <a:rect l="l" t="t" r="r" b="b"/>
              <a:pathLst>
                <a:path w="1828800" h="1143000">
                  <a:moveTo>
                    <a:pt x="1828799" y="1142999"/>
                  </a:moveTo>
                  <a:lnTo>
                    <a:pt x="0" y="1142999"/>
                  </a:lnTo>
                  <a:lnTo>
                    <a:pt x="0" y="0"/>
                  </a:lnTo>
                  <a:lnTo>
                    <a:pt x="1828799" y="0"/>
                  </a:lnTo>
                  <a:lnTo>
                    <a:pt x="1828799" y="1142999"/>
                  </a:lnTo>
                  <a:close/>
                </a:path>
              </a:pathLst>
            </a:custGeom>
            <a:solidFill>
              <a:srgbClr val="E3F1FD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043861" y="1100137"/>
              <a:ext cx="1819275" cy="1133475"/>
            </a:xfrm>
            <a:custGeom>
              <a:avLst/>
              <a:gdLst/>
              <a:ahLst/>
              <a:cxnLst/>
              <a:rect l="l" t="t" r="r" b="b"/>
              <a:pathLst>
                <a:path w="1819275" h="1133475">
                  <a:moveTo>
                    <a:pt x="0" y="0"/>
                  </a:moveTo>
                  <a:lnTo>
                    <a:pt x="1819274" y="0"/>
                  </a:lnTo>
                  <a:lnTo>
                    <a:pt x="1819274" y="1133474"/>
                  </a:lnTo>
                  <a:lnTo>
                    <a:pt x="0" y="11334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A8F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784430" y="1343024"/>
              <a:ext cx="363855" cy="342900"/>
            </a:xfrm>
            <a:custGeom>
              <a:avLst/>
              <a:gdLst/>
              <a:ahLst/>
              <a:cxnLst/>
              <a:rect l="l" t="t" r="r" b="b"/>
              <a:pathLst>
                <a:path w="363854" h="342900">
                  <a:moveTo>
                    <a:pt x="337810" y="160734"/>
                  </a:moveTo>
                  <a:lnTo>
                    <a:pt x="182165" y="160734"/>
                  </a:lnTo>
                  <a:lnTo>
                    <a:pt x="182165" y="5089"/>
                  </a:lnTo>
                  <a:lnTo>
                    <a:pt x="186853" y="0"/>
                  </a:lnTo>
                  <a:lnTo>
                    <a:pt x="192881" y="0"/>
                  </a:lnTo>
                  <a:lnTo>
                    <a:pt x="240295" y="7648"/>
                  </a:lnTo>
                  <a:lnTo>
                    <a:pt x="281476" y="28947"/>
                  </a:lnTo>
                  <a:lnTo>
                    <a:pt x="313952" y="61423"/>
                  </a:lnTo>
                  <a:lnTo>
                    <a:pt x="335251" y="102604"/>
                  </a:lnTo>
                  <a:lnTo>
                    <a:pt x="342899" y="150018"/>
                  </a:lnTo>
                  <a:lnTo>
                    <a:pt x="342899" y="156046"/>
                  </a:lnTo>
                  <a:lnTo>
                    <a:pt x="337810" y="160734"/>
                  </a:lnTo>
                  <a:close/>
                </a:path>
                <a:path w="363854" h="342900">
                  <a:moveTo>
                    <a:pt x="160734" y="342899"/>
                  </a:moveTo>
                  <a:lnTo>
                    <a:pt x="109942" y="334708"/>
                  </a:lnTo>
                  <a:lnTo>
                    <a:pt x="65820" y="311897"/>
                  </a:lnTo>
                  <a:lnTo>
                    <a:pt x="31021" y="277108"/>
                  </a:lnTo>
                  <a:lnTo>
                    <a:pt x="8197" y="232983"/>
                  </a:lnTo>
                  <a:lnTo>
                    <a:pt x="0" y="182165"/>
                  </a:lnTo>
                  <a:lnTo>
                    <a:pt x="6901" y="135442"/>
                  </a:lnTo>
                  <a:lnTo>
                    <a:pt x="26251" y="94120"/>
                  </a:lnTo>
                  <a:lnTo>
                    <a:pt x="56012" y="60240"/>
                  </a:lnTo>
                  <a:lnTo>
                    <a:pt x="94151" y="35843"/>
                  </a:lnTo>
                  <a:lnTo>
                    <a:pt x="138633" y="22971"/>
                  </a:lnTo>
                  <a:lnTo>
                    <a:pt x="144794" y="22100"/>
                  </a:lnTo>
                  <a:lnTo>
                    <a:pt x="150018" y="27056"/>
                  </a:lnTo>
                  <a:lnTo>
                    <a:pt x="150018" y="192881"/>
                  </a:lnTo>
                  <a:lnTo>
                    <a:pt x="259318" y="302180"/>
                  </a:lnTo>
                  <a:lnTo>
                    <a:pt x="210444" y="335064"/>
                  </a:lnTo>
                  <a:lnTo>
                    <a:pt x="186223" y="340890"/>
                  </a:lnTo>
                  <a:lnTo>
                    <a:pt x="160734" y="342899"/>
                  </a:lnTo>
                  <a:close/>
                </a:path>
                <a:path w="363854" h="342900">
                  <a:moveTo>
                    <a:pt x="309346" y="303319"/>
                  </a:moveTo>
                  <a:lnTo>
                    <a:pt x="303051" y="303051"/>
                  </a:lnTo>
                  <a:lnTo>
                    <a:pt x="299166" y="299099"/>
                  </a:lnTo>
                  <a:lnTo>
                    <a:pt x="192881" y="192881"/>
                  </a:lnTo>
                  <a:lnTo>
                    <a:pt x="358772" y="192881"/>
                  </a:lnTo>
                  <a:lnTo>
                    <a:pt x="363661" y="198105"/>
                  </a:lnTo>
                  <a:lnTo>
                    <a:pt x="346047" y="256739"/>
                  </a:lnTo>
                  <a:lnTo>
                    <a:pt x="313365" y="299568"/>
                  </a:lnTo>
                  <a:lnTo>
                    <a:pt x="309346" y="30331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8627665" y="1750957"/>
            <a:ext cx="651510" cy="2298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75" dirty="0">
                <a:solidFill>
                  <a:srgbClr val="0052CC"/>
                </a:solidFill>
                <a:latin typeface="Arial"/>
                <a:cs typeface="Arial"/>
              </a:rPr>
              <a:t>Pie</a:t>
            </a:r>
            <a:r>
              <a:rPr sz="1300" spc="-114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0052CC"/>
                </a:solidFill>
                <a:latin typeface="Arial"/>
                <a:cs typeface="Arial"/>
              </a:rPr>
              <a:t>Chart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9982199" y="1095374"/>
            <a:ext cx="1828800" cy="1143000"/>
            <a:chOff x="9982199" y="1095374"/>
            <a:chExt cx="1828800" cy="1143000"/>
          </a:xfrm>
        </p:grpSpPr>
        <p:sp>
          <p:nvSpPr>
            <p:cNvPr id="39" name="object 39"/>
            <p:cNvSpPr/>
            <p:nvPr/>
          </p:nvSpPr>
          <p:spPr>
            <a:xfrm>
              <a:off x="9982199" y="1095374"/>
              <a:ext cx="1828800" cy="1143000"/>
            </a:xfrm>
            <a:custGeom>
              <a:avLst/>
              <a:gdLst/>
              <a:ahLst/>
              <a:cxnLst/>
              <a:rect l="l" t="t" r="r" b="b"/>
              <a:pathLst>
                <a:path w="1828800" h="1143000">
                  <a:moveTo>
                    <a:pt x="1828799" y="1142999"/>
                  </a:moveTo>
                  <a:lnTo>
                    <a:pt x="0" y="1142999"/>
                  </a:lnTo>
                  <a:lnTo>
                    <a:pt x="0" y="0"/>
                  </a:lnTo>
                  <a:lnTo>
                    <a:pt x="1828799" y="0"/>
                  </a:lnTo>
                  <a:lnTo>
                    <a:pt x="1828799" y="1142999"/>
                  </a:lnTo>
                  <a:close/>
                </a:path>
              </a:pathLst>
            </a:custGeom>
            <a:solidFill>
              <a:srgbClr val="E3F1FD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0725149" y="1364456"/>
              <a:ext cx="342900" cy="300355"/>
            </a:xfrm>
            <a:custGeom>
              <a:avLst/>
              <a:gdLst/>
              <a:ahLst/>
              <a:cxnLst/>
              <a:rect l="l" t="t" r="r" b="b"/>
              <a:pathLst>
                <a:path w="342900" h="300355">
                  <a:moveTo>
                    <a:pt x="321468" y="300037"/>
                  </a:moveTo>
                  <a:lnTo>
                    <a:pt x="53578" y="300037"/>
                  </a:lnTo>
                  <a:lnTo>
                    <a:pt x="32718" y="295828"/>
                  </a:lnTo>
                  <a:lnTo>
                    <a:pt x="15688" y="284349"/>
                  </a:lnTo>
                  <a:lnTo>
                    <a:pt x="4208" y="267319"/>
                  </a:lnTo>
                  <a:lnTo>
                    <a:pt x="0" y="246459"/>
                  </a:lnTo>
                  <a:lnTo>
                    <a:pt x="0" y="21431"/>
                  </a:lnTo>
                  <a:lnTo>
                    <a:pt x="1681" y="13081"/>
                  </a:lnTo>
                  <a:lnTo>
                    <a:pt x="6270" y="6270"/>
                  </a:lnTo>
                  <a:lnTo>
                    <a:pt x="13081" y="1681"/>
                  </a:lnTo>
                  <a:lnTo>
                    <a:pt x="21431" y="0"/>
                  </a:lnTo>
                  <a:lnTo>
                    <a:pt x="29780" y="1681"/>
                  </a:lnTo>
                  <a:lnTo>
                    <a:pt x="36592" y="6270"/>
                  </a:lnTo>
                  <a:lnTo>
                    <a:pt x="41180" y="13081"/>
                  </a:lnTo>
                  <a:lnTo>
                    <a:pt x="42862" y="21431"/>
                  </a:lnTo>
                  <a:lnTo>
                    <a:pt x="42862" y="252352"/>
                  </a:lnTo>
                  <a:lnTo>
                    <a:pt x="47684" y="257174"/>
                  </a:lnTo>
                  <a:lnTo>
                    <a:pt x="321468" y="257174"/>
                  </a:lnTo>
                  <a:lnTo>
                    <a:pt x="329818" y="258856"/>
                  </a:lnTo>
                  <a:lnTo>
                    <a:pt x="336629" y="263445"/>
                  </a:lnTo>
                  <a:lnTo>
                    <a:pt x="341218" y="270256"/>
                  </a:lnTo>
                  <a:lnTo>
                    <a:pt x="342899" y="278606"/>
                  </a:lnTo>
                  <a:lnTo>
                    <a:pt x="341218" y="286955"/>
                  </a:lnTo>
                  <a:lnTo>
                    <a:pt x="336629" y="293767"/>
                  </a:lnTo>
                  <a:lnTo>
                    <a:pt x="329818" y="298355"/>
                  </a:lnTo>
                  <a:lnTo>
                    <a:pt x="321468" y="300037"/>
                  </a:lnTo>
                  <a:close/>
                </a:path>
                <a:path w="342900" h="300355">
                  <a:moveTo>
                    <a:pt x="275056" y="119680"/>
                  </a:moveTo>
                  <a:lnTo>
                    <a:pt x="214312" y="119680"/>
                  </a:lnTo>
                  <a:lnTo>
                    <a:pt x="284834" y="49090"/>
                  </a:lnTo>
                  <a:lnTo>
                    <a:pt x="291929" y="44381"/>
                  </a:lnTo>
                  <a:lnTo>
                    <a:pt x="300004" y="42812"/>
                  </a:lnTo>
                  <a:lnTo>
                    <a:pt x="308078" y="44381"/>
                  </a:lnTo>
                  <a:lnTo>
                    <a:pt x="315173" y="49090"/>
                  </a:lnTo>
                  <a:lnTo>
                    <a:pt x="319882" y="56185"/>
                  </a:lnTo>
                  <a:lnTo>
                    <a:pt x="321452" y="64260"/>
                  </a:lnTo>
                  <a:lnTo>
                    <a:pt x="319882" y="72334"/>
                  </a:lnTo>
                  <a:lnTo>
                    <a:pt x="314908" y="79827"/>
                  </a:lnTo>
                  <a:lnTo>
                    <a:pt x="275056" y="119680"/>
                  </a:lnTo>
                  <a:close/>
                </a:path>
                <a:path w="342900" h="300355">
                  <a:moveTo>
                    <a:pt x="85691" y="192864"/>
                  </a:moveTo>
                  <a:lnTo>
                    <a:pt x="77617" y="191294"/>
                  </a:lnTo>
                  <a:lnTo>
                    <a:pt x="70522" y="186585"/>
                  </a:lnTo>
                  <a:lnTo>
                    <a:pt x="65813" y="179490"/>
                  </a:lnTo>
                  <a:lnTo>
                    <a:pt x="64243" y="171416"/>
                  </a:lnTo>
                  <a:lnTo>
                    <a:pt x="65813" y="163342"/>
                  </a:lnTo>
                  <a:lnTo>
                    <a:pt x="70522" y="156247"/>
                  </a:lnTo>
                  <a:lnTo>
                    <a:pt x="145531" y="81237"/>
                  </a:lnTo>
                  <a:lnTo>
                    <a:pt x="152626" y="76528"/>
                  </a:lnTo>
                  <a:lnTo>
                    <a:pt x="160700" y="74959"/>
                  </a:lnTo>
                  <a:lnTo>
                    <a:pt x="168775" y="76528"/>
                  </a:lnTo>
                  <a:lnTo>
                    <a:pt x="175870" y="81237"/>
                  </a:lnTo>
                  <a:lnTo>
                    <a:pt x="214312" y="119680"/>
                  </a:lnTo>
                  <a:lnTo>
                    <a:pt x="275056" y="119680"/>
                  </a:lnTo>
                  <a:lnTo>
                    <a:pt x="267957" y="126779"/>
                  </a:lnTo>
                  <a:lnTo>
                    <a:pt x="160734" y="126779"/>
                  </a:lnTo>
                  <a:lnTo>
                    <a:pt x="100860" y="186585"/>
                  </a:lnTo>
                  <a:lnTo>
                    <a:pt x="93765" y="191294"/>
                  </a:lnTo>
                  <a:lnTo>
                    <a:pt x="85691" y="192864"/>
                  </a:lnTo>
                  <a:close/>
                </a:path>
                <a:path w="342900" h="300355">
                  <a:moveTo>
                    <a:pt x="314908" y="79827"/>
                  </a:moveTo>
                  <a:lnTo>
                    <a:pt x="315162" y="79445"/>
                  </a:lnTo>
                  <a:lnTo>
                    <a:pt x="315291" y="79445"/>
                  </a:lnTo>
                  <a:lnTo>
                    <a:pt x="314908" y="79827"/>
                  </a:lnTo>
                  <a:close/>
                </a:path>
                <a:path w="342900" h="300355">
                  <a:moveTo>
                    <a:pt x="214776" y="171416"/>
                  </a:moveTo>
                  <a:lnTo>
                    <a:pt x="213915" y="171416"/>
                  </a:lnTo>
                  <a:lnTo>
                    <a:pt x="206271" y="169930"/>
                  </a:lnTo>
                  <a:lnTo>
                    <a:pt x="199176" y="165221"/>
                  </a:lnTo>
                  <a:lnTo>
                    <a:pt x="160734" y="126779"/>
                  </a:lnTo>
                  <a:lnTo>
                    <a:pt x="267957" y="126779"/>
                  </a:lnTo>
                  <a:lnTo>
                    <a:pt x="229515" y="165221"/>
                  </a:lnTo>
                  <a:lnTo>
                    <a:pt x="222420" y="169930"/>
                  </a:lnTo>
                  <a:lnTo>
                    <a:pt x="214776" y="171416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9986961" y="1100137"/>
            <a:ext cx="1819275" cy="1133475"/>
          </a:xfrm>
          <a:prstGeom prst="rect">
            <a:avLst/>
          </a:prstGeom>
          <a:ln w="9524">
            <a:solidFill>
              <a:srgbClr val="4A8FE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200">
              <a:latin typeface="Times New Roman"/>
              <a:cs typeface="Times New Roman"/>
            </a:endParaRPr>
          </a:p>
          <a:p>
            <a:pPr marL="561340">
              <a:lnSpc>
                <a:spcPct val="100000"/>
              </a:lnSpc>
            </a:pPr>
            <a:r>
              <a:rPr sz="1300" spc="-65" dirty="0">
                <a:solidFill>
                  <a:srgbClr val="0052CC"/>
                </a:solidFill>
                <a:latin typeface="Arial"/>
                <a:cs typeface="Arial"/>
              </a:rPr>
              <a:t>Line</a:t>
            </a:r>
            <a:r>
              <a:rPr sz="1300" spc="-11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0052CC"/>
                </a:solidFill>
                <a:latin typeface="Arial"/>
                <a:cs typeface="Arial"/>
              </a:rPr>
              <a:t>Chart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095999" y="2466974"/>
            <a:ext cx="1828800" cy="1143000"/>
            <a:chOff x="6095999" y="2466974"/>
            <a:chExt cx="1828800" cy="1143000"/>
          </a:xfrm>
        </p:grpSpPr>
        <p:sp>
          <p:nvSpPr>
            <p:cNvPr id="43" name="object 43"/>
            <p:cNvSpPr/>
            <p:nvPr/>
          </p:nvSpPr>
          <p:spPr>
            <a:xfrm>
              <a:off x="6095999" y="2466974"/>
              <a:ext cx="1828800" cy="1143000"/>
            </a:xfrm>
            <a:custGeom>
              <a:avLst/>
              <a:gdLst/>
              <a:ahLst/>
              <a:cxnLst/>
              <a:rect l="l" t="t" r="r" b="b"/>
              <a:pathLst>
                <a:path w="1828800" h="1143000">
                  <a:moveTo>
                    <a:pt x="1828799" y="1142999"/>
                  </a:moveTo>
                  <a:lnTo>
                    <a:pt x="0" y="1142999"/>
                  </a:lnTo>
                  <a:lnTo>
                    <a:pt x="0" y="0"/>
                  </a:lnTo>
                  <a:lnTo>
                    <a:pt x="1828799" y="0"/>
                  </a:lnTo>
                  <a:lnTo>
                    <a:pt x="1828799" y="1142999"/>
                  </a:lnTo>
                  <a:close/>
                </a:path>
              </a:pathLst>
            </a:custGeom>
            <a:solidFill>
              <a:srgbClr val="E3F1FD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838949" y="2736056"/>
              <a:ext cx="342900" cy="300355"/>
            </a:xfrm>
            <a:custGeom>
              <a:avLst/>
              <a:gdLst/>
              <a:ahLst/>
              <a:cxnLst/>
              <a:rect l="l" t="t" r="r" b="b"/>
              <a:pathLst>
                <a:path w="342900" h="300355">
                  <a:moveTo>
                    <a:pt x="321468" y="300037"/>
                  </a:moveTo>
                  <a:lnTo>
                    <a:pt x="53578" y="300037"/>
                  </a:lnTo>
                  <a:lnTo>
                    <a:pt x="32718" y="295828"/>
                  </a:lnTo>
                  <a:lnTo>
                    <a:pt x="15688" y="284349"/>
                  </a:lnTo>
                  <a:lnTo>
                    <a:pt x="4208" y="267319"/>
                  </a:lnTo>
                  <a:lnTo>
                    <a:pt x="0" y="246459"/>
                  </a:lnTo>
                  <a:lnTo>
                    <a:pt x="0" y="21431"/>
                  </a:lnTo>
                  <a:lnTo>
                    <a:pt x="1681" y="13081"/>
                  </a:lnTo>
                  <a:lnTo>
                    <a:pt x="6270" y="6270"/>
                  </a:lnTo>
                  <a:lnTo>
                    <a:pt x="13081" y="1681"/>
                  </a:lnTo>
                  <a:lnTo>
                    <a:pt x="21431" y="0"/>
                  </a:lnTo>
                  <a:lnTo>
                    <a:pt x="29780" y="1681"/>
                  </a:lnTo>
                  <a:lnTo>
                    <a:pt x="36592" y="6270"/>
                  </a:lnTo>
                  <a:lnTo>
                    <a:pt x="41180" y="13081"/>
                  </a:lnTo>
                  <a:lnTo>
                    <a:pt x="42862" y="21431"/>
                  </a:lnTo>
                  <a:lnTo>
                    <a:pt x="42862" y="252352"/>
                  </a:lnTo>
                  <a:lnTo>
                    <a:pt x="47684" y="257174"/>
                  </a:lnTo>
                  <a:lnTo>
                    <a:pt x="321468" y="257174"/>
                  </a:lnTo>
                  <a:lnTo>
                    <a:pt x="329818" y="258856"/>
                  </a:lnTo>
                  <a:lnTo>
                    <a:pt x="336629" y="263445"/>
                  </a:lnTo>
                  <a:lnTo>
                    <a:pt x="341218" y="270256"/>
                  </a:lnTo>
                  <a:lnTo>
                    <a:pt x="342899" y="278606"/>
                  </a:lnTo>
                  <a:lnTo>
                    <a:pt x="341218" y="286955"/>
                  </a:lnTo>
                  <a:lnTo>
                    <a:pt x="336629" y="293767"/>
                  </a:lnTo>
                  <a:lnTo>
                    <a:pt x="329818" y="298355"/>
                  </a:lnTo>
                  <a:lnTo>
                    <a:pt x="321468" y="300037"/>
                  </a:lnTo>
                  <a:close/>
                </a:path>
                <a:path w="342900" h="300355">
                  <a:moveTo>
                    <a:pt x="300037" y="214312"/>
                  </a:moveTo>
                  <a:lnTo>
                    <a:pt x="106823" y="214312"/>
                  </a:lnTo>
                  <a:lnTo>
                    <a:pt x="98474" y="212630"/>
                  </a:lnTo>
                  <a:lnTo>
                    <a:pt x="98707" y="212630"/>
                  </a:lnTo>
                  <a:lnTo>
                    <a:pt x="91950" y="208042"/>
                  </a:lnTo>
                  <a:lnTo>
                    <a:pt x="87393" y="201230"/>
                  </a:lnTo>
                  <a:lnTo>
                    <a:pt x="85724" y="192881"/>
                  </a:lnTo>
                  <a:lnTo>
                    <a:pt x="85724" y="131467"/>
                  </a:lnTo>
                  <a:lnTo>
                    <a:pt x="87600" y="126444"/>
                  </a:lnTo>
                  <a:lnTo>
                    <a:pt x="144192" y="61748"/>
                  </a:lnTo>
                  <a:lnTo>
                    <a:pt x="151774" y="56207"/>
                  </a:lnTo>
                  <a:lnTo>
                    <a:pt x="160600" y="54440"/>
                  </a:lnTo>
                  <a:lnTo>
                    <a:pt x="169375" y="56427"/>
                  </a:lnTo>
                  <a:lnTo>
                    <a:pt x="176807" y="62150"/>
                  </a:lnTo>
                  <a:lnTo>
                    <a:pt x="203061" y="93627"/>
                  </a:lnTo>
                  <a:lnTo>
                    <a:pt x="208366" y="97788"/>
                  </a:lnTo>
                  <a:lnTo>
                    <a:pt x="214664" y="99387"/>
                  </a:lnTo>
                  <a:lnTo>
                    <a:pt x="287277" y="99387"/>
                  </a:lnTo>
                  <a:lnTo>
                    <a:pt x="319660" y="137159"/>
                  </a:lnTo>
                  <a:lnTo>
                    <a:pt x="321468" y="142115"/>
                  </a:lnTo>
                  <a:lnTo>
                    <a:pt x="321468" y="192881"/>
                  </a:lnTo>
                  <a:lnTo>
                    <a:pt x="319787" y="201230"/>
                  </a:lnTo>
                  <a:lnTo>
                    <a:pt x="315198" y="208042"/>
                  </a:lnTo>
                  <a:lnTo>
                    <a:pt x="308387" y="212630"/>
                  </a:lnTo>
                  <a:lnTo>
                    <a:pt x="300037" y="214312"/>
                  </a:lnTo>
                  <a:close/>
                </a:path>
                <a:path w="342900" h="300355">
                  <a:moveTo>
                    <a:pt x="287277" y="99387"/>
                  </a:moveTo>
                  <a:lnTo>
                    <a:pt x="214664" y="99387"/>
                  </a:lnTo>
                  <a:lnTo>
                    <a:pt x="221087" y="98374"/>
                  </a:lnTo>
                  <a:lnTo>
                    <a:pt x="226769" y="94699"/>
                  </a:lnTo>
                  <a:lnTo>
                    <a:pt x="240833" y="80635"/>
                  </a:lnTo>
                  <a:lnTo>
                    <a:pt x="248331" y="75756"/>
                  </a:lnTo>
                  <a:lnTo>
                    <a:pt x="256815" y="74356"/>
                  </a:lnTo>
                  <a:lnTo>
                    <a:pt x="265160" y="76396"/>
                  </a:lnTo>
                  <a:lnTo>
                    <a:pt x="272243" y="81840"/>
                  </a:lnTo>
                  <a:lnTo>
                    <a:pt x="287277" y="99387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100762" y="2471737"/>
            <a:ext cx="1819275" cy="1133475"/>
          </a:xfrm>
          <a:prstGeom prst="rect">
            <a:avLst/>
          </a:prstGeom>
          <a:ln w="9524">
            <a:solidFill>
              <a:srgbClr val="4A8FE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200">
              <a:latin typeface="Times New Roman"/>
              <a:cs typeface="Times New Roman"/>
            </a:endParaRPr>
          </a:p>
          <a:p>
            <a:pPr marL="460375">
              <a:lnSpc>
                <a:spcPct val="100000"/>
              </a:lnSpc>
            </a:pPr>
            <a:r>
              <a:rPr sz="1300" spc="-85" dirty="0">
                <a:solidFill>
                  <a:srgbClr val="0052CC"/>
                </a:solidFill>
                <a:latin typeface="Arial"/>
                <a:cs typeface="Arial"/>
              </a:rPr>
              <a:t>Combo</a:t>
            </a:r>
            <a:r>
              <a:rPr sz="1300" spc="-10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0052CC"/>
                </a:solidFill>
                <a:latin typeface="Arial"/>
                <a:cs typeface="Arial"/>
              </a:rPr>
              <a:t>Chart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8039099" y="2466974"/>
            <a:ext cx="1828800" cy="1143000"/>
            <a:chOff x="8039099" y="2466974"/>
            <a:chExt cx="1828800" cy="1143000"/>
          </a:xfrm>
        </p:grpSpPr>
        <p:sp>
          <p:nvSpPr>
            <p:cNvPr id="47" name="object 47"/>
            <p:cNvSpPr/>
            <p:nvPr/>
          </p:nvSpPr>
          <p:spPr>
            <a:xfrm>
              <a:off x="8039099" y="2466974"/>
              <a:ext cx="1828800" cy="1143000"/>
            </a:xfrm>
            <a:custGeom>
              <a:avLst/>
              <a:gdLst/>
              <a:ahLst/>
              <a:cxnLst/>
              <a:rect l="l" t="t" r="r" b="b"/>
              <a:pathLst>
                <a:path w="1828800" h="1143000">
                  <a:moveTo>
                    <a:pt x="1828799" y="1142999"/>
                  </a:moveTo>
                  <a:lnTo>
                    <a:pt x="0" y="1142999"/>
                  </a:lnTo>
                  <a:lnTo>
                    <a:pt x="0" y="0"/>
                  </a:lnTo>
                  <a:lnTo>
                    <a:pt x="1828799" y="0"/>
                  </a:lnTo>
                  <a:lnTo>
                    <a:pt x="1828799" y="1142999"/>
                  </a:lnTo>
                  <a:close/>
                </a:path>
              </a:pathLst>
            </a:custGeom>
            <a:solidFill>
              <a:srgbClr val="E3F1FD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743949" y="2736056"/>
              <a:ext cx="428625" cy="300355"/>
            </a:xfrm>
            <a:custGeom>
              <a:avLst/>
              <a:gdLst/>
              <a:ahLst/>
              <a:cxnLst/>
              <a:rect l="l" t="t" r="r" b="b"/>
              <a:pathLst>
                <a:path w="428625" h="300355">
                  <a:moveTo>
                    <a:pt x="48546" y="85724"/>
                  </a:moveTo>
                  <a:lnTo>
                    <a:pt x="37178" y="85724"/>
                  </a:lnTo>
                  <a:lnTo>
                    <a:pt x="31710" y="84637"/>
                  </a:lnTo>
                  <a:lnTo>
                    <a:pt x="1087" y="54014"/>
                  </a:lnTo>
                  <a:lnTo>
                    <a:pt x="0" y="48546"/>
                  </a:lnTo>
                  <a:lnTo>
                    <a:pt x="0" y="37178"/>
                  </a:lnTo>
                  <a:lnTo>
                    <a:pt x="21208" y="5437"/>
                  </a:lnTo>
                  <a:lnTo>
                    <a:pt x="37178" y="0"/>
                  </a:lnTo>
                  <a:lnTo>
                    <a:pt x="48546" y="0"/>
                  </a:lnTo>
                  <a:lnTo>
                    <a:pt x="80287" y="21208"/>
                  </a:lnTo>
                  <a:lnTo>
                    <a:pt x="85724" y="37178"/>
                  </a:lnTo>
                  <a:lnTo>
                    <a:pt x="85724" y="48546"/>
                  </a:lnTo>
                  <a:lnTo>
                    <a:pt x="64516" y="80287"/>
                  </a:lnTo>
                  <a:lnTo>
                    <a:pt x="48546" y="85724"/>
                  </a:lnTo>
                  <a:close/>
                </a:path>
                <a:path w="428625" h="300355">
                  <a:moveTo>
                    <a:pt x="155702" y="192881"/>
                  </a:moveTo>
                  <a:lnTo>
                    <a:pt x="144334" y="192881"/>
                  </a:lnTo>
                  <a:lnTo>
                    <a:pt x="138867" y="191793"/>
                  </a:lnTo>
                  <a:lnTo>
                    <a:pt x="108243" y="161170"/>
                  </a:lnTo>
                  <a:lnTo>
                    <a:pt x="107156" y="155702"/>
                  </a:lnTo>
                  <a:lnTo>
                    <a:pt x="107156" y="144334"/>
                  </a:lnTo>
                  <a:lnTo>
                    <a:pt x="108157" y="139303"/>
                  </a:lnTo>
                  <a:lnTo>
                    <a:pt x="108243" y="138867"/>
                  </a:lnTo>
                  <a:lnTo>
                    <a:pt x="138867" y="108243"/>
                  </a:lnTo>
                  <a:lnTo>
                    <a:pt x="144334" y="107156"/>
                  </a:lnTo>
                  <a:lnTo>
                    <a:pt x="155702" y="107156"/>
                  </a:lnTo>
                  <a:lnTo>
                    <a:pt x="187443" y="128364"/>
                  </a:lnTo>
                  <a:lnTo>
                    <a:pt x="191880" y="139303"/>
                  </a:lnTo>
                  <a:lnTo>
                    <a:pt x="147059" y="139303"/>
                  </a:lnTo>
                  <a:lnTo>
                    <a:pt x="144533" y="140349"/>
                  </a:lnTo>
                  <a:lnTo>
                    <a:pt x="140349" y="144533"/>
                  </a:lnTo>
                  <a:lnTo>
                    <a:pt x="139303" y="147059"/>
                  </a:lnTo>
                  <a:lnTo>
                    <a:pt x="139303" y="152977"/>
                  </a:lnTo>
                  <a:lnTo>
                    <a:pt x="140349" y="155503"/>
                  </a:lnTo>
                  <a:lnTo>
                    <a:pt x="144533" y="159688"/>
                  </a:lnTo>
                  <a:lnTo>
                    <a:pt x="147059" y="160734"/>
                  </a:lnTo>
                  <a:lnTo>
                    <a:pt x="191880" y="160734"/>
                  </a:lnTo>
                  <a:lnTo>
                    <a:pt x="191793" y="161170"/>
                  </a:lnTo>
                  <a:lnTo>
                    <a:pt x="161170" y="191793"/>
                  </a:lnTo>
                  <a:lnTo>
                    <a:pt x="155702" y="192881"/>
                  </a:lnTo>
                  <a:close/>
                </a:path>
                <a:path w="428625" h="300355">
                  <a:moveTo>
                    <a:pt x="191880" y="160734"/>
                  </a:moveTo>
                  <a:lnTo>
                    <a:pt x="152977" y="160734"/>
                  </a:lnTo>
                  <a:lnTo>
                    <a:pt x="155503" y="159688"/>
                  </a:lnTo>
                  <a:lnTo>
                    <a:pt x="159688" y="155503"/>
                  </a:lnTo>
                  <a:lnTo>
                    <a:pt x="160734" y="152977"/>
                  </a:lnTo>
                  <a:lnTo>
                    <a:pt x="160734" y="147059"/>
                  </a:lnTo>
                  <a:lnTo>
                    <a:pt x="159688" y="144533"/>
                  </a:lnTo>
                  <a:lnTo>
                    <a:pt x="155503" y="140349"/>
                  </a:lnTo>
                  <a:lnTo>
                    <a:pt x="152977" y="139303"/>
                  </a:lnTo>
                  <a:lnTo>
                    <a:pt x="191880" y="139303"/>
                  </a:lnTo>
                  <a:lnTo>
                    <a:pt x="192881" y="144334"/>
                  </a:lnTo>
                  <a:lnTo>
                    <a:pt x="192881" y="155702"/>
                  </a:lnTo>
                  <a:lnTo>
                    <a:pt x="191880" y="160734"/>
                  </a:lnTo>
                  <a:close/>
                </a:path>
                <a:path w="428625" h="300355">
                  <a:moveTo>
                    <a:pt x="48546" y="300037"/>
                  </a:moveTo>
                  <a:lnTo>
                    <a:pt x="37178" y="300037"/>
                  </a:lnTo>
                  <a:lnTo>
                    <a:pt x="31710" y="298949"/>
                  </a:lnTo>
                  <a:lnTo>
                    <a:pt x="1087" y="268326"/>
                  </a:lnTo>
                  <a:lnTo>
                    <a:pt x="0" y="262858"/>
                  </a:lnTo>
                  <a:lnTo>
                    <a:pt x="0" y="251491"/>
                  </a:lnTo>
                  <a:lnTo>
                    <a:pt x="1000" y="246459"/>
                  </a:lnTo>
                  <a:lnTo>
                    <a:pt x="1087" y="246023"/>
                  </a:lnTo>
                  <a:lnTo>
                    <a:pt x="31710" y="215400"/>
                  </a:lnTo>
                  <a:lnTo>
                    <a:pt x="37178" y="214312"/>
                  </a:lnTo>
                  <a:lnTo>
                    <a:pt x="48546" y="214312"/>
                  </a:lnTo>
                  <a:lnTo>
                    <a:pt x="80287" y="235520"/>
                  </a:lnTo>
                  <a:lnTo>
                    <a:pt x="84724" y="246459"/>
                  </a:lnTo>
                  <a:lnTo>
                    <a:pt x="39903" y="246459"/>
                  </a:lnTo>
                  <a:lnTo>
                    <a:pt x="37377" y="247505"/>
                  </a:lnTo>
                  <a:lnTo>
                    <a:pt x="33193" y="251690"/>
                  </a:lnTo>
                  <a:lnTo>
                    <a:pt x="32146" y="254215"/>
                  </a:lnTo>
                  <a:lnTo>
                    <a:pt x="32146" y="260134"/>
                  </a:lnTo>
                  <a:lnTo>
                    <a:pt x="33193" y="262659"/>
                  </a:lnTo>
                  <a:lnTo>
                    <a:pt x="37377" y="266844"/>
                  </a:lnTo>
                  <a:lnTo>
                    <a:pt x="39903" y="267890"/>
                  </a:lnTo>
                  <a:lnTo>
                    <a:pt x="84724" y="267890"/>
                  </a:lnTo>
                  <a:lnTo>
                    <a:pt x="84637" y="268326"/>
                  </a:lnTo>
                  <a:lnTo>
                    <a:pt x="54014" y="298949"/>
                  </a:lnTo>
                  <a:lnTo>
                    <a:pt x="48546" y="300037"/>
                  </a:lnTo>
                  <a:close/>
                </a:path>
                <a:path w="428625" h="300355">
                  <a:moveTo>
                    <a:pt x="84724" y="267890"/>
                  </a:moveTo>
                  <a:lnTo>
                    <a:pt x="45821" y="267890"/>
                  </a:lnTo>
                  <a:lnTo>
                    <a:pt x="48347" y="266844"/>
                  </a:lnTo>
                  <a:lnTo>
                    <a:pt x="52531" y="262659"/>
                  </a:lnTo>
                  <a:lnTo>
                    <a:pt x="53578" y="260134"/>
                  </a:lnTo>
                  <a:lnTo>
                    <a:pt x="53578" y="254215"/>
                  </a:lnTo>
                  <a:lnTo>
                    <a:pt x="52531" y="251690"/>
                  </a:lnTo>
                  <a:lnTo>
                    <a:pt x="48347" y="247505"/>
                  </a:lnTo>
                  <a:lnTo>
                    <a:pt x="45821" y="246459"/>
                  </a:lnTo>
                  <a:lnTo>
                    <a:pt x="84724" y="246459"/>
                  </a:lnTo>
                  <a:lnTo>
                    <a:pt x="85724" y="251491"/>
                  </a:lnTo>
                  <a:lnTo>
                    <a:pt x="85724" y="262858"/>
                  </a:lnTo>
                  <a:lnTo>
                    <a:pt x="84724" y="267890"/>
                  </a:lnTo>
                  <a:close/>
                </a:path>
                <a:path w="428625" h="300355">
                  <a:moveTo>
                    <a:pt x="155702" y="300037"/>
                  </a:moveTo>
                  <a:lnTo>
                    <a:pt x="144334" y="300037"/>
                  </a:lnTo>
                  <a:lnTo>
                    <a:pt x="138867" y="298949"/>
                  </a:lnTo>
                  <a:lnTo>
                    <a:pt x="108243" y="268326"/>
                  </a:lnTo>
                  <a:lnTo>
                    <a:pt x="107156" y="262858"/>
                  </a:lnTo>
                  <a:lnTo>
                    <a:pt x="107156" y="251491"/>
                  </a:lnTo>
                  <a:lnTo>
                    <a:pt x="128364" y="219750"/>
                  </a:lnTo>
                  <a:lnTo>
                    <a:pt x="144334" y="214312"/>
                  </a:lnTo>
                  <a:lnTo>
                    <a:pt x="155702" y="214312"/>
                  </a:lnTo>
                  <a:lnTo>
                    <a:pt x="187443" y="235520"/>
                  </a:lnTo>
                  <a:lnTo>
                    <a:pt x="191880" y="246459"/>
                  </a:lnTo>
                  <a:lnTo>
                    <a:pt x="147059" y="246459"/>
                  </a:lnTo>
                  <a:lnTo>
                    <a:pt x="144533" y="247505"/>
                  </a:lnTo>
                  <a:lnTo>
                    <a:pt x="140349" y="251690"/>
                  </a:lnTo>
                  <a:lnTo>
                    <a:pt x="139303" y="254215"/>
                  </a:lnTo>
                  <a:lnTo>
                    <a:pt x="139303" y="260134"/>
                  </a:lnTo>
                  <a:lnTo>
                    <a:pt x="140349" y="262659"/>
                  </a:lnTo>
                  <a:lnTo>
                    <a:pt x="144533" y="266844"/>
                  </a:lnTo>
                  <a:lnTo>
                    <a:pt x="147059" y="267890"/>
                  </a:lnTo>
                  <a:lnTo>
                    <a:pt x="191880" y="267890"/>
                  </a:lnTo>
                  <a:lnTo>
                    <a:pt x="191793" y="268326"/>
                  </a:lnTo>
                  <a:lnTo>
                    <a:pt x="161170" y="298949"/>
                  </a:lnTo>
                  <a:lnTo>
                    <a:pt x="155702" y="300037"/>
                  </a:lnTo>
                  <a:close/>
                </a:path>
                <a:path w="428625" h="300355">
                  <a:moveTo>
                    <a:pt x="191880" y="267890"/>
                  </a:moveTo>
                  <a:lnTo>
                    <a:pt x="152977" y="267890"/>
                  </a:lnTo>
                  <a:lnTo>
                    <a:pt x="155503" y="266844"/>
                  </a:lnTo>
                  <a:lnTo>
                    <a:pt x="159688" y="262659"/>
                  </a:lnTo>
                  <a:lnTo>
                    <a:pt x="160734" y="260134"/>
                  </a:lnTo>
                  <a:lnTo>
                    <a:pt x="160734" y="254215"/>
                  </a:lnTo>
                  <a:lnTo>
                    <a:pt x="159688" y="251690"/>
                  </a:lnTo>
                  <a:lnTo>
                    <a:pt x="155503" y="247505"/>
                  </a:lnTo>
                  <a:lnTo>
                    <a:pt x="152977" y="246459"/>
                  </a:lnTo>
                  <a:lnTo>
                    <a:pt x="191880" y="246459"/>
                  </a:lnTo>
                  <a:lnTo>
                    <a:pt x="192881" y="251491"/>
                  </a:lnTo>
                  <a:lnTo>
                    <a:pt x="192881" y="262858"/>
                  </a:lnTo>
                  <a:lnTo>
                    <a:pt x="191880" y="267890"/>
                  </a:lnTo>
                  <a:close/>
                </a:path>
                <a:path w="428625" h="300355">
                  <a:moveTo>
                    <a:pt x="48546" y="192881"/>
                  </a:moveTo>
                  <a:lnTo>
                    <a:pt x="37178" y="192881"/>
                  </a:lnTo>
                  <a:lnTo>
                    <a:pt x="31710" y="191793"/>
                  </a:lnTo>
                  <a:lnTo>
                    <a:pt x="1087" y="161170"/>
                  </a:lnTo>
                  <a:lnTo>
                    <a:pt x="0" y="155702"/>
                  </a:lnTo>
                  <a:lnTo>
                    <a:pt x="0" y="144334"/>
                  </a:lnTo>
                  <a:lnTo>
                    <a:pt x="21208" y="112594"/>
                  </a:lnTo>
                  <a:lnTo>
                    <a:pt x="37178" y="107156"/>
                  </a:lnTo>
                  <a:lnTo>
                    <a:pt x="48546" y="107156"/>
                  </a:lnTo>
                  <a:lnTo>
                    <a:pt x="80287" y="128364"/>
                  </a:lnTo>
                  <a:lnTo>
                    <a:pt x="85724" y="144334"/>
                  </a:lnTo>
                  <a:lnTo>
                    <a:pt x="85724" y="155702"/>
                  </a:lnTo>
                  <a:lnTo>
                    <a:pt x="64516" y="187443"/>
                  </a:lnTo>
                  <a:lnTo>
                    <a:pt x="48546" y="192881"/>
                  </a:lnTo>
                  <a:close/>
                </a:path>
                <a:path w="428625" h="300355">
                  <a:moveTo>
                    <a:pt x="155702" y="85724"/>
                  </a:moveTo>
                  <a:lnTo>
                    <a:pt x="144334" y="85724"/>
                  </a:lnTo>
                  <a:lnTo>
                    <a:pt x="138867" y="84637"/>
                  </a:lnTo>
                  <a:lnTo>
                    <a:pt x="108243" y="54014"/>
                  </a:lnTo>
                  <a:lnTo>
                    <a:pt x="107156" y="48546"/>
                  </a:lnTo>
                  <a:lnTo>
                    <a:pt x="107156" y="37178"/>
                  </a:lnTo>
                  <a:lnTo>
                    <a:pt x="128364" y="5437"/>
                  </a:lnTo>
                  <a:lnTo>
                    <a:pt x="144334" y="0"/>
                  </a:lnTo>
                  <a:lnTo>
                    <a:pt x="155702" y="0"/>
                  </a:lnTo>
                  <a:lnTo>
                    <a:pt x="187443" y="21208"/>
                  </a:lnTo>
                  <a:lnTo>
                    <a:pt x="192881" y="37178"/>
                  </a:lnTo>
                  <a:lnTo>
                    <a:pt x="192881" y="48546"/>
                  </a:lnTo>
                  <a:lnTo>
                    <a:pt x="171672" y="80287"/>
                  </a:lnTo>
                  <a:lnTo>
                    <a:pt x="155702" y="85724"/>
                  </a:lnTo>
                  <a:close/>
                </a:path>
                <a:path w="428625" h="300355">
                  <a:moveTo>
                    <a:pt x="284290" y="85724"/>
                  </a:moveTo>
                  <a:lnTo>
                    <a:pt x="272922" y="85724"/>
                  </a:lnTo>
                  <a:lnTo>
                    <a:pt x="267454" y="84637"/>
                  </a:lnTo>
                  <a:lnTo>
                    <a:pt x="236831" y="54014"/>
                  </a:lnTo>
                  <a:lnTo>
                    <a:pt x="235743" y="48546"/>
                  </a:lnTo>
                  <a:lnTo>
                    <a:pt x="235743" y="37178"/>
                  </a:lnTo>
                  <a:lnTo>
                    <a:pt x="256952" y="5437"/>
                  </a:lnTo>
                  <a:lnTo>
                    <a:pt x="272922" y="0"/>
                  </a:lnTo>
                  <a:lnTo>
                    <a:pt x="284290" y="0"/>
                  </a:lnTo>
                  <a:lnTo>
                    <a:pt x="316030" y="21208"/>
                  </a:lnTo>
                  <a:lnTo>
                    <a:pt x="321468" y="37178"/>
                  </a:lnTo>
                  <a:lnTo>
                    <a:pt x="321468" y="48546"/>
                  </a:lnTo>
                  <a:lnTo>
                    <a:pt x="300260" y="80287"/>
                  </a:lnTo>
                  <a:lnTo>
                    <a:pt x="284290" y="85724"/>
                  </a:lnTo>
                  <a:close/>
                </a:path>
                <a:path w="428625" h="300355">
                  <a:moveTo>
                    <a:pt x="391446" y="85724"/>
                  </a:moveTo>
                  <a:lnTo>
                    <a:pt x="380078" y="85724"/>
                  </a:lnTo>
                  <a:lnTo>
                    <a:pt x="374610" y="84637"/>
                  </a:lnTo>
                  <a:lnTo>
                    <a:pt x="343987" y="54014"/>
                  </a:lnTo>
                  <a:lnTo>
                    <a:pt x="342899" y="48546"/>
                  </a:lnTo>
                  <a:lnTo>
                    <a:pt x="342899" y="37178"/>
                  </a:lnTo>
                  <a:lnTo>
                    <a:pt x="364108" y="5437"/>
                  </a:lnTo>
                  <a:lnTo>
                    <a:pt x="380078" y="0"/>
                  </a:lnTo>
                  <a:lnTo>
                    <a:pt x="391446" y="0"/>
                  </a:lnTo>
                  <a:lnTo>
                    <a:pt x="423187" y="21208"/>
                  </a:lnTo>
                  <a:lnTo>
                    <a:pt x="427624" y="32146"/>
                  </a:lnTo>
                  <a:lnTo>
                    <a:pt x="382803" y="32146"/>
                  </a:lnTo>
                  <a:lnTo>
                    <a:pt x="380277" y="33193"/>
                  </a:lnTo>
                  <a:lnTo>
                    <a:pt x="376093" y="37377"/>
                  </a:lnTo>
                  <a:lnTo>
                    <a:pt x="375046" y="39903"/>
                  </a:lnTo>
                  <a:lnTo>
                    <a:pt x="375046" y="45821"/>
                  </a:lnTo>
                  <a:lnTo>
                    <a:pt x="376093" y="48347"/>
                  </a:lnTo>
                  <a:lnTo>
                    <a:pt x="380277" y="52531"/>
                  </a:lnTo>
                  <a:lnTo>
                    <a:pt x="382803" y="53578"/>
                  </a:lnTo>
                  <a:lnTo>
                    <a:pt x="427624" y="53578"/>
                  </a:lnTo>
                  <a:lnTo>
                    <a:pt x="427537" y="54014"/>
                  </a:lnTo>
                  <a:lnTo>
                    <a:pt x="396913" y="84637"/>
                  </a:lnTo>
                  <a:lnTo>
                    <a:pt x="391446" y="85724"/>
                  </a:lnTo>
                  <a:close/>
                </a:path>
                <a:path w="428625" h="300355">
                  <a:moveTo>
                    <a:pt x="427624" y="53578"/>
                  </a:moveTo>
                  <a:lnTo>
                    <a:pt x="388721" y="53578"/>
                  </a:lnTo>
                  <a:lnTo>
                    <a:pt x="391247" y="52531"/>
                  </a:lnTo>
                  <a:lnTo>
                    <a:pt x="395431" y="48347"/>
                  </a:lnTo>
                  <a:lnTo>
                    <a:pt x="396478" y="45821"/>
                  </a:lnTo>
                  <a:lnTo>
                    <a:pt x="396478" y="39903"/>
                  </a:lnTo>
                  <a:lnTo>
                    <a:pt x="395431" y="37377"/>
                  </a:lnTo>
                  <a:lnTo>
                    <a:pt x="391247" y="33193"/>
                  </a:lnTo>
                  <a:lnTo>
                    <a:pt x="388721" y="32146"/>
                  </a:lnTo>
                  <a:lnTo>
                    <a:pt x="427624" y="32146"/>
                  </a:lnTo>
                  <a:lnTo>
                    <a:pt x="428624" y="37178"/>
                  </a:lnTo>
                  <a:lnTo>
                    <a:pt x="428624" y="48546"/>
                  </a:lnTo>
                  <a:lnTo>
                    <a:pt x="427624" y="53578"/>
                  </a:lnTo>
                  <a:close/>
                </a:path>
                <a:path w="428625" h="300355">
                  <a:moveTo>
                    <a:pt x="391446" y="192881"/>
                  </a:moveTo>
                  <a:lnTo>
                    <a:pt x="380078" y="192881"/>
                  </a:lnTo>
                  <a:lnTo>
                    <a:pt x="374610" y="191793"/>
                  </a:lnTo>
                  <a:lnTo>
                    <a:pt x="343987" y="161170"/>
                  </a:lnTo>
                  <a:lnTo>
                    <a:pt x="342899" y="155702"/>
                  </a:lnTo>
                  <a:lnTo>
                    <a:pt x="342899" y="144334"/>
                  </a:lnTo>
                  <a:lnTo>
                    <a:pt x="364108" y="112594"/>
                  </a:lnTo>
                  <a:lnTo>
                    <a:pt x="380078" y="107156"/>
                  </a:lnTo>
                  <a:lnTo>
                    <a:pt x="391446" y="107156"/>
                  </a:lnTo>
                  <a:lnTo>
                    <a:pt x="423187" y="128364"/>
                  </a:lnTo>
                  <a:lnTo>
                    <a:pt x="427624" y="139303"/>
                  </a:lnTo>
                  <a:lnTo>
                    <a:pt x="382803" y="139303"/>
                  </a:lnTo>
                  <a:lnTo>
                    <a:pt x="380277" y="140349"/>
                  </a:lnTo>
                  <a:lnTo>
                    <a:pt x="376093" y="144533"/>
                  </a:lnTo>
                  <a:lnTo>
                    <a:pt x="375046" y="147059"/>
                  </a:lnTo>
                  <a:lnTo>
                    <a:pt x="375046" y="152977"/>
                  </a:lnTo>
                  <a:lnTo>
                    <a:pt x="376093" y="155503"/>
                  </a:lnTo>
                  <a:lnTo>
                    <a:pt x="380277" y="159688"/>
                  </a:lnTo>
                  <a:lnTo>
                    <a:pt x="382803" y="160734"/>
                  </a:lnTo>
                  <a:lnTo>
                    <a:pt x="427624" y="160734"/>
                  </a:lnTo>
                  <a:lnTo>
                    <a:pt x="427537" y="161170"/>
                  </a:lnTo>
                  <a:lnTo>
                    <a:pt x="396913" y="191793"/>
                  </a:lnTo>
                  <a:lnTo>
                    <a:pt x="391446" y="192881"/>
                  </a:lnTo>
                  <a:close/>
                </a:path>
                <a:path w="428625" h="300355">
                  <a:moveTo>
                    <a:pt x="427624" y="160734"/>
                  </a:moveTo>
                  <a:lnTo>
                    <a:pt x="388721" y="160734"/>
                  </a:lnTo>
                  <a:lnTo>
                    <a:pt x="391247" y="159688"/>
                  </a:lnTo>
                  <a:lnTo>
                    <a:pt x="395431" y="155503"/>
                  </a:lnTo>
                  <a:lnTo>
                    <a:pt x="396478" y="152977"/>
                  </a:lnTo>
                  <a:lnTo>
                    <a:pt x="396478" y="147059"/>
                  </a:lnTo>
                  <a:lnTo>
                    <a:pt x="395431" y="144533"/>
                  </a:lnTo>
                  <a:lnTo>
                    <a:pt x="391247" y="140349"/>
                  </a:lnTo>
                  <a:lnTo>
                    <a:pt x="388721" y="139303"/>
                  </a:lnTo>
                  <a:lnTo>
                    <a:pt x="427624" y="139303"/>
                  </a:lnTo>
                  <a:lnTo>
                    <a:pt x="428624" y="144334"/>
                  </a:lnTo>
                  <a:lnTo>
                    <a:pt x="428624" y="155702"/>
                  </a:lnTo>
                  <a:lnTo>
                    <a:pt x="427624" y="160734"/>
                  </a:lnTo>
                  <a:close/>
                </a:path>
                <a:path w="428625" h="300355">
                  <a:moveTo>
                    <a:pt x="391446" y="300037"/>
                  </a:moveTo>
                  <a:lnTo>
                    <a:pt x="380078" y="300037"/>
                  </a:lnTo>
                  <a:lnTo>
                    <a:pt x="374610" y="298949"/>
                  </a:lnTo>
                  <a:lnTo>
                    <a:pt x="343987" y="268326"/>
                  </a:lnTo>
                  <a:lnTo>
                    <a:pt x="342899" y="262858"/>
                  </a:lnTo>
                  <a:lnTo>
                    <a:pt x="342899" y="251491"/>
                  </a:lnTo>
                  <a:lnTo>
                    <a:pt x="364108" y="219750"/>
                  </a:lnTo>
                  <a:lnTo>
                    <a:pt x="380078" y="214312"/>
                  </a:lnTo>
                  <a:lnTo>
                    <a:pt x="391446" y="214312"/>
                  </a:lnTo>
                  <a:lnTo>
                    <a:pt x="423187" y="235520"/>
                  </a:lnTo>
                  <a:lnTo>
                    <a:pt x="427624" y="246459"/>
                  </a:lnTo>
                  <a:lnTo>
                    <a:pt x="382803" y="246459"/>
                  </a:lnTo>
                  <a:lnTo>
                    <a:pt x="380277" y="247505"/>
                  </a:lnTo>
                  <a:lnTo>
                    <a:pt x="376093" y="251690"/>
                  </a:lnTo>
                  <a:lnTo>
                    <a:pt x="375046" y="254215"/>
                  </a:lnTo>
                  <a:lnTo>
                    <a:pt x="375046" y="260134"/>
                  </a:lnTo>
                  <a:lnTo>
                    <a:pt x="376093" y="262659"/>
                  </a:lnTo>
                  <a:lnTo>
                    <a:pt x="380277" y="266844"/>
                  </a:lnTo>
                  <a:lnTo>
                    <a:pt x="382803" y="267890"/>
                  </a:lnTo>
                  <a:lnTo>
                    <a:pt x="427624" y="267890"/>
                  </a:lnTo>
                  <a:lnTo>
                    <a:pt x="427537" y="268326"/>
                  </a:lnTo>
                  <a:lnTo>
                    <a:pt x="396913" y="298949"/>
                  </a:lnTo>
                  <a:lnTo>
                    <a:pt x="391446" y="300037"/>
                  </a:lnTo>
                  <a:close/>
                </a:path>
                <a:path w="428625" h="300355">
                  <a:moveTo>
                    <a:pt x="427624" y="267890"/>
                  </a:moveTo>
                  <a:lnTo>
                    <a:pt x="388721" y="267890"/>
                  </a:lnTo>
                  <a:lnTo>
                    <a:pt x="391247" y="266844"/>
                  </a:lnTo>
                  <a:lnTo>
                    <a:pt x="395431" y="262659"/>
                  </a:lnTo>
                  <a:lnTo>
                    <a:pt x="396478" y="260134"/>
                  </a:lnTo>
                  <a:lnTo>
                    <a:pt x="396478" y="254215"/>
                  </a:lnTo>
                  <a:lnTo>
                    <a:pt x="395431" y="251690"/>
                  </a:lnTo>
                  <a:lnTo>
                    <a:pt x="391247" y="247505"/>
                  </a:lnTo>
                  <a:lnTo>
                    <a:pt x="388721" y="246459"/>
                  </a:lnTo>
                  <a:lnTo>
                    <a:pt x="427624" y="246459"/>
                  </a:lnTo>
                  <a:lnTo>
                    <a:pt x="428624" y="251491"/>
                  </a:lnTo>
                  <a:lnTo>
                    <a:pt x="428624" y="262858"/>
                  </a:lnTo>
                  <a:lnTo>
                    <a:pt x="427624" y="267890"/>
                  </a:lnTo>
                  <a:close/>
                </a:path>
                <a:path w="428625" h="300355">
                  <a:moveTo>
                    <a:pt x="284290" y="192881"/>
                  </a:moveTo>
                  <a:lnTo>
                    <a:pt x="272922" y="192881"/>
                  </a:lnTo>
                  <a:lnTo>
                    <a:pt x="267454" y="191793"/>
                  </a:lnTo>
                  <a:lnTo>
                    <a:pt x="236831" y="161170"/>
                  </a:lnTo>
                  <a:lnTo>
                    <a:pt x="235743" y="155702"/>
                  </a:lnTo>
                  <a:lnTo>
                    <a:pt x="235743" y="144334"/>
                  </a:lnTo>
                  <a:lnTo>
                    <a:pt x="236744" y="139303"/>
                  </a:lnTo>
                  <a:lnTo>
                    <a:pt x="236831" y="138867"/>
                  </a:lnTo>
                  <a:lnTo>
                    <a:pt x="267454" y="108243"/>
                  </a:lnTo>
                  <a:lnTo>
                    <a:pt x="272922" y="107156"/>
                  </a:lnTo>
                  <a:lnTo>
                    <a:pt x="284290" y="107156"/>
                  </a:lnTo>
                  <a:lnTo>
                    <a:pt x="316030" y="128364"/>
                  </a:lnTo>
                  <a:lnTo>
                    <a:pt x="320467" y="139303"/>
                  </a:lnTo>
                  <a:lnTo>
                    <a:pt x="275647" y="139303"/>
                  </a:lnTo>
                  <a:lnTo>
                    <a:pt x="273121" y="140349"/>
                  </a:lnTo>
                  <a:lnTo>
                    <a:pt x="268936" y="144533"/>
                  </a:lnTo>
                  <a:lnTo>
                    <a:pt x="267890" y="147059"/>
                  </a:lnTo>
                  <a:lnTo>
                    <a:pt x="267890" y="152977"/>
                  </a:lnTo>
                  <a:lnTo>
                    <a:pt x="268936" y="155503"/>
                  </a:lnTo>
                  <a:lnTo>
                    <a:pt x="273121" y="159688"/>
                  </a:lnTo>
                  <a:lnTo>
                    <a:pt x="275647" y="160734"/>
                  </a:lnTo>
                  <a:lnTo>
                    <a:pt x="320467" y="160734"/>
                  </a:lnTo>
                  <a:lnTo>
                    <a:pt x="320381" y="161170"/>
                  </a:lnTo>
                  <a:lnTo>
                    <a:pt x="289757" y="191793"/>
                  </a:lnTo>
                  <a:lnTo>
                    <a:pt x="284290" y="192881"/>
                  </a:lnTo>
                  <a:close/>
                </a:path>
                <a:path w="428625" h="300355">
                  <a:moveTo>
                    <a:pt x="320467" y="160734"/>
                  </a:moveTo>
                  <a:lnTo>
                    <a:pt x="281565" y="160734"/>
                  </a:lnTo>
                  <a:lnTo>
                    <a:pt x="284090" y="159688"/>
                  </a:lnTo>
                  <a:lnTo>
                    <a:pt x="288275" y="155503"/>
                  </a:lnTo>
                  <a:lnTo>
                    <a:pt x="289321" y="152977"/>
                  </a:lnTo>
                  <a:lnTo>
                    <a:pt x="289321" y="147059"/>
                  </a:lnTo>
                  <a:lnTo>
                    <a:pt x="288275" y="144533"/>
                  </a:lnTo>
                  <a:lnTo>
                    <a:pt x="284090" y="140349"/>
                  </a:lnTo>
                  <a:lnTo>
                    <a:pt x="281565" y="139303"/>
                  </a:lnTo>
                  <a:lnTo>
                    <a:pt x="320467" y="139303"/>
                  </a:lnTo>
                  <a:lnTo>
                    <a:pt x="321468" y="144334"/>
                  </a:lnTo>
                  <a:lnTo>
                    <a:pt x="321468" y="155702"/>
                  </a:lnTo>
                  <a:lnTo>
                    <a:pt x="320467" y="160734"/>
                  </a:lnTo>
                  <a:close/>
                </a:path>
                <a:path w="428625" h="300355">
                  <a:moveTo>
                    <a:pt x="284290" y="300037"/>
                  </a:moveTo>
                  <a:lnTo>
                    <a:pt x="272922" y="300037"/>
                  </a:lnTo>
                  <a:lnTo>
                    <a:pt x="267454" y="298949"/>
                  </a:lnTo>
                  <a:lnTo>
                    <a:pt x="236831" y="268326"/>
                  </a:lnTo>
                  <a:lnTo>
                    <a:pt x="235743" y="262858"/>
                  </a:lnTo>
                  <a:lnTo>
                    <a:pt x="235743" y="251491"/>
                  </a:lnTo>
                  <a:lnTo>
                    <a:pt x="256952" y="219750"/>
                  </a:lnTo>
                  <a:lnTo>
                    <a:pt x="272922" y="214312"/>
                  </a:lnTo>
                  <a:lnTo>
                    <a:pt x="284290" y="214312"/>
                  </a:lnTo>
                  <a:lnTo>
                    <a:pt x="316030" y="235520"/>
                  </a:lnTo>
                  <a:lnTo>
                    <a:pt x="320467" y="246459"/>
                  </a:lnTo>
                  <a:lnTo>
                    <a:pt x="275647" y="246459"/>
                  </a:lnTo>
                  <a:lnTo>
                    <a:pt x="273121" y="247505"/>
                  </a:lnTo>
                  <a:lnTo>
                    <a:pt x="268936" y="251690"/>
                  </a:lnTo>
                  <a:lnTo>
                    <a:pt x="267890" y="254215"/>
                  </a:lnTo>
                  <a:lnTo>
                    <a:pt x="267890" y="260134"/>
                  </a:lnTo>
                  <a:lnTo>
                    <a:pt x="268936" y="262659"/>
                  </a:lnTo>
                  <a:lnTo>
                    <a:pt x="273121" y="266844"/>
                  </a:lnTo>
                  <a:lnTo>
                    <a:pt x="275647" y="267890"/>
                  </a:lnTo>
                  <a:lnTo>
                    <a:pt x="320467" y="267890"/>
                  </a:lnTo>
                  <a:lnTo>
                    <a:pt x="320381" y="268326"/>
                  </a:lnTo>
                  <a:lnTo>
                    <a:pt x="289757" y="298949"/>
                  </a:lnTo>
                  <a:lnTo>
                    <a:pt x="284290" y="300037"/>
                  </a:lnTo>
                  <a:close/>
                </a:path>
                <a:path w="428625" h="300355">
                  <a:moveTo>
                    <a:pt x="320467" y="267890"/>
                  </a:moveTo>
                  <a:lnTo>
                    <a:pt x="281565" y="267890"/>
                  </a:lnTo>
                  <a:lnTo>
                    <a:pt x="284090" y="266844"/>
                  </a:lnTo>
                  <a:lnTo>
                    <a:pt x="288275" y="262659"/>
                  </a:lnTo>
                  <a:lnTo>
                    <a:pt x="289321" y="260134"/>
                  </a:lnTo>
                  <a:lnTo>
                    <a:pt x="289321" y="254215"/>
                  </a:lnTo>
                  <a:lnTo>
                    <a:pt x="288275" y="251690"/>
                  </a:lnTo>
                  <a:lnTo>
                    <a:pt x="284090" y="247505"/>
                  </a:lnTo>
                  <a:lnTo>
                    <a:pt x="281565" y="246459"/>
                  </a:lnTo>
                  <a:lnTo>
                    <a:pt x="320467" y="246459"/>
                  </a:lnTo>
                  <a:lnTo>
                    <a:pt x="321468" y="251491"/>
                  </a:lnTo>
                  <a:lnTo>
                    <a:pt x="321468" y="262858"/>
                  </a:lnTo>
                  <a:lnTo>
                    <a:pt x="320467" y="267890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8043861" y="2471737"/>
            <a:ext cx="1819275" cy="1133475"/>
          </a:xfrm>
          <a:prstGeom prst="rect">
            <a:avLst/>
          </a:prstGeom>
          <a:ln w="9524">
            <a:solidFill>
              <a:srgbClr val="4A8FE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200">
              <a:latin typeface="Times New Roman"/>
              <a:cs typeface="Times New Roman"/>
            </a:endParaRPr>
          </a:p>
          <a:p>
            <a:pPr marL="515620">
              <a:lnSpc>
                <a:spcPct val="100000"/>
              </a:lnSpc>
            </a:pPr>
            <a:r>
              <a:rPr sz="1300" spc="-55" dirty="0">
                <a:solidFill>
                  <a:srgbClr val="0052CC"/>
                </a:solidFill>
                <a:latin typeface="Arial"/>
                <a:cs typeface="Arial"/>
              </a:rPr>
              <a:t>Scatter</a:t>
            </a:r>
            <a:r>
              <a:rPr sz="1300" spc="-7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0052CC"/>
                </a:solidFill>
                <a:latin typeface="Arial"/>
                <a:cs typeface="Arial"/>
              </a:rPr>
              <a:t>Plot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9982199" y="2466974"/>
            <a:ext cx="1828800" cy="1143000"/>
            <a:chOff x="9982199" y="2466974"/>
            <a:chExt cx="1828800" cy="1143000"/>
          </a:xfrm>
        </p:grpSpPr>
        <p:sp>
          <p:nvSpPr>
            <p:cNvPr id="51" name="object 51"/>
            <p:cNvSpPr/>
            <p:nvPr/>
          </p:nvSpPr>
          <p:spPr>
            <a:xfrm>
              <a:off x="9982199" y="2466974"/>
              <a:ext cx="1828800" cy="1143000"/>
            </a:xfrm>
            <a:custGeom>
              <a:avLst/>
              <a:gdLst/>
              <a:ahLst/>
              <a:cxnLst/>
              <a:rect l="l" t="t" r="r" b="b"/>
              <a:pathLst>
                <a:path w="1828800" h="1143000">
                  <a:moveTo>
                    <a:pt x="1828799" y="1142999"/>
                  </a:moveTo>
                  <a:lnTo>
                    <a:pt x="0" y="1142999"/>
                  </a:lnTo>
                  <a:lnTo>
                    <a:pt x="0" y="0"/>
                  </a:lnTo>
                  <a:lnTo>
                    <a:pt x="1828799" y="0"/>
                  </a:lnTo>
                  <a:lnTo>
                    <a:pt x="1828799" y="1142999"/>
                  </a:lnTo>
                  <a:close/>
                </a:path>
              </a:pathLst>
            </a:custGeom>
            <a:solidFill>
              <a:srgbClr val="E3F1FD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0725149" y="2736056"/>
              <a:ext cx="342900" cy="300355"/>
            </a:xfrm>
            <a:custGeom>
              <a:avLst/>
              <a:gdLst/>
              <a:ahLst/>
              <a:cxnLst/>
              <a:rect l="l" t="t" r="r" b="b"/>
              <a:pathLst>
                <a:path w="342900" h="300355">
                  <a:moveTo>
                    <a:pt x="300037" y="300037"/>
                  </a:moveTo>
                  <a:lnTo>
                    <a:pt x="42862" y="300037"/>
                  </a:lnTo>
                  <a:lnTo>
                    <a:pt x="26191" y="296664"/>
                  </a:lnTo>
                  <a:lnTo>
                    <a:pt x="12565" y="287471"/>
                  </a:lnTo>
                  <a:lnTo>
                    <a:pt x="3372" y="273845"/>
                  </a:lnTo>
                  <a:lnTo>
                    <a:pt x="0" y="257174"/>
                  </a:lnTo>
                  <a:lnTo>
                    <a:pt x="0" y="42862"/>
                  </a:lnTo>
                  <a:lnTo>
                    <a:pt x="3372" y="26191"/>
                  </a:lnTo>
                  <a:lnTo>
                    <a:pt x="12565" y="12565"/>
                  </a:lnTo>
                  <a:lnTo>
                    <a:pt x="26191" y="3372"/>
                  </a:lnTo>
                  <a:lnTo>
                    <a:pt x="42862" y="0"/>
                  </a:lnTo>
                  <a:lnTo>
                    <a:pt x="300037" y="0"/>
                  </a:lnTo>
                  <a:lnTo>
                    <a:pt x="316708" y="3372"/>
                  </a:lnTo>
                  <a:lnTo>
                    <a:pt x="330334" y="12565"/>
                  </a:lnTo>
                  <a:lnTo>
                    <a:pt x="339527" y="26191"/>
                  </a:lnTo>
                  <a:lnTo>
                    <a:pt x="342899" y="42862"/>
                  </a:lnTo>
                  <a:lnTo>
                    <a:pt x="42862" y="42862"/>
                  </a:lnTo>
                  <a:lnTo>
                    <a:pt x="42862" y="128587"/>
                  </a:lnTo>
                  <a:lnTo>
                    <a:pt x="342899" y="128587"/>
                  </a:lnTo>
                  <a:lnTo>
                    <a:pt x="342899" y="171449"/>
                  </a:lnTo>
                  <a:lnTo>
                    <a:pt x="42862" y="171449"/>
                  </a:lnTo>
                  <a:lnTo>
                    <a:pt x="42862" y="257174"/>
                  </a:lnTo>
                  <a:lnTo>
                    <a:pt x="342899" y="257174"/>
                  </a:lnTo>
                  <a:lnTo>
                    <a:pt x="339527" y="273845"/>
                  </a:lnTo>
                  <a:lnTo>
                    <a:pt x="330334" y="287471"/>
                  </a:lnTo>
                  <a:lnTo>
                    <a:pt x="316708" y="296664"/>
                  </a:lnTo>
                  <a:lnTo>
                    <a:pt x="300037" y="300037"/>
                  </a:lnTo>
                  <a:close/>
                </a:path>
                <a:path w="342900" h="300355">
                  <a:moveTo>
                    <a:pt x="192881" y="128587"/>
                  </a:moveTo>
                  <a:lnTo>
                    <a:pt x="150018" y="128587"/>
                  </a:lnTo>
                  <a:lnTo>
                    <a:pt x="150018" y="42862"/>
                  </a:lnTo>
                  <a:lnTo>
                    <a:pt x="192881" y="42862"/>
                  </a:lnTo>
                  <a:lnTo>
                    <a:pt x="192881" y="128587"/>
                  </a:lnTo>
                  <a:close/>
                </a:path>
                <a:path w="342900" h="300355">
                  <a:moveTo>
                    <a:pt x="342899" y="128587"/>
                  </a:moveTo>
                  <a:lnTo>
                    <a:pt x="300037" y="128587"/>
                  </a:lnTo>
                  <a:lnTo>
                    <a:pt x="300037" y="42862"/>
                  </a:lnTo>
                  <a:lnTo>
                    <a:pt x="342899" y="42862"/>
                  </a:lnTo>
                  <a:lnTo>
                    <a:pt x="342899" y="128587"/>
                  </a:lnTo>
                  <a:close/>
                </a:path>
                <a:path w="342900" h="300355">
                  <a:moveTo>
                    <a:pt x="192881" y="257174"/>
                  </a:moveTo>
                  <a:lnTo>
                    <a:pt x="150018" y="257174"/>
                  </a:lnTo>
                  <a:lnTo>
                    <a:pt x="150018" y="171449"/>
                  </a:lnTo>
                  <a:lnTo>
                    <a:pt x="192881" y="171449"/>
                  </a:lnTo>
                  <a:lnTo>
                    <a:pt x="192881" y="257174"/>
                  </a:lnTo>
                  <a:close/>
                </a:path>
                <a:path w="342900" h="300355">
                  <a:moveTo>
                    <a:pt x="342899" y="257174"/>
                  </a:moveTo>
                  <a:lnTo>
                    <a:pt x="300037" y="257174"/>
                  </a:lnTo>
                  <a:lnTo>
                    <a:pt x="300037" y="171449"/>
                  </a:lnTo>
                  <a:lnTo>
                    <a:pt x="342899" y="171449"/>
                  </a:lnTo>
                  <a:lnTo>
                    <a:pt x="342899" y="25717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9986961" y="2471737"/>
            <a:ext cx="1819275" cy="1133475"/>
          </a:xfrm>
          <a:prstGeom prst="rect">
            <a:avLst/>
          </a:prstGeom>
          <a:ln w="9524">
            <a:solidFill>
              <a:srgbClr val="4A8FE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200">
              <a:latin typeface="Times New Roman"/>
              <a:cs typeface="Times New Roman"/>
            </a:endParaRPr>
          </a:p>
          <a:p>
            <a:pPr marL="575310">
              <a:lnSpc>
                <a:spcPct val="100000"/>
              </a:lnSpc>
            </a:pPr>
            <a:r>
              <a:rPr sz="1300" spc="-70" dirty="0">
                <a:solidFill>
                  <a:srgbClr val="0052CC"/>
                </a:solidFill>
                <a:latin typeface="Arial"/>
                <a:cs typeface="Arial"/>
              </a:rPr>
              <a:t>KPI</a:t>
            </a:r>
            <a:r>
              <a:rPr sz="1300" spc="-11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0052CC"/>
                </a:solidFill>
                <a:latin typeface="Arial"/>
                <a:cs typeface="Arial"/>
              </a:rPr>
              <a:t>Cards</a:t>
            </a:r>
            <a:endParaRPr sz="13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6095998" y="4600574"/>
            <a:ext cx="5715000" cy="1009650"/>
          </a:xfrm>
          <a:custGeom>
            <a:avLst/>
            <a:gdLst/>
            <a:ahLst/>
            <a:cxnLst/>
            <a:rect l="l" t="t" r="r" b="b"/>
            <a:pathLst>
              <a:path w="5715000" h="1009650">
                <a:moveTo>
                  <a:pt x="5681952" y="1009649"/>
                </a:moveTo>
                <a:lnTo>
                  <a:pt x="33047" y="1009649"/>
                </a:lnTo>
                <a:lnTo>
                  <a:pt x="28187" y="1008682"/>
                </a:lnTo>
                <a:lnTo>
                  <a:pt x="966" y="981461"/>
                </a:lnTo>
                <a:lnTo>
                  <a:pt x="0" y="976601"/>
                </a:lnTo>
                <a:lnTo>
                  <a:pt x="0" y="97154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5681952" y="0"/>
                </a:lnTo>
                <a:lnTo>
                  <a:pt x="5714032" y="28187"/>
                </a:lnTo>
                <a:lnTo>
                  <a:pt x="5715000" y="33047"/>
                </a:lnTo>
                <a:lnTo>
                  <a:pt x="5715000" y="976601"/>
                </a:lnTo>
                <a:lnTo>
                  <a:pt x="5686811" y="1008682"/>
                </a:lnTo>
                <a:lnTo>
                  <a:pt x="5681952" y="1009649"/>
                </a:lnTo>
                <a:close/>
              </a:path>
            </a:pathLst>
          </a:custGeom>
          <a:solidFill>
            <a:srgbClr val="E3F1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6083299" y="4111625"/>
            <a:ext cx="2968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45" dirty="0">
                <a:solidFill>
                  <a:srgbClr val="4A8FE2"/>
                </a:solidFill>
                <a:latin typeface="Calibri"/>
                <a:cs typeface="Calibri"/>
              </a:rPr>
              <a:t>INTERACTIVE</a:t>
            </a:r>
            <a:r>
              <a:rPr sz="1800" b="1" spc="110" dirty="0">
                <a:solidFill>
                  <a:srgbClr val="4A8FE2"/>
                </a:solidFill>
                <a:latin typeface="Calibri"/>
                <a:cs typeface="Calibri"/>
              </a:rPr>
              <a:t> </a:t>
            </a:r>
            <a:r>
              <a:rPr sz="1800" b="1" spc="265" dirty="0">
                <a:solidFill>
                  <a:srgbClr val="4A8FE2"/>
                </a:solidFill>
                <a:latin typeface="Calibri"/>
                <a:cs typeface="Calibri"/>
              </a:rPr>
              <a:t>ELEMENTS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235698" y="4741807"/>
            <a:ext cx="1993901" cy="21736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70" dirty="0">
                <a:solidFill>
                  <a:srgbClr val="0052CC"/>
                </a:solidFill>
                <a:latin typeface="Arial"/>
                <a:cs typeface="Arial"/>
              </a:rPr>
              <a:t>Dynamic</a:t>
            </a:r>
            <a:r>
              <a:rPr sz="1300" spc="-9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70" dirty="0">
                <a:solidFill>
                  <a:srgbClr val="0052CC"/>
                </a:solidFill>
                <a:latin typeface="Arial"/>
                <a:cs typeface="Arial"/>
              </a:rPr>
              <a:t>Slicers</a:t>
            </a:r>
            <a:r>
              <a:rPr sz="1300" spc="-9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0052CC"/>
                </a:solidFill>
                <a:latin typeface="Arial"/>
                <a:cs typeface="Arial"/>
              </a:rPr>
              <a:t>&amp;</a:t>
            </a:r>
            <a:r>
              <a:rPr sz="1300" spc="-9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lang="en-IN" sz="1300" spc="-95" dirty="0">
                <a:solidFill>
                  <a:srgbClr val="0052CC"/>
                </a:solidFill>
                <a:latin typeface="Arial"/>
                <a:cs typeface="Arial"/>
              </a:rPr>
              <a:t>Timeline</a:t>
            </a:r>
            <a:r>
              <a:rPr sz="1300" spc="-30" dirty="0">
                <a:solidFill>
                  <a:srgbClr val="0052CC"/>
                </a:solidFill>
                <a:latin typeface="Arial"/>
                <a:cs typeface="Arial"/>
              </a:rPr>
              <a:t>:</a:t>
            </a:r>
            <a:endParaRPr sz="1300" dirty="0">
              <a:latin typeface="Arial"/>
              <a:cs typeface="Arial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6248398" y="5095874"/>
            <a:ext cx="1295400" cy="361950"/>
            <a:chOff x="6248398" y="5095874"/>
            <a:chExt cx="1295400" cy="361950"/>
          </a:xfrm>
        </p:grpSpPr>
        <p:sp>
          <p:nvSpPr>
            <p:cNvPr id="58" name="object 58"/>
            <p:cNvSpPr/>
            <p:nvPr/>
          </p:nvSpPr>
          <p:spPr>
            <a:xfrm>
              <a:off x="6253161" y="5100637"/>
              <a:ext cx="1285875" cy="352425"/>
            </a:xfrm>
            <a:custGeom>
              <a:avLst/>
              <a:gdLst/>
              <a:ahLst/>
              <a:cxnLst/>
              <a:rect l="l" t="t" r="r" b="b"/>
              <a:pathLst>
                <a:path w="1285875" h="352425">
                  <a:moveTo>
                    <a:pt x="1256958" y="352424"/>
                  </a:moveTo>
                  <a:lnTo>
                    <a:pt x="28916" y="352424"/>
                  </a:lnTo>
                  <a:lnTo>
                    <a:pt x="24663" y="351578"/>
                  </a:lnTo>
                  <a:lnTo>
                    <a:pt x="0" y="323508"/>
                  </a:lnTo>
                  <a:lnTo>
                    <a:pt x="0" y="31908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1256958" y="0"/>
                  </a:lnTo>
                  <a:lnTo>
                    <a:pt x="1285875" y="28916"/>
                  </a:lnTo>
                  <a:lnTo>
                    <a:pt x="1285875" y="323508"/>
                  </a:lnTo>
                  <a:lnTo>
                    <a:pt x="1261210" y="351578"/>
                  </a:lnTo>
                  <a:lnTo>
                    <a:pt x="1256958" y="352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253161" y="5100637"/>
              <a:ext cx="1285875" cy="352425"/>
            </a:xfrm>
            <a:custGeom>
              <a:avLst/>
              <a:gdLst/>
              <a:ahLst/>
              <a:cxnLst/>
              <a:rect l="l" t="t" r="r" b="b"/>
              <a:pathLst>
                <a:path w="1285875" h="352425">
                  <a:moveTo>
                    <a:pt x="0" y="31908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2"/>
                  </a:lnTo>
                  <a:lnTo>
                    <a:pt x="2537" y="20578"/>
                  </a:lnTo>
                  <a:lnTo>
                    <a:pt x="4229" y="16494"/>
                  </a:lnTo>
                  <a:lnTo>
                    <a:pt x="6638" y="12889"/>
                  </a:lnTo>
                  <a:lnTo>
                    <a:pt x="9764" y="9763"/>
                  </a:lnTo>
                  <a:lnTo>
                    <a:pt x="12889" y="6637"/>
                  </a:lnTo>
                  <a:lnTo>
                    <a:pt x="16494" y="4228"/>
                  </a:lnTo>
                  <a:lnTo>
                    <a:pt x="20579" y="2537"/>
                  </a:lnTo>
                  <a:lnTo>
                    <a:pt x="24663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1252537" y="0"/>
                  </a:lnTo>
                  <a:lnTo>
                    <a:pt x="1256958" y="0"/>
                  </a:lnTo>
                  <a:lnTo>
                    <a:pt x="1261210" y="845"/>
                  </a:lnTo>
                  <a:lnTo>
                    <a:pt x="1265294" y="2537"/>
                  </a:lnTo>
                  <a:lnTo>
                    <a:pt x="1269378" y="4228"/>
                  </a:lnTo>
                  <a:lnTo>
                    <a:pt x="1283336" y="20578"/>
                  </a:lnTo>
                  <a:lnTo>
                    <a:pt x="1285028" y="24662"/>
                  </a:lnTo>
                  <a:lnTo>
                    <a:pt x="1285875" y="28916"/>
                  </a:lnTo>
                  <a:lnTo>
                    <a:pt x="1285875" y="33337"/>
                  </a:lnTo>
                  <a:lnTo>
                    <a:pt x="1285875" y="319087"/>
                  </a:lnTo>
                  <a:lnTo>
                    <a:pt x="1285875" y="323508"/>
                  </a:lnTo>
                  <a:lnTo>
                    <a:pt x="1285029" y="327760"/>
                  </a:lnTo>
                  <a:lnTo>
                    <a:pt x="1283337" y="331844"/>
                  </a:lnTo>
                  <a:lnTo>
                    <a:pt x="1281645" y="335928"/>
                  </a:lnTo>
                  <a:lnTo>
                    <a:pt x="1252537" y="352424"/>
                  </a:lnTo>
                  <a:lnTo>
                    <a:pt x="33338" y="352424"/>
                  </a:lnTo>
                  <a:lnTo>
                    <a:pt x="9764" y="342659"/>
                  </a:lnTo>
                  <a:lnTo>
                    <a:pt x="6638" y="339533"/>
                  </a:lnTo>
                  <a:lnTo>
                    <a:pt x="4229" y="335928"/>
                  </a:lnTo>
                  <a:lnTo>
                    <a:pt x="2537" y="331844"/>
                  </a:lnTo>
                  <a:lnTo>
                    <a:pt x="845" y="327760"/>
                  </a:lnTo>
                  <a:lnTo>
                    <a:pt x="0" y="323508"/>
                  </a:lnTo>
                  <a:lnTo>
                    <a:pt x="0" y="319087"/>
                  </a:lnTo>
                  <a:close/>
                </a:path>
              </a:pathLst>
            </a:custGeom>
            <a:ln w="9524">
              <a:solidFill>
                <a:srgbClr val="93C4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6751091" y="5178425"/>
            <a:ext cx="2901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0052CC"/>
                </a:solidFill>
                <a:latin typeface="Lato"/>
                <a:cs typeface="Lato"/>
              </a:rPr>
              <a:t>Year</a:t>
            </a:r>
            <a:endParaRPr sz="1050">
              <a:latin typeface="Lato"/>
              <a:cs typeface="Lato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7619998" y="5095874"/>
            <a:ext cx="1295400" cy="361950"/>
            <a:chOff x="7619998" y="5095874"/>
            <a:chExt cx="1295400" cy="361950"/>
          </a:xfrm>
        </p:grpSpPr>
        <p:sp>
          <p:nvSpPr>
            <p:cNvPr id="62" name="object 62"/>
            <p:cNvSpPr/>
            <p:nvPr/>
          </p:nvSpPr>
          <p:spPr>
            <a:xfrm>
              <a:off x="7624760" y="5100637"/>
              <a:ext cx="1285875" cy="352425"/>
            </a:xfrm>
            <a:custGeom>
              <a:avLst/>
              <a:gdLst/>
              <a:ahLst/>
              <a:cxnLst/>
              <a:rect l="l" t="t" r="r" b="b"/>
              <a:pathLst>
                <a:path w="1285875" h="352425">
                  <a:moveTo>
                    <a:pt x="1256958" y="352424"/>
                  </a:moveTo>
                  <a:lnTo>
                    <a:pt x="28916" y="352424"/>
                  </a:lnTo>
                  <a:lnTo>
                    <a:pt x="24663" y="351578"/>
                  </a:lnTo>
                  <a:lnTo>
                    <a:pt x="0" y="323508"/>
                  </a:lnTo>
                  <a:lnTo>
                    <a:pt x="0" y="31908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1256958" y="0"/>
                  </a:lnTo>
                  <a:lnTo>
                    <a:pt x="1285874" y="28916"/>
                  </a:lnTo>
                  <a:lnTo>
                    <a:pt x="1285874" y="323508"/>
                  </a:lnTo>
                  <a:lnTo>
                    <a:pt x="1261210" y="351578"/>
                  </a:lnTo>
                  <a:lnTo>
                    <a:pt x="1256958" y="352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624760" y="5100637"/>
              <a:ext cx="1285875" cy="352425"/>
            </a:xfrm>
            <a:custGeom>
              <a:avLst/>
              <a:gdLst/>
              <a:ahLst/>
              <a:cxnLst/>
              <a:rect l="l" t="t" r="r" b="b"/>
              <a:pathLst>
                <a:path w="1285875" h="352425">
                  <a:moveTo>
                    <a:pt x="0" y="31908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2"/>
                  </a:lnTo>
                  <a:lnTo>
                    <a:pt x="2537" y="20578"/>
                  </a:lnTo>
                  <a:lnTo>
                    <a:pt x="4228" y="16494"/>
                  </a:lnTo>
                  <a:lnTo>
                    <a:pt x="6637" y="12889"/>
                  </a:lnTo>
                  <a:lnTo>
                    <a:pt x="9764" y="9763"/>
                  </a:lnTo>
                  <a:lnTo>
                    <a:pt x="12890" y="6637"/>
                  </a:lnTo>
                  <a:lnTo>
                    <a:pt x="16495" y="4228"/>
                  </a:lnTo>
                  <a:lnTo>
                    <a:pt x="20579" y="2537"/>
                  </a:lnTo>
                  <a:lnTo>
                    <a:pt x="24663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1252537" y="0"/>
                  </a:lnTo>
                  <a:lnTo>
                    <a:pt x="1256958" y="0"/>
                  </a:lnTo>
                  <a:lnTo>
                    <a:pt x="1261209" y="845"/>
                  </a:lnTo>
                  <a:lnTo>
                    <a:pt x="1265293" y="2537"/>
                  </a:lnTo>
                  <a:lnTo>
                    <a:pt x="1269378" y="4228"/>
                  </a:lnTo>
                  <a:lnTo>
                    <a:pt x="1283336" y="20578"/>
                  </a:lnTo>
                  <a:lnTo>
                    <a:pt x="1285028" y="24662"/>
                  </a:lnTo>
                  <a:lnTo>
                    <a:pt x="1285874" y="28916"/>
                  </a:lnTo>
                  <a:lnTo>
                    <a:pt x="1285875" y="33337"/>
                  </a:lnTo>
                  <a:lnTo>
                    <a:pt x="1285875" y="319087"/>
                  </a:lnTo>
                  <a:lnTo>
                    <a:pt x="1261210" y="351578"/>
                  </a:lnTo>
                  <a:lnTo>
                    <a:pt x="1252537" y="352424"/>
                  </a:lnTo>
                  <a:lnTo>
                    <a:pt x="33338" y="352424"/>
                  </a:lnTo>
                  <a:lnTo>
                    <a:pt x="9764" y="342659"/>
                  </a:lnTo>
                  <a:lnTo>
                    <a:pt x="6637" y="339533"/>
                  </a:lnTo>
                  <a:lnTo>
                    <a:pt x="4228" y="335928"/>
                  </a:lnTo>
                  <a:lnTo>
                    <a:pt x="2537" y="331844"/>
                  </a:lnTo>
                  <a:lnTo>
                    <a:pt x="845" y="327760"/>
                  </a:lnTo>
                  <a:lnTo>
                    <a:pt x="0" y="323508"/>
                  </a:lnTo>
                  <a:lnTo>
                    <a:pt x="0" y="319087"/>
                  </a:lnTo>
                  <a:close/>
                </a:path>
              </a:pathLst>
            </a:custGeom>
            <a:ln w="9524">
              <a:solidFill>
                <a:srgbClr val="93C4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8030269" y="5178425"/>
            <a:ext cx="4749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0052CC"/>
                </a:solidFill>
                <a:latin typeface="Lato"/>
                <a:cs typeface="Lato"/>
              </a:rPr>
              <a:t>Priority</a:t>
            </a:r>
            <a:endParaRPr sz="1050">
              <a:latin typeface="Lato"/>
              <a:cs typeface="Lato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8991598" y="5095874"/>
            <a:ext cx="1295400" cy="361950"/>
            <a:chOff x="8991598" y="5095874"/>
            <a:chExt cx="1295400" cy="361950"/>
          </a:xfrm>
        </p:grpSpPr>
        <p:sp>
          <p:nvSpPr>
            <p:cNvPr id="66" name="object 66"/>
            <p:cNvSpPr/>
            <p:nvPr/>
          </p:nvSpPr>
          <p:spPr>
            <a:xfrm>
              <a:off x="8996360" y="5100637"/>
              <a:ext cx="1285875" cy="352425"/>
            </a:xfrm>
            <a:custGeom>
              <a:avLst/>
              <a:gdLst/>
              <a:ahLst/>
              <a:cxnLst/>
              <a:rect l="l" t="t" r="r" b="b"/>
              <a:pathLst>
                <a:path w="1285875" h="352425">
                  <a:moveTo>
                    <a:pt x="1256958" y="352424"/>
                  </a:moveTo>
                  <a:lnTo>
                    <a:pt x="28916" y="352424"/>
                  </a:lnTo>
                  <a:lnTo>
                    <a:pt x="24662" y="351578"/>
                  </a:lnTo>
                  <a:lnTo>
                    <a:pt x="0" y="323508"/>
                  </a:lnTo>
                  <a:lnTo>
                    <a:pt x="0" y="31908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1256958" y="0"/>
                  </a:lnTo>
                  <a:lnTo>
                    <a:pt x="1285874" y="28916"/>
                  </a:lnTo>
                  <a:lnTo>
                    <a:pt x="1285874" y="323508"/>
                  </a:lnTo>
                  <a:lnTo>
                    <a:pt x="1261210" y="351578"/>
                  </a:lnTo>
                  <a:lnTo>
                    <a:pt x="1256958" y="352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996360" y="5100637"/>
              <a:ext cx="1285875" cy="352425"/>
            </a:xfrm>
            <a:custGeom>
              <a:avLst/>
              <a:gdLst/>
              <a:ahLst/>
              <a:cxnLst/>
              <a:rect l="l" t="t" r="r" b="b"/>
              <a:pathLst>
                <a:path w="1285875" h="352425">
                  <a:moveTo>
                    <a:pt x="0" y="31908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2"/>
                  </a:lnTo>
                  <a:lnTo>
                    <a:pt x="2537" y="20578"/>
                  </a:lnTo>
                  <a:lnTo>
                    <a:pt x="4228" y="16494"/>
                  </a:lnTo>
                  <a:lnTo>
                    <a:pt x="6637" y="12889"/>
                  </a:lnTo>
                  <a:lnTo>
                    <a:pt x="9763" y="9763"/>
                  </a:lnTo>
                  <a:lnTo>
                    <a:pt x="12889" y="6637"/>
                  </a:lnTo>
                  <a:lnTo>
                    <a:pt x="16494" y="4228"/>
                  </a:lnTo>
                  <a:lnTo>
                    <a:pt x="20578" y="2537"/>
                  </a:lnTo>
                  <a:lnTo>
                    <a:pt x="24662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1252537" y="0"/>
                  </a:lnTo>
                  <a:lnTo>
                    <a:pt x="1256958" y="0"/>
                  </a:lnTo>
                  <a:lnTo>
                    <a:pt x="1261210" y="845"/>
                  </a:lnTo>
                  <a:lnTo>
                    <a:pt x="1265295" y="2537"/>
                  </a:lnTo>
                  <a:lnTo>
                    <a:pt x="1269379" y="4228"/>
                  </a:lnTo>
                  <a:lnTo>
                    <a:pt x="1285875" y="33337"/>
                  </a:lnTo>
                  <a:lnTo>
                    <a:pt x="1285875" y="319087"/>
                  </a:lnTo>
                  <a:lnTo>
                    <a:pt x="1261210" y="351578"/>
                  </a:lnTo>
                  <a:lnTo>
                    <a:pt x="1252537" y="352424"/>
                  </a:lnTo>
                  <a:lnTo>
                    <a:pt x="33338" y="352424"/>
                  </a:lnTo>
                  <a:lnTo>
                    <a:pt x="9763" y="342659"/>
                  </a:lnTo>
                  <a:lnTo>
                    <a:pt x="6637" y="339533"/>
                  </a:lnTo>
                  <a:lnTo>
                    <a:pt x="4228" y="335928"/>
                  </a:lnTo>
                  <a:lnTo>
                    <a:pt x="2537" y="331844"/>
                  </a:lnTo>
                  <a:lnTo>
                    <a:pt x="845" y="327760"/>
                  </a:lnTo>
                  <a:lnTo>
                    <a:pt x="0" y="323508"/>
                  </a:lnTo>
                  <a:lnTo>
                    <a:pt x="0" y="319087"/>
                  </a:lnTo>
                  <a:close/>
                </a:path>
              </a:pathLst>
            </a:custGeom>
            <a:ln w="9524">
              <a:solidFill>
                <a:srgbClr val="93C4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9385944" y="5178425"/>
            <a:ext cx="50673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0052CC"/>
                </a:solidFill>
                <a:latin typeface="Lato"/>
                <a:cs typeface="Lato"/>
              </a:rPr>
              <a:t>Severity</a:t>
            </a:r>
            <a:endParaRPr sz="1050">
              <a:latin typeface="Lato"/>
              <a:cs typeface="Lato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10363197" y="5095874"/>
            <a:ext cx="1295400" cy="361950"/>
            <a:chOff x="10363197" y="5095874"/>
            <a:chExt cx="1295400" cy="361950"/>
          </a:xfrm>
        </p:grpSpPr>
        <p:sp>
          <p:nvSpPr>
            <p:cNvPr id="70" name="object 70"/>
            <p:cNvSpPr/>
            <p:nvPr/>
          </p:nvSpPr>
          <p:spPr>
            <a:xfrm>
              <a:off x="10367960" y="5100637"/>
              <a:ext cx="1285875" cy="352425"/>
            </a:xfrm>
            <a:custGeom>
              <a:avLst/>
              <a:gdLst/>
              <a:ahLst/>
              <a:cxnLst/>
              <a:rect l="l" t="t" r="r" b="b"/>
              <a:pathLst>
                <a:path w="1285875" h="352425">
                  <a:moveTo>
                    <a:pt x="1256958" y="352424"/>
                  </a:moveTo>
                  <a:lnTo>
                    <a:pt x="28916" y="352424"/>
                  </a:lnTo>
                  <a:lnTo>
                    <a:pt x="24664" y="351578"/>
                  </a:lnTo>
                  <a:lnTo>
                    <a:pt x="0" y="323508"/>
                  </a:lnTo>
                  <a:lnTo>
                    <a:pt x="1" y="31908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1256958" y="0"/>
                  </a:lnTo>
                  <a:lnTo>
                    <a:pt x="1285876" y="28916"/>
                  </a:lnTo>
                  <a:lnTo>
                    <a:pt x="1285876" y="323508"/>
                  </a:lnTo>
                  <a:lnTo>
                    <a:pt x="1261210" y="351578"/>
                  </a:lnTo>
                  <a:lnTo>
                    <a:pt x="1256958" y="352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0367960" y="5100637"/>
              <a:ext cx="1285875" cy="352425"/>
            </a:xfrm>
            <a:custGeom>
              <a:avLst/>
              <a:gdLst/>
              <a:ahLst/>
              <a:cxnLst/>
              <a:rect l="l" t="t" r="r" b="b"/>
              <a:pathLst>
                <a:path w="1285875" h="352425">
                  <a:moveTo>
                    <a:pt x="1" y="319087"/>
                  </a:moveTo>
                  <a:lnTo>
                    <a:pt x="1" y="33337"/>
                  </a:lnTo>
                  <a:lnTo>
                    <a:pt x="0" y="28916"/>
                  </a:lnTo>
                  <a:lnTo>
                    <a:pt x="845" y="24662"/>
                  </a:lnTo>
                  <a:lnTo>
                    <a:pt x="2537" y="20578"/>
                  </a:lnTo>
                  <a:lnTo>
                    <a:pt x="4228" y="16494"/>
                  </a:lnTo>
                  <a:lnTo>
                    <a:pt x="6639" y="12889"/>
                  </a:lnTo>
                  <a:lnTo>
                    <a:pt x="9765" y="9763"/>
                  </a:lnTo>
                  <a:lnTo>
                    <a:pt x="12889" y="6637"/>
                  </a:lnTo>
                  <a:lnTo>
                    <a:pt x="16495" y="4228"/>
                  </a:lnTo>
                  <a:lnTo>
                    <a:pt x="20580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1252538" y="0"/>
                  </a:lnTo>
                  <a:lnTo>
                    <a:pt x="1256958" y="0"/>
                  </a:lnTo>
                  <a:lnTo>
                    <a:pt x="1261210" y="845"/>
                  </a:lnTo>
                  <a:lnTo>
                    <a:pt x="1265294" y="2537"/>
                  </a:lnTo>
                  <a:lnTo>
                    <a:pt x="1269378" y="4228"/>
                  </a:lnTo>
                  <a:lnTo>
                    <a:pt x="1283336" y="20578"/>
                  </a:lnTo>
                  <a:lnTo>
                    <a:pt x="1285029" y="24662"/>
                  </a:lnTo>
                  <a:lnTo>
                    <a:pt x="1285876" y="28916"/>
                  </a:lnTo>
                  <a:lnTo>
                    <a:pt x="1285876" y="33337"/>
                  </a:lnTo>
                  <a:lnTo>
                    <a:pt x="1285876" y="319087"/>
                  </a:lnTo>
                  <a:lnTo>
                    <a:pt x="1285876" y="323508"/>
                  </a:lnTo>
                  <a:lnTo>
                    <a:pt x="1285029" y="327760"/>
                  </a:lnTo>
                  <a:lnTo>
                    <a:pt x="1283336" y="331844"/>
                  </a:lnTo>
                  <a:lnTo>
                    <a:pt x="1281644" y="335928"/>
                  </a:lnTo>
                  <a:lnTo>
                    <a:pt x="1252538" y="352424"/>
                  </a:lnTo>
                  <a:lnTo>
                    <a:pt x="33338" y="352424"/>
                  </a:lnTo>
                  <a:lnTo>
                    <a:pt x="9765" y="342659"/>
                  </a:lnTo>
                  <a:lnTo>
                    <a:pt x="6639" y="339533"/>
                  </a:lnTo>
                  <a:lnTo>
                    <a:pt x="4229" y="335928"/>
                  </a:lnTo>
                  <a:lnTo>
                    <a:pt x="2538" y="331844"/>
                  </a:lnTo>
                  <a:lnTo>
                    <a:pt x="846" y="327760"/>
                  </a:lnTo>
                  <a:lnTo>
                    <a:pt x="0" y="323508"/>
                  </a:lnTo>
                  <a:lnTo>
                    <a:pt x="1" y="319087"/>
                  </a:lnTo>
                  <a:close/>
                </a:path>
              </a:pathLst>
            </a:custGeom>
            <a:ln w="9524">
              <a:solidFill>
                <a:srgbClr val="93C4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10726736" y="5178425"/>
            <a:ext cx="5683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0052CC"/>
                </a:solidFill>
                <a:latin typeface="Lato"/>
                <a:cs typeface="Lato"/>
              </a:rPr>
              <a:t>Category</a:t>
            </a:r>
            <a:endParaRPr sz="1050">
              <a:latin typeface="Lato"/>
              <a:cs typeface="Lato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2006381" y="6652163"/>
            <a:ext cx="114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52CC"/>
                </a:solidFill>
                <a:latin typeface="Lato"/>
                <a:cs typeface="Lato"/>
              </a:rPr>
              <a:t>4</a:t>
            </a:r>
            <a:endParaRPr sz="1200">
              <a:latin typeface="Lato"/>
              <a:cs typeface="Lato"/>
            </a:endParaRPr>
          </a:p>
        </p:txBody>
      </p:sp>
      <p:sp>
        <p:nvSpPr>
          <p:cNvPr id="76" name="object 39">
            <a:extLst>
              <a:ext uri="{FF2B5EF4-FFF2-40B4-BE49-F238E27FC236}">
                <a16:creationId xmlns:a16="http://schemas.microsoft.com/office/drawing/2014/main" id="{9BAAEF28-1023-4F43-A3A6-0D0669C47349}"/>
              </a:ext>
            </a:extLst>
          </p:cNvPr>
          <p:cNvSpPr/>
          <p:nvPr/>
        </p:nvSpPr>
        <p:spPr>
          <a:xfrm>
            <a:off x="9207189" y="0"/>
            <a:ext cx="2973070" cy="2496820"/>
          </a:xfrm>
          <a:custGeom>
            <a:avLst/>
            <a:gdLst/>
            <a:ahLst/>
            <a:cxnLst/>
            <a:rect l="l" t="t" r="r" b="b"/>
            <a:pathLst>
              <a:path w="2973070" h="2496820">
                <a:moveTo>
                  <a:pt x="2020557" y="2496807"/>
                </a:moveTo>
                <a:lnTo>
                  <a:pt x="0" y="476250"/>
                </a:lnTo>
                <a:lnTo>
                  <a:pt x="476250" y="0"/>
                </a:lnTo>
                <a:lnTo>
                  <a:pt x="2973057" y="0"/>
                </a:lnTo>
                <a:lnTo>
                  <a:pt x="2973057" y="1544307"/>
                </a:lnTo>
                <a:lnTo>
                  <a:pt x="2020557" y="2496807"/>
                </a:lnTo>
                <a:close/>
              </a:path>
            </a:pathLst>
          </a:custGeom>
          <a:solidFill>
            <a:srgbClr val="4A8FE2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39">
            <a:extLst>
              <a:ext uri="{FF2B5EF4-FFF2-40B4-BE49-F238E27FC236}">
                <a16:creationId xmlns:a16="http://schemas.microsoft.com/office/drawing/2014/main" id="{EED15060-E0D1-4FE9-A414-2F965A65F69F}"/>
              </a:ext>
            </a:extLst>
          </p:cNvPr>
          <p:cNvSpPr/>
          <p:nvPr/>
        </p:nvSpPr>
        <p:spPr>
          <a:xfrm rot="10800000">
            <a:off x="0" y="4335015"/>
            <a:ext cx="2973070" cy="2496820"/>
          </a:xfrm>
          <a:custGeom>
            <a:avLst/>
            <a:gdLst/>
            <a:ahLst/>
            <a:cxnLst/>
            <a:rect l="l" t="t" r="r" b="b"/>
            <a:pathLst>
              <a:path w="2973070" h="2496820">
                <a:moveTo>
                  <a:pt x="2020557" y="2496807"/>
                </a:moveTo>
                <a:lnTo>
                  <a:pt x="0" y="476250"/>
                </a:lnTo>
                <a:lnTo>
                  <a:pt x="476250" y="0"/>
                </a:lnTo>
                <a:lnTo>
                  <a:pt x="2973057" y="0"/>
                </a:lnTo>
                <a:lnTo>
                  <a:pt x="2973057" y="1544307"/>
                </a:lnTo>
                <a:lnTo>
                  <a:pt x="2020557" y="2496807"/>
                </a:lnTo>
                <a:close/>
              </a:path>
            </a:pathLst>
          </a:custGeom>
          <a:solidFill>
            <a:srgbClr val="4A8FE2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object 19"/>
          <p:cNvGrpSpPr/>
          <p:nvPr/>
        </p:nvGrpSpPr>
        <p:grpSpPr>
          <a:xfrm rot="5400000">
            <a:off x="7970075" y="2795304"/>
            <a:ext cx="5609209" cy="2362200"/>
            <a:chOff x="385762" y="7034211"/>
            <a:chExt cx="11420462" cy="933451"/>
          </a:xfrm>
        </p:grpSpPr>
        <p:sp>
          <p:nvSpPr>
            <p:cNvPr id="20" name="object 20"/>
            <p:cNvSpPr/>
            <p:nvPr/>
          </p:nvSpPr>
          <p:spPr>
            <a:xfrm>
              <a:off x="385762" y="7034211"/>
              <a:ext cx="2276475" cy="933450"/>
            </a:xfrm>
            <a:custGeom>
              <a:avLst/>
              <a:gdLst/>
              <a:ahLst/>
              <a:cxnLst/>
              <a:rect l="l" t="t" r="r" b="b"/>
              <a:pathLst>
                <a:path w="2276475" h="933450">
                  <a:moveTo>
                    <a:pt x="2247558" y="933449"/>
                  </a:moveTo>
                  <a:lnTo>
                    <a:pt x="28916" y="933449"/>
                  </a:lnTo>
                  <a:lnTo>
                    <a:pt x="24664" y="932603"/>
                  </a:lnTo>
                  <a:lnTo>
                    <a:pt x="0" y="904532"/>
                  </a:lnTo>
                  <a:lnTo>
                    <a:pt x="0" y="900112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2247558" y="0"/>
                  </a:lnTo>
                  <a:lnTo>
                    <a:pt x="2276474" y="28916"/>
                  </a:lnTo>
                  <a:lnTo>
                    <a:pt x="2276474" y="904532"/>
                  </a:lnTo>
                  <a:lnTo>
                    <a:pt x="2251810" y="932603"/>
                  </a:lnTo>
                  <a:lnTo>
                    <a:pt x="2247558" y="933449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 sz="32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2671749" y="7034212"/>
              <a:ext cx="9134475" cy="933450"/>
            </a:xfrm>
            <a:custGeom>
              <a:avLst/>
              <a:gdLst/>
              <a:ahLst/>
              <a:cxnLst/>
              <a:rect l="l" t="t" r="r" b="b"/>
              <a:pathLst>
                <a:path w="9134475" h="933450">
                  <a:moveTo>
                    <a:pt x="2276475" y="28917"/>
                  </a:moveTo>
                  <a:lnTo>
                    <a:pt x="2247569" y="0"/>
                  </a:lnTo>
                  <a:lnTo>
                    <a:pt x="28917" y="0"/>
                  </a:lnTo>
                  <a:lnTo>
                    <a:pt x="0" y="28917"/>
                  </a:lnTo>
                  <a:lnTo>
                    <a:pt x="0" y="900112"/>
                  </a:lnTo>
                  <a:lnTo>
                    <a:pt x="0" y="904532"/>
                  </a:lnTo>
                  <a:lnTo>
                    <a:pt x="28917" y="933450"/>
                  </a:lnTo>
                  <a:lnTo>
                    <a:pt x="2247569" y="933450"/>
                  </a:lnTo>
                  <a:lnTo>
                    <a:pt x="2276475" y="904532"/>
                  </a:lnTo>
                  <a:lnTo>
                    <a:pt x="2276475" y="28917"/>
                  </a:lnTo>
                  <a:close/>
                </a:path>
                <a:path w="9134475" h="933450">
                  <a:moveTo>
                    <a:pt x="4562475" y="28917"/>
                  </a:moveTo>
                  <a:lnTo>
                    <a:pt x="4533557" y="0"/>
                  </a:lnTo>
                  <a:lnTo>
                    <a:pt x="2314918" y="0"/>
                  </a:lnTo>
                  <a:lnTo>
                    <a:pt x="2286000" y="28917"/>
                  </a:lnTo>
                  <a:lnTo>
                    <a:pt x="2286000" y="900112"/>
                  </a:lnTo>
                  <a:lnTo>
                    <a:pt x="2286000" y="904532"/>
                  </a:lnTo>
                  <a:lnTo>
                    <a:pt x="2314918" y="933450"/>
                  </a:lnTo>
                  <a:lnTo>
                    <a:pt x="4533557" y="933450"/>
                  </a:lnTo>
                  <a:lnTo>
                    <a:pt x="4562475" y="904532"/>
                  </a:lnTo>
                  <a:lnTo>
                    <a:pt x="4562475" y="28917"/>
                  </a:lnTo>
                  <a:close/>
                </a:path>
                <a:path w="9134475" h="933450">
                  <a:moveTo>
                    <a:pt x="6848475" y="28917"/>
                  </a:moveTo>
                  <a:lnTo>
                    <a:pt x="6819557" y="0"/>
                  </a:lnTo>
                  <a:lnTo>
                    <a:pt x="4600918" y="0"/>
                  </a:lnTo>
                  <a:lnTo>
                    <a:pt x="4572000" y="28917"/>
                  </a:lnTo>
                  <a:lnTo>
                    <a:pt x="4572000" y="900112"/>
                  </a:lnTo>
                  <a:lnTo>
                    <a:pt x="4572000" y="904532"/>
                  </a:lnTo>
                  <a:lnTo>
                    <a:pt x="4600918" y="933450"/>
                  </a:lnTo>
                  <a:lnTo>
                    <a:pt x="6819557" y="933450"/>
                  </a:lnTo>
                  <a:lnTo>
                    <a:pt x="6848475" y="904532"/>
                  </a:lnTo>
                  <a:lnTo>
                    <a:pt x="6848475" y="28917"/>
                  </a:lnTo>
                  <a:close/>
                </a:path>
                <a:path w="9134475" h="933450">
                  <a:moveTo>
                    <a:pt x="9134475" y="28917"/>
                  </a:moveTo>
                  <a:lnTo>
                    <a:pt x="9105557" y="0"/>
                  </a:lnTo>
                  <a:lnTo>
                    <a:pt x="6886918" y="0"/>
                  </a:lnTo>
                  <a:lnTo>
                    <a:pt x="6858000" y="28917"/>
                  </a:lnTo>
                  <a:lnTo>
                    <a:pt x="6858000" y="900112"/>
                  </a:lnTo>
                  <a:lnTo>
                    <a:pt x="6858000" y="904532"/>
                  </a:lnTo>
                  <a:lnTo>
                    <a:pt x="6886918" y="933450"/>
                  </a:lnTo>
                  <a:lnTo>
                    <a:pt x="9105557" y="933450"/>
                  </a:lnTo>
                  <a:lnTo>
                    <a:pt x="9134475" y="904532"/>
                  </a:lnTo>
                  <a:lnTo>
                    <a:pt x="9134475" y="28917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 sz="3200"/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248664"/>
            <a:ext cx="524446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390" dirty="0"/>
              <a:t>TICKET</a:t>
            </a:r>
            <a:r>
              <a:rPr spc="155" dirty="0"/>
              <a:t> </a:t>
            </a:r>
            <a:r>
              <a:rPr spc="380" dirty="0"/>
              <a:t>VOLUME</a:t>
            </a:r>
            <a:r>
              <a:rPr spc="160" dirty="0"/>
              <a:t> </a:t>
            </a:r>
            <a:r>
              <a:rPr spc="420" dirty="0"/>
              <a:t>OVER</a:t>
            </a:r>
            <a:r>
              <a:rPr spc="160" dirty="0"/>
              <a:t> </a:t>
            </a:r>
            <a:r>
              <a:rPr spc="275" dirty="0"/>
              <a:t>TIME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104398" y="209230"/>
            <a:ext cx="3413760" cy="5180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600" b="1" spc="250" dirty="0">
                <a:solidFill>
                  <a:srgbClr val="0052CC"/>
                </a:solidFill>
                <a:latin typeface="Calibri"/>
                <a:cs typeface="Calibri"/>
              </a:rPr>
              <a:t>YEAR-</a:t>
            </a:r>
            <a:r>
              <a:rPr sz="1600" b="1" spc="285" dirty="0">
                <a:solidFill>
                  <a:srgbClr val="0052CC"/>
                </a:solidFill>
                <a:latin typeface="Calibri"/>
                <a:cs typeface="Calibri"/>
              </a:rPr>
              <a:t>WISE</a:t>
            </a:r>
            <a:endParaRPr lang="en-US" sz="1600" b="1" spc="285" dirty="0">
              <a:solidFill>
                <a:srgbClr val="0052CC"/>
              </a:solidFill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600" b="1" spc="260" dirty="0">
                <a:solidFill>
                  <a:srgbClr val="0052CC"/>
                </a:solidFill>
                <a:latin typeface="Calibri"/>
                <a:cs typeface="Calibri"/>
              </a:rPr>
              <a:t>TICKET</a:t>
            </a:r>
            <a:r>
              <a:rPr sz="1600" b="1" spc="120" dirty="0">
                <a:solidFill>
                  <a:srgbClr val="0052CC"/>
                </a:solidFill>
                <a:latin typeface="Calibri"/>
                <a:cs typeface="Calibri"/>
              </a:rPr>
              <a:t> </a:t>
            </a:r>
            <a:r>
              <a:rPr sz="1600" b="1" spc="245" dirty="0">
                <a:solidFill>
                  <a:srgbClr val="0052CC"/>
                </a:solidFill>
                <a:latin typeface="Calibri"/>
                <a:cs typeface="Calibri"/>
              </a:rPr>
              <a:t>VOLUME</a:t>
            </a:r>
            <a:endParaRPr sz="1600" dirty="0">
              <a:latin typeface="Calibri"/>
              <a:cs typeface="Calibri"/>
            </a:endParaRPr>
          </a:p>
        </p:txBody>
      </p:sp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31A7BBEE-409A-413A-B945-145AB30A33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0780708"/>
              </p:ext>
            </p:extLst>
          </p:nvPr>
        </p:nvGraphicFramePr>
        <p:xfrm>
          <a:off x="392839" y="913606"/>
          <a:ext cx="8745039" cy="3045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7DCB009-6236-40E3-81CF-4F7091A327F0}"/>
              </a:ext>
            </a:extLst>
          </p:cNvPr>
          <p:cNvSpPr txBox="1"/>
          <p:nvPr/>
        </p:nvSpPr>
        <p:spPr>
          <a:xfrm>
            <a:off x="10126977" y="1413145"/>
            <a:ext cx="12954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52CC"/>
                </a:solidFill>
              </a:rPr>
              <a:t>13,051</a:t>
            </a:r>
          </a:p>
          <a:p>
            <a:pPr algn="ctr"/>
            <a:r>
              <a:rPr lang="en-US" sz="1100" dirty="0">
                <a:solidFill>
                  <a:srgbClr val="7893AE"/>
                </a:solidFill>
              </a:rPr>
              <a:t>2016</a:t>
            </a:r>
            <a:endParaRPr lang="en-IN" sz="1100" dirty="0">
              <a:solidFill>
                <a:srgbClr val="7893AE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D96D4D-282F-4FD9-BF8D-88522DDC91B2}"/>
              </a:ext>
            </a:extLst>
          </p:cNvPr>
          <p:cNvSpPr txBox="1"/>
          <p:nvPr/>
        </p:nvSpPr>
        <p:spPr>
          <a:xfrm>
            <a:off x="10163579" y="2423586"/>
            <a:ext cx="1295401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52CC"/>
                </a:solidFill>
              </a:rPr>
              <a:t>14,915</a:t>
            </a:r>
          </a:p>
          <a:p>
            <a:pPr algn="ctr"/>
            <a:r>
              <a:rPr lang="en-US" sz="1100" dirty="0">
                <a:solidFill>
                  <a:srgbClr val="7893AE"/>
                </a:solidFill>
              </a:rPr>
              <a:t>2017</a:t>
            </a:r>
          </a:p>
          <a:p>
            <a:pPr algn="ctr"/>
            <a:r>
              <a:rPr lang="en-US" sz="1000" dirty="0">
                <a:solidFill>
                  <a:srgbClr val="7893AE"/>
                </a:solidFill>
              </a:rPr>
              <a:t>+14.28% YoY</a:t>
            </a:r>
            <a:endParaRPr lang="en-IN" sz="1000" dirty="0">
              <a:solidFill>
                <a:srgbClr val="7893AE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C835C6-3AA5-483B-9549-F6E7224C5B69}"/>
              </a:ext>
            </a:extLst>
          </p:cNvPr>
          <p:cNvSpPr txBox="1"/>
          <p:nvPr/>
        </p:nvSpPr>
        <p:spPr>
          <a:xfrm>
            <a:off x="10168872" y="3638674"/>
            <a:ext cx="1295401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52CC"/>
                </a:solidFill>
              </a:rPr>
              <a:t>18,954</a:t>
            </a:r>
          </a:p>
          <a:p>
            <a:pPr algn="ctr"/>
            <a:r>
              <a:rPr lang="en-US" sz="1100" dirty="0">
                <a:solidFill>
                  <a:srgbClr val="7893AE"/>
                </a:solidFill>
              </a:rPr>
              <a:t>2018</a:t>
            </a:r>
          </a:p>
          <a:p>
            <a:pPr algn="ctr"/>
            <a:r>
              <a:rPr lang="en-US" sz="1000" dirty="0">
                <a:solidFill>
                  <a:srgbClr val="7893AE"/>
                </a:solidFill>
              </a:rPr>
              <a:t>+27.08% YoY</a:t>
            </a:r>
            <a:endParaRPr lang="en-IN" sz="1000" dirty="0">
              <a:solidFill>
                <a:srgbClr val="7893AE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515299-6333-48B6-B7FD-0F40C5D5B0D3}"/>
              </a:ext>
            </a:extLst>
          </p:cNvPr>
          <p:cNvSpPr txBox="1"/>
          <p:nvPr/>
        </p:nvSpPr>
        <p:spPr>
          <a:xfrm>
            <a:off x="10163578" y="4786873"/>
            <a:ext cx="1295401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52CC"/>
                </a:solidFill>
              </a:rPr>
              <a:t>21,490</a:t>
            </a:r>
          </a:p>
          <a:p>
            <a:pPr algn="ctr"/>
            <a:r>
              <a:rPr lang="en-US" sz="1100" dirty="0">
                <a:solidFill>
                  <a:srgbClr val="7893AE"/>
                </a:solidFill>
              </a:rPr>
              <a:t>2019</a:t>
            </a:r>
          </a:p>
          <a:p>
            <a:pPr algn="ctr"/>
            <a:r>
              <a:rPr lang="en-US" sz="1000" dirty="0">
                <a:solidFill>
                  <a:srgbClr val="7893AE"/>
                </a:solidFill>
              </a:rPr>
              <a:t>+13.38% YoY</a:t>
            </a:r>
            <a:endParaRPr lang="en-IN" sz="1000" dirty="0">
              <a:solidFill>
                <a:srgbClr val="7893AE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D3494A-B3EB-4A6A-8D7B-69968AB23E64}"/>
              </a:ext>
            </a:extLst>
          </p:cNvPr>
          <p:cNvSpPr txBox="1"/>
          <p:nvPr/>
        </p:nvSpPr>
        <p:spPr>
          <a:xfrm>
            <a:off x="10174391" y="5914217"/>
            <a:ext cx="1295401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52CC"/>
                </a:solidFill>
              </a:rPr>
              <a:t>29,088</a:t>
            </a:r>
          </a:p>
          <a:p>
            <a:pPr algn="ctr"/>
            <a:r>
              <a:rPr lang="en-US" sz="1100" dirty="0">
                <a:solidFill>
                  <a:srgbClr val="7893AE"/>
                </a:solidFill>
              </a:rPr>
              <a:t>2020</a:t>
            </a:r>
          </a:p>
          <a:p>
            <a:pPr algn="ctr"/>
            <a:r>
              <a:rPr lang="en-US" sz="1000" dirty="0">
                <a:solidFill>
                  <a:srgbClr val="7893AE"/>
                </a:solidFill>
              </a:rPr>
              <a:t>+35.36% YoY</a:t>
            </a:r>
            <a:endParaRPr lang="en-IN" sz="1000" dirty="0">
              <a:solidFill>
                <a:srgbClr val="7893AE"/>
              </a:solidFill>
            </a:endParaRPr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BC4A90DE-2844-46FB-8B28-EB03A724210C}"/>
              </a:ext>
            </a:extLst>
          </p:cNvPr>
          <p:cNvSpPr/>
          <p:nvPr/>
        </p:nvSpPr>
        <p:spPr>
          <a:xfrm>
            <a:off x="9174477" y="2159378"/>
            <a:ext cx="3200400" cy="102750"/>
          </a:xfrm>
          <a:prstGeom prst="mathMinus">
            <a:avLst/>
          </a:prstGeom>
          <a:ln>
            <a:solidFill>
              <a:srgbClr val="BDD6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Minus Sign 24">
            <a:extLst>
              <a:ext uri="{FF2B5EF4-FFF2-40B4-BE49-F238E27FC236}">
                <a16:creationId xmlns:a16="http://schemas.microsoft.com/office/drawing/2014/main" id="{58B6C4A7-9F94-4B21-865B-F2472045D02D}"/>
              </a:ext>
            </a:extLst>
          </p:cNvPr>
          <p:cNvSpPr/>
          <p:nvPr/>
        </p:nvSpPr>
        <p:spPr>
          <a:xfrm>
            <a:off x="9183565" y="3308533"/>
            <a:ext cx="3200400" cy="102750"/>
          </a:xfrm>
          <a:prstGeom prst="mathMinus">
            <a:avLst/>
          </a:prstGeom>
          <a:ln>
            <a:solidFill>
              <a:srgbClr val="BDD6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Minus Sign 25">
            <a:extLst>
              <a:ext uri="{FF2B5EF4-FFF2-40B4-BE49-F238E27FC236}">
                <a16:creationId xmlns:a16="http://schemas.microsoft.com/office/drawing/2014/main" id="{2C5D66BB-310D-47A5-9B8C-B3D1B2B4C1F1}"/>
              </a:ext>
            </a:extLst>
          </p:cNvPr>
          <p:cNvSpPr/>
          <p:nvPr/>
        </p:nvSpPr>
        <p:spPr>
          <a:xfrm>
            <a:off x="9211079" y="4520214"/>
            <a:ext cx="3200400" cy="102750"/>
          </a:xfrm>
          <a:prstGeom prst="mathMinus">
            <a:avLst/>
          </a:prstGeom>
          <a:ln>
            <a:solidFill>
              <a:srgbClr val="BDD6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Minus Sign 27">
            <a:extLst>
              <a:ext uri="{FF2B5EF4-FFF2-40B4-BE49-F238E27FC236}">
                <a16:creationId xmlns:a16="http://schemas.microsoft.com/office/drawing/2014/main" id="{7B0181F8-888D-491E-9E48-B4AADEA8C805}"/>
              </a:ext>
            </a:extLst>
          </p:cNvPr>
          <p:cNvSpPr/>
          <p:nvPr/>
        </p:nvSpPr>
        <p:spPr>
          <a:xfrm>
            <a:off x="9174477" y="5697141"/>
            <a:ext cx="3200400" cy="102750"/>
          </a:xfrm>
          <a:prstGeom prst="mathMinus">
            <a:avLst/>
          </a:prstGeom>
          <a:ln>
            <a:solidFill>
              <a:srgbClr val="BDD6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bject 12">
            <a:extLst>
              <a:ext uri="{FF2B5EF4-FFF2-40B4-BE49-F238E27FC236}">
                <a16:creationId xmlns:a16="http://schemas.microsoft.com/office/drawing/2014/main" id="{3BA2982D-A705-4852-8FA7-4A1A9F980ACC}"/>
              </a:ext>
            </a:extLst>
          </p:cNvPr>
          <p:cNvSpPr txBox="1"/>
          <p:nvPr/>
        </p:nvSpPr>
        <p:spPr>
          <a:xfrm>
            <a:off x="990600" y="5025431"/>
            <a:ext cx="6611573" cy="1015599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840"/>
              </a:spcBef>
            </a:pPr>
            <a:r>
              <a:rPr sz="1600" spc="-90" dirty="0">
                <a:solidFill>
                  <a:srgbClr val="0052CC"/>
                </a:solidFill>
                <a:latin typeface="Arial"/>
                <a:cs typeface="Arial"/>
              </a:rPr>
              <a:t>Business</a:t>
            </a:r>
            <a:r>
              <a:rPr sz="1600" spc="-8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52CC"/>
                </a:solidFill>
                <a:latin typeface="Arial"/>
                <a:cs typeface="Arial"/>
              </a:rPr>
              <a:t>Impact:</a:t>
            </a:r>
            <a:endParaRPr sz="1600" dirty="0">
              <a:latin typeface="Arial"/>
              <a:cs typeface="Arial"/>
            </a:endParaRPr>
          </a:p>
          <a:p>
            <a:pPr marL="400050" marR="508000" indent="-285750">
              <a:lnSpc>
                <a:spcPct val="125000"/>
              </a:lnSpc>
              <a:spcBef>
                <a:spcPts val="280"/>
              </a:spcBef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003366"/>
                </a:solidFill>
                <a:latin typeface="Lato"/>
                <a:cs typeface="Lato"/>
              </a:rPr>
              <a:t>Rapid</a:t>
            </a:r>
            <a:r>
              <a:rPr sz="16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600" dirty="0">
                <a:solidFill>
                  <a:srgbClr val="003366"/>
                </a:solidFill>
                <a:latin typeface="Lato"/>
                <a:cs typeface="Lato"/>
              </a:rPr>
              <a:t>growth</a:t>
            </a:r>
            <a:r>
              <a:rPr sz="16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600" dirty="0">
                <a:solidFill>
                  <a:srgbClr val="003366"/>
                </a:solidFill>
                <a:latin typeface="Lato"/>
                <a:cs typeface="Lato"/>
              </a:rPr>
              <a:t>signals</a:t>
            </a:r>
            <a:r>
              <a:rPr sz="16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600" dirty="0">
                <a:solidFill>
                  <a:srgbClr val="003366"/>
                </a:solidFill>
                <a:latin typeface="Lato"/>
                <a:cs typeface="Lato"/>
              </a:rPr>
              <a:t>rising</a:t>
            </a:r>
            <a:r>
              <a:rPr sz="16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600" spc="-20" dirty="0">
                <a:solidFill>
                  <a:srgbClr val="003366"/>
                </a:solidFill>
                <a:latin typeface="Lato"/>
                <a:cs typeface="Lato"/>
              </a:rPr>
              <a:t>dependency</a:t>
            </a:r>
            <a:r>
              <a:rPr sz="1600" spc="-4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600" spc="-20" dirty="0">
                <a:solidFill>
                  <a:srgbClr val="003366"/>
                </a:solidFill>
                <a:latin typeface="Lato"/>
                <a:cs typeface="Lato"/>
              </a:rPr>
              <a:t>on</a:t>
            </a:r>
            <a:r>
              <a:rPr sz="16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600" spc="-25" dirty="0">
                <a:solidFill>
                  <a:srgbClr val="003366"/>
                </a:solidFill>
                <a:latin typeface="Lato"/>
                <a:cs typeface="Lato"/>
              </a:rPr>
              <a:t>IT </a:t>
            </a:r>
            <a:r>
              <a:rPr sz="1600" spc="-10" dirty="0">
                <a:solidFill>
                  <a:srgbClr val="003366"/>
                </a:solidFill>
                <a:latin typeface="Lato"/>
                <a:cs typeface="Lato"/>
              </a:rPr>
              <a:t>systems</a:t>
            </a:r>
            <a:endParaRPr lang="en-US" sz="1600" spc="-10" dirty="0">
              <a:latin typeface="Lato"/>
              <a:cs typeface="Lato"/>
            </a:endParaRPr>
          </a:p>
          <a:p>
            <a:pPr marL="400050" marR="508000" indent="-285750">
              <a:lnSpc>
                <a:spcPct val="125000"/>
              </a:lnSpc>
              <a:spcBef>
                <a:spcPts val="280"/>
              </a:spcBef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003366"/>
                </a:solidFill>
                <a:latin typeface="Lato"/>
                <a:cs typeface="Lato"/>
              </a:rPr>
              <a:t>Indicates</a:t>
            </a:r>
            <a:r>
              <a:rPr sz="1600" spc="-4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600" spc="-20" dirty="0">
                <a:solidFill>
                  <a:srgbClr val="003366"/>
                </a:solidFill>
                <a:latin typeface="Lato"/>
                <a:cs typeface="Lato"/>
              </a:rPr>
              <a:t>need</a:t>
            </a:r>
            <a:r>
              <a:rPr sz="1600" spc="-4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600" dirty="0">
                <a:solidFill>
                  <a:srgbClr val="003366"/>
                </a:solidFill>
                <a:latin typeface="Lato"/>
                <a:cs typeface="Lato"/>
              </a:rPr>
              <a:t>for</a:t>
            </a:r>
            <a:r>
              <a:rPr sz="1600" spc="-3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600" spc="-75" dirty="0">
                <a:solidFill>
                  <a:srgbClr val="0052CC"/>
                </a:solidFill>
                <a:latin typeface="Arial"/>
                <a:cs typeface="Arial"/>
              </a:rPr>
              <a:t>scalable</a:t>
            </a:r>
            <a:r>
              <a:rPr sz="1600" spc="-9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600" spc="-40" dirty="0">
                <a:solidFill>
                  <a:srgbClr val="0052CC"/>
                </a:solidFill>
                <a:latin typeface="Arial"/>
                <a:cs typeface="Arial"/>
              </a:rPr>
              <a:t>support</a:t>
            </a:r>
            <a:r>
              <a:rPr sz="1600" spc="-40" dirty="0">
                <a:solidFill>
                  <a:srgbClr val="003366"/>
                </a:solidFill>
                <a:latin typeface="Lato"/>
                <a:cs typeface="Lato"/>
              </a:rPr>
              <a:t>, </a:t>
            </a:r>
            <a:r>
              <a:rPr sz="1600" dirty="0">
                <a:solidFill>
                  <a:srgbClr val="003366"/>
                </a:solidFill>
                <a:latin typeface="Lato"/>
                <a:cs typeface="Lato"/>
              </a:rPr>
              <a:t>better</a:t>
            </a:r>
            <a:r>
              <a:rPr sz="1600" spc="-4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600" spc="-10" dirty="0">
                <a:solidFill>
                  <a:srgbClr val="003366"/>
                </a:solidFill>
                <a:latin typeface="Lato"/>
                <a:cs typeface="Lato"/>
              </a:rPr>
              <a:t>tools,</a:t>
            </a:r>
            <a:r>
              <a:rPr sz="1600" spc="-4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600" spc="-35" dirty="0">
                <a:solidFill>
                  <a:srgbClr val="003366"/>
                </a:solidFill>
                <a:latin typeface="Lato"/>
                <a:cs typeface="Lato"/>
              </a:rPr>
              <a:t>or </a:t>
            </a:r>
            <a:r>
              <a:rPr sz="1600" dirty="0">
                <a:solidFill>
                  <a:srgbClr val="003366"/>
                </a:solidFill>
                <a:latin typeface="Lato"/>
                <a:cs typeface="Lato"/>
              </a:rPr>
              <a:t>ticket</a:t>
            </a:r>
            <a:r>
              <a:rPr sz="1600" spc="-8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600" spc="-10" dirty="0">
                <a:solidFill>
                  <a:srgbClr val="003366"/>
                </a:solidFill>
                <a:latin typeface="Lato"/>
                <a:cs typeface="Lato"/>
              </a:rPr>
              <a:t>triaging</a:t>
            </a:r>
            <a:endParaRPr sz="1600" dirty="0">
              <a:latin typeface="Lato"/>
              <a:cs typeface="Lato"/>
            </a:endParaRPr>
          </a:p>
        </p:txBody>
      </p:sp>
      <p:sp>
        <p:nvSpPr>
          <p:cNvPr id="30" name="object 11">
            <a:extLst>
              <a:ext uri="{FF2B5EF4-FFF2-40B4-BE49-F238E27FC236}">
                <a16:creationId xmlns:a16="http://schemas.microsoft.com/office/drawing/2014/main" id="{E96F1BC6-08F7-489F-A31F-635D9BA291A1}"/>
              </a:ext>
            </a:extLst>
          </p:cNvPr>
          <p:cNvSpPr txBox="1"/>
          <p:nvPr/>
        </p:nvSpPr>
        <p:spPr>
          <a:xfrm>
            <a:off x="381953" y="4497649"/>
            <a:ext cx="154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305" dirty="0">
                <a:solidFill>
                  <a:srgbClr val="0052CC"/>
                </a:solidFill>
                <a:latin typeface="Calibri"/>
                <a:cs typeface="Calibri"/>
              </a:rPr>
              <a:t>KEY</a:t>
            </a:r>
            <a:r>
              <a:rPr sz="1800" b="1" spc="110" dirty="0">
                <a:solidFill>
                  <a:srgbClr val="0052CC"/>
                </a:solidFill>
                <a:latin typeface="Calibri"/>
                <a:cs typeface="Calibri"/>
              </a:rPr>
              <a:t> </a:t>
            </a:r>
            <a:r>
              <a:rPr sz="1800" b="1" spc="210" dirty="0">
                <a:solidFill>
                  <a:srgbClr val="0052CC"/>
                </a:solidFill>
                <a:latin typeface="Calibri"/>
                <a:cs typeface="Calibri"/>
              </a:rPr>
              <a:t>INSIGHT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1" name="object 11">
            <a:extLst>
              <a:ext uri="{FF2B5EF4-FFF2-40B4-BE49-F238E27FC236}">
                <a16:creationId xmlns:a16="http://schemas.microsoft.com/office/drawing/2014/main" id="{82EC8169-E41F-45B3-9E47-AD38B5EF8C63}"/>
              </a:ext>
            </a:extLst>
          </p:cNvPr>
          <p:cNvSpPr txBox="1"/>
          <p:nvPr/>
        </p:nvSpPr>
        <p:spPr>
          <a:xfrm>
            <a:off x="11955777" y="6588101"/>
            <a:ext cx="27609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200" b="1" spc="305" dirty="0">
                <a:solidFill>
                  <a:srgbClr val="0052CC"/>
                </a:solidFill>
                <a:latin typeface="Calibri"/>
                <a:cs typeface="Calibri"/>
              </a:rPr>
              <a:t>5</a:t>
            </a:r>
            <a:endParaRPr sz="1100" b="1" dirty="0">
              <a:solidFill>
                <a:srgbClr val="0052CC"/>
              </a:solidFill>
              <a:latin typeface="Calibri"/>
              <a:cs typeface="Calibri"/>
            </a:endParaRPr>
          </a:p>
        </p:txBody>
      </p:sp>
      <p:sp>
        <p:nvSpPr>
          <p:cNvPr id="22" name="object 39">
            <a:extLst>
              <a:ext uri="{FF2B5EF4-FFF2-40B4-BE49-F238E27FC236}">
                <a16:creationId xmlns:a16="http://schemas.microsoft.com/office/drawing/2014/main" id="{8E4F8A37-5BE2-465C-A3A0-216A74441EBC}"/>
              </a:ext>
            </a:extLst>
          </p:cNvPr>
          <p:cNvSpPr/>
          <p:nvPr/>
        </p:nvSpPr>
        <p:spPr>
          <a:xfrm>
            <a:off x="9207189" y="0"/>
            <a:ext cx="2973070" cy="2496820"/>
          </a:xfrm>
          <a:custGeom>
            <a:avLst/>
            <a:gdLst/>
            <a:ahLst/>
            <a:cxnLst/>
            <a:rect l="l" t="t" r="r" b="b"/>
            <a:pathLst>
              <a:path w="2973070" h="2496820">
                <a:moveTo>
                  <a:pt x="2020557" y="2496807"/>
                </a:moveTo>
                <a:lnTo>
                  <a:pt x="0" y="476250"/>
                </a:lnTo>
                <a:lnTo>
                  <a:pt x="476250" y="0"/>
                </a:lnTo>
                <a:lnTo>
                  <a:pt x="2973057" y="0"/>
                </a:lnTo>
                <a:lnTo>
                  <a:pt x="2973057" y="1544307"/>
                </a:lnTo>
                <a:lnTo>
                  <a:pt x="2020557" y="2496807"/>
                </a:lnTo>
                <a:close/>
              </a:path>
            </a:pathLst>
          </a:custGeom>
          <a:solidFill>
            <a:srgbClr val="4A8FE2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39">
            <a:extLst>
              <a:ext uri="{FF2B5EF4-FFF2-40B4-BE49-F238E27FC236}">
                <a16:creationId xmlns:a16="http://schemas.microsoft.com/office/drawing/2014/main" id="{507169A5-B060-44DA-9240-0E7907AD598F}"/>
              </a:ext>
            </a:extLst>
          </p:cNvPr>
          <p:cNvSpPr/>
          <p:nvPr/>
        </p:nvSpPr>
        <p:spPr>
          <a:xfrm rot="10800000">
            <a:off x="0" y="4335015"/>
            <a:ext cx="2973070" cy="2496820"/>
          </a:xfrm>
          <a:custGeom>
            <a:avLst/>
            <a:gdLst/>
            <a:ahLst/>
            <a:cxnLst/>
            <a:rect l="l" t="t" r="r" b="b"/>
            <a:pathLst>
              <a:path w="2973070" h="2496820">
                <a:moveTo>
                  <a:pt x="2020557" y="2496807"/>
                </a:moveTo>
                <a:lnTo>
                  <a:pt x="0" y="476250"/>
                </a:lnTo>
                <a:lnTo>
                  <a:pt x="476250" y="0"/>
                </a:lnTo>
                <a:lnTo>
                  <a:pt x="2973057" y="0"/>
                </a:lnTo>
                <a:lnTo>
                  <a:pt x="2973057" y="1544307"/>
                </a:lnTo>
                <a:lnTo>
                  <a:pt x="2020557" y="2496807"/>
                </a:lnTo>
                <a:close/>
              </a:path>
            </a:pathLst>
          </a:custGeom>
          <a:solidFill>
            <a:srgbClr val="4A8FE2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299" y="49535"/>
            <a:ext cx="1088834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90" dirty="0"/>
              <a:t>TICKET</a:t>
            </a:r>
            <a:r>
              <a:rPr spc="165" dirty="0"/>
              <a:t> </a:t>
            </a:r>
            <a:r>
              <a:rPr spc="405" dirty="0"/>
              <a:t>CATEGORY</a:t>
            </a:r>
            <a:r>
              <a:rPr spc="165" dirty="0"/>
              <a:t> </a:t>
            </a:r>
            <a:r>
              <a:rPr spc="340" dirty="0"/>
              <a:t>DISTRIBUTION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851" y="633473"/>
            <a:ext cx="3068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70" dirty="0">
                <a:solidFill>
                  <a:srgbClr val="0052CC"/>
                </a:solidFill>
                <a:latin typeface="Calibri"/>
                <a:cs typeface="Calibri"/>
              </a:rPr>
              <a:t>CATEGORY</a:t>
            </a:r>
            <a:r>
              <a:rPr sz="1800" b="1" spc="120" dirty="0">
                <a:solidFill>
                  <a:srgbClr val="0052CC"/>
                </a:solidFill>
                <a:latin typeface="Calibri"/>
                <a:cs typeface="Calibri"/>
              </a:rPr>
              <a:t> </a:t>
            </a:r>
            <a:r>
              <a:rPr sz="1800" b="1" spc="310" dirty="0">
                <a:solidFill>
                  <a:srgbClr val="0052CC"/>
                </a:solidFill>
                <a:latin typeface="Calibri"/>
                <a:cs typeface="Calibri"/>
              </a:rPr>
              <a:t>BREAKDOWN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33584" y="624871"/>
            <a:ext cx="2578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70" dirty="0">
                <a:solidFill>
                  <a:srgbClr val="0052CC"/>
                </a:solidFill>
                <a:latin typeface="Calibri"/>
                <a:cs typeface="Calibri"/>
              </a:rPr>
              <a:t>CATEGORY</a:t>
            </a:r>
            <a:r>
              <a:rPr sz="1800" b="1" spc="120" dirty="0">
                <a:solidFill>
                  <a:srgbClr val="0052CC"/>
                </a:solidFill>
                <a:latin typeface="Calibri"/>
                <a:cs typeface="Calibri"/>
              </a:rPr>
              <a:t> </a:t>
            </a:r>
            <a:r>
              <a:rPr sz="1800" b="1" spc="235" dirty="0">
                <a:solidFill>
                  <a:srgbClr val="0052CC"/>
                </a:solidFill>
                <a:latin typeface="Calibri"/>
                <a:cs typeface="Calibri"/>
              </a:rPr>
              <a:t>ANALYSIS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848484" y="1079262"/>
            <a:ext cx="2991014" cy="598853"/>
            <a:chOff x="6210299" y="1781174"/>
            <a:chExt cx="5600700" cy="1085850"/>
          </a:xfrm>
        </p:grpSpPr>
        <p:sp>
          <p:nvSpPr>
            <p:cNvPr id="10" name="object 10"/>
            <p:cNvSpPr/>
            <p:nvPr/>
          </p:nvSpPr>
          <p:spPr>
            <a:xfrm>
              <a:off x="6210287" y="1781186"/>
              <a:ext cx="5600700" cy="1085850"/>
            </a:xfrm>
            <a:custGeom>
              <a:avLst/>
              <a:gdLst/>
              <a:ahLst/>
              <a:cxnLst/>
              <a:rect l="l" t="t" r="r" b="b"/>
              <a:pathLst>
                <a:path w="5600700" h="1085850">
                  <a:moveTo>
                    <a:pt x="5600700" y="0"/>
                  </a:moveTo>
                  <a:lnTo>
                    <a:pt x="55911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5591175" y="9525"/>
                  </a:lnTo>
                  <a:lnTo>
                    <a:pt x="5591175" y="1076325"/>
                  </a:lnTo>
                  <a:lnTo>
                    <a:pt x="0" y="1076325"/>
                  </a:lnTo>
                  <a:lnTo>
                    <a:pt x="0" y="1085850"/>
                  </a:lnTo>
                  <a:lnTo>
                    <a:pt x="5591175" y="1085850"/>
                  </a:lnTo>
                  <a:lnTo>
                    <a:pt x="5600700" y="1085850"/>
                  </a:lnTo>
                  <a:lnTo>
                    <a:pt x="5600700" y="1076325"/>
                  </a:lnTo>
                  <a:lnTo>
                    <a:pt x="5600700" y="9525"/>
                  </a:lnTo>
                  <a:lnTo>
                    <a:pt x="5600700" y="0"/>
                  </a:lnTo>
                  <a:close/>
                </a:path>
              </a:pathLst>
            </a:custGeom>
            <a:solidFill>
              <a:srgbClr val="E6F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10299" y="1781174"/>
              <a:ext cx="38100" cy="1085850"/>
            </a:xfrm>
            <a:custGeom>
              <a:avLst/>
              <a:gdLst/>
              <a:ahLst/>
              <a:cxnLst/>
              <a:rect l="l" t="t" r="r" b="b"/>
              <a:pathLst>
                <a:path w="38100" h="1085850">
                  <a:moveTo>
                    <a:pt x="0" y="1085849"/>
                  </a:moveTo>
                  <a:lnTo>
                    <a:pt x="0" y="0"/>
                  </a:lnTo>
                  <a:lnTo>
                    <a:pt x="38099" y="9524"/>
                  </a:lnTo>
                  <a:lnTo>
                    <a:pt x="38099" y="1076324"/>
                  </a:lnTo>
                  <a:lnTo>
                    <a:pt x="0" y="1085849"/>
                  </a:lnTo>
                  <a:close/>
                </a:path>
              </a:pathLst>
            </a:custGeom>
            <a:solidFill>
              <a:srgbClr val="005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8864523" y="1106862"/>
            <a:ext cx="2991600" cy="597600"/>
            <a:chOff x="6210299" y="2962274"/>
            <a:chExt cx="5600700" cy="1085850"/>
          </a:xfrm>
        </p:grpSpPr>
        <p:sp>
          <p:nvSpPr>
            <p:cNvPr id="13" name="object 13"/>
            <p:cNvSpPr/>
            <p:nvPr/>
          </p:nvSpPr>
          <p:spPr>
            <a:xfrm>
              <a:off x="6210287" y="2962286"/>
              <a:ext cx="5600700" cy="1085850"/>
            </a:xfrm>
            <a:custGeom>
              <a:avLst/>
              <a:gdLst/>
              <a:ahLst/>
              <a:cxnLst/>
              <a:rect l="l" t="t" r="r" b="b"/>
              <a:pathLst>
                <a:path w="5600700" h="1085850">
                  <a:moveTo>
                    <a:pt x="5600700" y="0"/>
                  </a:moveTo>
                  <a:lnTo>
                    <a:pt x="55911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5591175" y="9525"/>
                  </a:lnTo>
                  <a:lnTo>
                    <a:pt x="5591175" y="1076325"/>
                  </a:lnTo>
                  <a:lnTo>
                    <a:pt x="0" y="1076325"/>
                  </a:lnTo>
                  <a:lnTo>
                    <a:pt x="0" y="1085850"/>
                  </a:lnTo>
                  <a:lnTo>
                    <a:pt x="5591175" y="1085850"/>
                  </a:lnTo>
                  <a:lnTo>
                    <a:pt x="5600700" y="1085850"/>
                  </a:lnTo>
                  <a:lnTo>
                    <a:pt x="5600700" y="1076325"/>
                  </a:lnTo>
                  <a:lnTo>
                    <a:pt x="5600700" y="9525"/>
                  </a:lnTo>
                  <a:lnTo>
                    <a:pt x="5600700" y="0"/>
                  </a:lnTo>
                  <a:close/>
                </a:path>
              </a:pathLst>
            </a:custGeom>
            <a:solidFill>
              <a:srgbClr val="E6F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10299" y="2962274"/>
              <a:ext cx="38100" cy="1085850"/>
            </a:xfrm>
            <a:custGeom>
              <a:avLst/>
              <a:gdLst/>
              <a:ahLst/>
              <a:cxnLst/>
              <a:rect l="l" t="t" r="r" b="b"/>
              <a:pathLst>
                <a:path w="38100" h="1085850">
                  <a:moveTo>
                    <a:pt x="0" y="1085849"/>
                  </a:moveTo>
                  <a:lnTo>
                    <a:pt x="0" y="0"/>
                  </a:lnTo>
                  <a:lnTo>
                    <a:pt x="38099" y="9524"/>
                  </a:lnTo>
                  <a:lnTo>
                    <a:pt x="38099" y="1076324"/>
                  </a:lnTo>
                  <a:lnTo>
                    <a:pt x="0" y="1085849"/>
                  </a:lnTo>
                  <a:close/>
                </a:path>
              </a:pathLst>
            </a:custGeom>
            <a:solidFill>
              <a:srgbClr val="005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5845890" y="1814147"/>
            <a:ext cx="2991600" cy="597600"/>
            <a:chOff x="6210299" y="4143374"/>
            <a:chExt cx="5600700" cy="895350"/>
          </a:xfrm>
        </p:grpSpPr>
        <p:sp>
          <p:nvSpPr>
            <p:cNvPr id="16" name="object 16"/>
            <p:cNvSpPr/>
            <p:nvPr/>
          </p:nvSpPr>
          <p:spPr>
            <a:xfrm>
              <a:off x="6210287" y="4143386"/>
              <a:ext cx="5600700" cy="895350"/>
            </a:xfrm>
            <a:custGeom>
              <a:avLst/>
              <a:gdLst/>
              <a:ahLst/>
              <a:cxnLst/>
              <a:rect l="l" t="t" r="r" b="b"/>
              <a:pathLst>
                <a:path w="5600700" h="895350">
                  <a:moveTo>
                    <a:pt x="5600700" y="0"/>
                  </a:moveTo>
                  <a:lnTo>
                    <a:pt x="55911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5591175" y="9525"/>
                  </a:lnTo>
                  <a:lnTo>
                    <a:pt x="5591175" y="885825"/>
                  </a:lnTo>
                  <a:lnTo>
                    <a:pt x="0" y="885825"/>
                  </a:lnTo>
                  <a:lnTo>
                    <a:pt x="0" y="895350"/>
                  </a:lnTo>
                  <a:lnTo>
                    <a:pt x="5591175" y="895350"/>
                  </a:lnTo>
                  <a:lnTo>
                    <a:pt x="5600700" y="895350"/>
                  </a:lnTo>
                  <a:lnTo>
                    <a:pt x="5600700" y="885825"/>
                  </a:lnTo>
                  <a:lnTo>
                    <a:pt x="5600700" y="9525"/>
                  </a:lnTo>
                  <a:lnTo>
                    <a:pt x="5600700" y="0"/>
                  </a:lnTo>
                  <a:close/>
                </a:path>
              </a:pathLst>
            </a:custGeom>
            <a:solidFill>
              <a:srgbClr val="E6F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10299" y="4143374"/>
              <a:ext cx="38100" cy="895350"/>
            </a:xfrm>
            <a:custGeom>
              <a:avLst/>
              <a:gdLst/>
              <a:ahLst/>
              <a:cxnLst/>
              <a:rect l="l" t="t" r="r" b="b"/>
              <a:pathLst>
                <a:path w="38100" h="895350">
                  <a:moveTo>
                    <a:pt x="0" y="895349"/>
                  </a:moveTo>
                  <a:lnTo>
                    <a:pt x="0" y="0"/>
                  </a:lnTo>
                  <a:lnTo>
                    <a:pt x="38099" y="9524"/>
                  </a:lnTo>
                  <a:lnTo>
                    <a:pt x="38099" y="885824"/>
                  </a:lnTo>
                  <a:lnTo>
                    <a:pt x="0" y="895349"/>
                  </a:lnTo>
                  <a:close/>
                </a:path>
              </a:pathLst>
            </a:custGeom>
            <a:solidFill>
              <a:srgbClr val="005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body" idx="1"/>
          </p:nvPr>
        </p:nvSpPr>
        <p:spPr>
          <a:xfrm>
            <a:off x="5837934" y="1080058"/>
            <a:ext cx="3333927" cy="51475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675"/>
              </a:spcBef>
            </a:pPr>
            <a:r>
              <a:rPr spc="-95" dirty="0"/>
              <a:t>System</a:t>
            </a:r>
            <a:r>
              <a:rPr spc="-80" dirty="0"/>
              <a:t> </a:t>
            </a:r>
            <a:r>
              <a:rPr spc="-95" dirty="0"/>
              <a:t>Issues:</a:t>
            </a:r>
            <a:r>
              <a:rPr spc="-80" dirty="0"/>
              <a:t> </a:t>
            </a:r>
            <a:r>
              <a:rPr spc="-20" dirty="0"/>
              <a:t>40%</a:t>
            </a:r>
          </a:p>
          <a:p>
            <a:pPr marL="114300" marR="304800">
              <a:lnSpc>
                <a:spcPct val="104200"/>
              </a:lnSpc>
              <a:spcBef>
                <a:spcPts val="430"/>
              </a:spcBef>
            </a:pPr>
            <a:r>
              <a:rPr sz="1200" dirty="0">
                <a:solidFill>
                  <a:schemeClr val="tx1"/>
                </a:solidFill>
                <a:latin typeface="Lato"/>
                <a:cs typeface="Lato"/>
              </a:rPr>
              <a:t>Largest</a:t>
            </a:r>
            <a:r>
              <a:rPr sz="1200" spc="-30" dirty="0">
                <a:solidFill>
                  <a:schemeClr val="tx1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chemeClr val="tx1"/>
                </a:solidFill>
                <a:latin typeface="Lato"/>
                <a:cs typeface="Lato"/>
              </a:rPr>
              <a:t>category</a:t>
            </a:r>
            <a:r>
              <a:rPr sz="1200" spc="-25" dirty="0">
                <a:solidFill>
                  <a:schemeClr val="tx1"/>
                </a:solidFill>
                <a:latin typeface="Lato"/>
                <a:cs typeface="Lato"/>
              </a:rPr>
              <a:t> of</a:t>
            </a:r>
            <a:r>
              <a:rPr sz="1200" spc="-30" dirty="0">
                <a:solidFill>
                  <a:schemeClr val="tx1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chemeClr val="tx1"/>
                </a:solidFill>
                <a:latin typeface="Lato"/>
                <a:cs typeface="Lato"/>
              </a:rPr>
              <a:t>tickets</a:t>
            </a:r>
            <a:r>
              <a:rPr sz="1200" spc="-25" dirty="0">
                <a:solidFill>
                  <a:schemeClr val="tx1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chemeClr val="tx1"/>
                </a:solidFill>
                <a:latin typeface="Lato"/>
                <a:cs typeface="Lato"/>
              </a:rPr>
              <a:t>(39,002</a:t>
            </a:r>
            <a:r>
              <a:rPr sz="1200" spc="-30" dirty="0">
                <a:solidFill>
                  <a:schemeClr val="tx1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chemeClr val="tx1"/>
                </a:solidFill>
                <a:latin typeface="Lato"/>
                <a:cs typeface="Lato"/>
              </a:rPr>
              <a:t>issues).</a:t>
            </a:r>
            <a:r>
              <a:rPr lang="en-IN" sz="1200" spc="-10" dirty="0">
                <a:solidFill>
                  <a:schemeClr val="tx1"/>
                </a:solidFill>
                <a:latin typeface="Lato"/>
                <a:cs typeface="Lato"/>
              </a:rPr>
              <a:t> </a:t>
            </a:r>
            <a:endParaRPr lang="en-IN" sz="12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852549" y="1802792"/>
            <a:ext cx="2991600" cy="597600"/>
            <a:chOff x="6210299" y="5133974"/>
            <a:chExt cx="5600700" cy="1085850"/>
          </a:xfrm>
        </p:grpSpPr>
        <p:sp>
          <p:nvSpPr>
            <p:cNvPr id="20" name="object 20"/>
            <p:cNvSpPr/>
            <p:nvPr/>
          </p:nvSpPr>
          <p:spPr>
            <a:xfrm>
              <a:off x="6210287" y="5133987"/>
              <a:ext cx="5600700" cy="1085850"/>
            </a:xfrm>
            <a:custGeom>
              <a:avLst/>
              <a:gdLst/>
              <a:ahLst/>
              <a:cxnLst/>
              <a:rect l="l" t="t" r="r" b="b"/>
              <a:pathLst>
                <a:path w="5600700" h="1085850">
                  <a:moveTo>
                    <a:pt x="5600700" y="0"/>
                  </a:moveTo>
                  <a:lnTo>
                    <a:pt x="55911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5591175" y="9525"/>
                  </a:lnTo>
                  <a:lnTo>
                    <a:pt x="5591175" y="1076325"/>
                  </a:lnTo>
                  <a:lnTo>
                    <a:pt x="0" y="1076325"/>
                  </a:lnTo>
                  <a:lnTo>
                    <a:pt x="0" y="1085850"/>
                  </a:lnTo>
                  <a:lnTo>
                    <a:pt x="5591175" y="1085850"/>
                  </a:lnTo>
                  <a:lnTo>
                    <a:pt x="5600700" y="1085850"/>
                  </a:lnTo>
                  <a:lnTo>
                    <a:pt x="5600700" y="1076325"/>
                  </a:lnTo>
                  <a:lnTo>
                    <a:pt x="5600700" y="9525"/>
                  </a:lnTo>
                  <a:lnTo>
                    <a:pt x="5600700" y="0"/>
                  </a:lnTo>
                  <a:close/>
                </a:path>
              </a:pathLst>
            </a:custGeom>
            <a:solidFill>
              <a:srgbClr val="E6F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10299" y="5133974"/>
              <a:ext cx="38100" cy="1085850"/>
            </a:xfrm>
            <a:custGeom>
              <a:avLst/>
              <a:gdLst/>
              <a:ahLst/>
              <a:cxnLst/>
              <a:rect l="l" t="t" r="r" b="b"/>
              <a:pathLst>
                <a:path w="38100" h="1085850">
                  <a:moveTo>
                    <a:pt x="0" y="1085849"/>
                  </a:moveTo>
                  <a:lnTo>
                    <a:pt x="0" y="0"/>
                  </a:lnTo>
                  <a:lnTo>
                    <a:pt x="38099" y="9524"/>
                  </a:lnTo>
                  <a:lnTo>
                    <a:pt x="38099" y="1076324"/>
                  </a:lnTo>
                  <a:lnTo>
                    <a:pt x="0" y="1085849"/>
                  </a:lnTo>
                  <a:close/>
                </a:path>
              </a:pathLst>
            </a:custGeom>
            <a:solidFill>
              <a:srgbClr val="005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850987" y="1804533"/>
            <a:ext cx="2850319" cy="51475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675"/>
              </a:spcBef>
            </a:pPr>
            <a:r>
              <a:rPr sz="1300" spc="-50" dirty="0">
                <a:solidFill>
                  <a:srgbClr val="0052CC"/>
                </a:solidFill>
                <a:latin typeface="Arial"/>
                <a:cs typeface="Arial"/>
              </a:rPr>
              <a:t>Hardware:</a:t>
            </a:r>
            <a:r>
              <a:rPr sz="1300" spc="-7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0052CC"/>
                </a:solidFill>
                <a:latin typeface="Arial"/>
                <a:cs typeface="Arial"/>
              </a:rPr>
              <a:t>10%</a:t>
            </a:r>
            <a:endParaRPr sz="1300" dirty="0">
              <a:latin typeface="Arial"/>
              <a:cs typeface="Arial"/>
            </a:endParaRPr>
          </a:p>
          <a:p>
            <a:pPr marL="114300" marR="228600">
              <a:lnSpc>
                <a:spcPct val="104200"/>
              </a:lnSpc>
              <a:spcBef>
                <a:spcPts val="430"/>
              </a:spcBef>
            </a:pPr>
            <a:r>
              <a:rPr sz="1200" dirty="0">
                <a:solidFill>
                  <a:schemeClr val="tx1"/>
                </a:solidFill>
                <a:latin typeface="Lato"/>
                <a:cs typeface="Lato"/>
              </a:rPr>
              <a:t>Smallest</a:t>
            </a:r>
            <a:r>
              <a:rPr sz="1200" spc="-55" dirty="0">
                <a:solidFill>
                  <a:schemeClr val="tx1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chemeClr val="tx1"/>
                </a:solidFill>
                <a:latin typeface="Lato"/>
                <a:cs typeface="Lato"/>
              </a:rPr>
              <a:t>segment</a:t>
            </a:r>
            <a:r>
              <a:rPr sz="1200" spc="-50" dirty="0">
                <a:solidFill>
                  <a:schemeClr val="tx1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chemeClr val="tx1"/>
                </a:solidFill>
                <a:latin typeface="Lato"/>
                <a:cs typeface="Lato"/>
              </a:rPr>
              <a:t>with</a:t>
            </a:r>
            <a:r>
              <a:rPr sz="1200" spc="-55" dirty="0">
                <a:solidFill>
                  <a:schemeClr val="tx1"/>
                </a:solidFill>
                <a:latin typeface="Lato"/>
                <a:cs typeface="Lato"/>
              </a:rPr>
              <a:t> </a:t>
            </a:r>
            <a:r>
              <a:rPr lang="en-IN" sz="1200" spc="-55" dirty="0">
                <a:solidFill>
                  <a:schemeClr val="tx1"/>
                </a:solidFill>
                <a:latin typeface="Lato"/>
                <a:cs typeface="Lato"/>
              </a:rPr>
              <a:t>(</a:t>
            </a:r>
            <a:r>
              <a:rPr sz="1200" spc="-10" dirty="0">
                <a:solidFill>
                  <a:schemeClr val="tx1"/>
                </a:solidFill>
                <a:latin typeface="Lato"/>
                <a:cs typeface="Lato"/>
              </a:rPr>
              <a:t>9,733</a:t>
            </a:r>
            <a:r>
              <a:rPr sz="1200" spc="-50" dirty="0">
                <a:solidFill>
                  <a:schemeClr val="tx1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chemeClr val="tx1"/>
                </a:solidFill>
                <a:latin typeface="Lato"/>
                <a:cs typeface="Lato"/>
              </a:rPr>
              <a:t>tickets</a:t>
            </a:r>
            <a:r>
              <a:rPr lang="en-IN" sz="1200" spc="-10" dirty="0">
                <a:solidFill>
                  <a:schemeClr val="tx1"/>
                </a:solidFill>
                <a:latin typeface="Lato"/>
                <a:cs typeface="Lato"/>
              </a:rPr>
              <a:t>).</a:t>
            </a:r>
            <a:endParaRPr sz="1200" dirty="0">
              <a:solidFill>
                <a:schemeClr val="tx1"/>
              </a:solidFill>
              <a:latin typeface="Lato"/>
              <a:cs typeface="La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14800" y="4706054"/>
            <a:ext cx="39624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600" b="1" spc="250" dirty="0">
                <a:solidFill>
                  <a:srgbClr val="0052CC"/>
                </a:solidFill>
                <a:latin typeface="Calibri"/>
                <a:cs typeface="Calibri"/>
              </a:rPr>
              <a:t>STRATEGIC</a:t>
            </a:r>
            <a:r>
              <a:rPr sz="1600" b="1" spc="120" dirty="0">
                <a:solidFill>
                  <a:srgbClr val="0052CC"/>
                </a:solidFill>
                <a:latin typeface="Calibri"/>
                <a:cs typeface="Calibri"/>
              </a:rPr>
              <a:t> </a:t>
            </a:r>
            <a:r>
              <a:rPr sz="1600" b="1" spc="245" dirty="0">
                <a:solidFill>
                  <a:srgbClr val="0052CC"/>
                </a:solidFill>
                <a:latin typeface="Calibri"/>
                <a:cs typeface="Calibri"/>
              </a:rPr>
              <a:t>RECOMMENDATIONS</a:t>
            </a:r>
            <a:endParaRPr sz="1600" dirty="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42874" y="4456021"/>
            <a:ext cx="3810000" cy="942975"/>
            <a:chOff x="380999" y="6924674"/>
            <a:chExt cx="3810000" cy="942975"/>
          </a:xfrm>
        </p:grpSpPr>
        <p:sp>
          <p:nvSpPr>
            <p:cNvPr id="25" name="object 25"/>
            <p:cNvSpPr/>
            <p:nvPr/>
          </p:nvSpPr>
          <p:spPr>
            <a:xfrm>
              <a:off x="385762" y="6929436"/>
              <a:ext cx="3800475" cy="933450"/>
            </a:xfrm>
            <a:custGeom>
              <a:avLst/>
              <a:gdLst/>
              <a:ahLst/>
              <a:cxnLst/>
              <a:rect l="l" t="t" r="r" b="b"/>
              <a:pathLst>
                <a:path w="3800475" h="933450">
                  <a:moveTo>
                    <a:pt x="3771557" y="933449"/>
                  </a:moveTo>
                  <a:lnTo>
                    <a:pt x="28916" y="933449"/>
                  </a:lnTo>
                  <a:lnTo>
                    <a:pt x="24664" y="932602"/>
                  </a:lnTo>
                  <a:lnTo>
                    <a:pt x="0" y="904532"/>
                  </a:lnTo>
                  <a:lnTo>
                    <a:pt x="0" y="900112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3771557" y="0"/>
                  </a:lnTo>
                  <a:lnTo>
                    <a:pt x="3800474" y="28916"/>
                  </a:lnTo>
                  <a:lnTo>
                    <a:pt x="3800474" y="904532"/>
                  </a:lnTo>
                  <a:lnTo>
                    <a:pt x="3775810" y="932602"/>
                  </a:lnTo>
                  <a:lnTo>
                    <a:pt x="3771557" y="933449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5762" y="6929436"/>
              <a:ext cx="3800475" cy="933450"/>
            </a:xfrm>
            <a:custGeom>
              <a:avLst/>
              <a:gdLst/>
              <a:ahLst/>
              <a:cxnLst/>
              <a:rect l="l" t="t" r="r" b="b"/>
              <a:pathLst>
                <a:path w="3800475" h="933450">
                  <a:moveTo>
                    <a:pt x="0" y="900112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2"/>
                  </a:lnTo>
                  <a:lnTo>
                    <a:pt x="2537" y="20578"/>
                  </a:lnTo>
                  <a:lnTo>
                    <a:pt x="4229" y="16494"/>
                  </a:lnTo>
                  <a:lnTo>
                    <a:pt x="6638" y="12889"/>
                  </a:lnTo>
                  <a:lnTo>
                    <a:pt x="9764" y="9763"/>
                  </a:lnTo>
                  <a:lnTo>
                    <a:pt x="12890" y="6637"/>
                  </a:lnTo>
                  <a:lnTo>
                    <a:pt x="16495" y="4228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3767137" y="0"/>
                  </a:lnTo>
                  <a:lnTo>
                    <a:pt x="3771557" y="0"/>
                  </a:lnTo>
                  <a:lnTo>
                    <a:pt x="3775810" y="845"/>
                  </a:lnTo>
                  <a:lnTo>
                    <a:pt x="3779894" y="2537"/>
                  </a:lnTo>
                  <a:lnTo>
                    <a:pt x="3783978" y="4228"/>
                  </a:lnTo>
                  <a:lnTo>
                    <a:pt x="3787583" y="6637"/>
                  </a:lnTo>
                  <a:lnTo>
                    <a:pt x="3790710" y="9763"/>
                  </a:lnTo>
                  <a:lnTo>
                    <a:pt x="3793835" y="12889"/>
                  </a:lnTo>
                  <a:lnTo>
                    <a:pt x="3796244" y="16494"/>
                  </a:lnTo>
                  <a:lnTo>
                    <a:pt x="3797936" y="20578"/>
                  </a:lnTo>
                  <a:lnTo>
                    <a:pt x="3799628" y="24662"/>
                  </a:lnTo>
                  <a:lnTo>
                    <a:pt x="3800474" y="28916"/>
                  </a:lnTo>
                  <a:lnTo>
                    <a:pt x="3800474" y="33337"/>
                  </a:lnTo>
                  <a:lnTo>
                    <a:pt x="3800474" y="900112"/>
                  </a:lnTo>
                  <a:lnTo>
                    <a:pt x="3800474" y="904532"/>
                  </a:lnTo>
                  <a:lnTo>
                    <a:pt x="3799628" y="908785"/>
                  </a:lnTo>
                  <a:lnTo>
                    <a:pt x="3797936" y="912869"/>
                  </a:lnTo>
                  <a:lnTo>
                    <a:pt x="3796244" y="916953"/>
                  </a:lnTo>
                  <a:lnTo>
                    <a:pt x="3767137" y="933449"/>
                  </a:lnTo>
                  <a:lnTo>
                    <a:pt x="33337" y="933449"/>
                  </a:lnTo>
                  <a:lnTo>
                    <a:pt x="2537" y="912869"/>
                  </a:lnTo>
                  <a:lnTo>
                    <a:pt x="845" y="908785"/>
                  </a:lnTo>
                  <a:lnTo>
                    <a:pt x="0" y="904532"/>
                  </a:lnTo>
                  <a:lnTo>
                    <a:pt x="0" y="900112"/>
                  </a:lnTo>
                  <a:close/>
                </a:path>
              </a:pathLst>
            </a:custGeom>
            <a:ln w="9524">
              <a:solidFill>
                <a:srgbClr val="E6F1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04949" y="7096124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157162" y="42862"/>
                  </a:moveTo>
                  <a:lnTo>
                    <a:pt x="128587" y="42862"/>
                  </a:lnTo>
                  <a:lnTo>
                    <a:pt x="128587" y="6384"/>
                  </a:lnTo>
                  <a:lnTo>
                    <a:pt x="134972" y="0"/>
                  </a:lnTo>
                  <a:lnTo>
                    <a:pt x="150777" y="0"/>
                  </a:lnTo>
                  <a:lnTo>
                    <a:pt x="157162" y="6384"/>
                  </a:lnTo>
                  <a:lnTo>
                    <a:pt x="157162" y="42862"/>
                  </a:lnTo>
                  <a:close/>
                </a:path>
                <a:path w="285750" h="228600">
                  <a:moveTo>
                    <a:pt x="210740" y="228600"/>
                  </a:moveTo>
                  <a:lnTo>
                    <a:pt x="75009" y="228600"/>
                  </a:lnTo>
                  <a:lnTo>
                    <a:pt x="62489" y="226075"/>
                  </a:lnTo>
                  <a:lnTo>
                    <a:pt x="52272" y="219190"/>
                  </a:lnTo>
                  <a:lnTo>
                    <a:pt x="45386" y="208972"/>
                  </a:lnTo>
                  <a:lnTo>
                    <a:pt x="42862" y="196453"/>
                  </a:lnTo>
                  <a:lnTo>
                    <a:pt x="42862" y="75009"/>
                  </a:lnTo>
                  <a:lnTo>
                    <a:pt x="45386" y="62489"/>
                  </a:lnTo>
                  <a:lnTo>
                    <a:pt x="52272" y="52272"/>
                  </a:lnTo>
                  <a:lnTo>
                    <a:pt x="62489" y="45386"/>
                  </a:lnTo>
                  <a:lnTo>
                    <a:pt x="75009" y="42862"/>
                  </a:lnTo>
                  <a:lnTo>
                    <a:pt x="210740" y="42862"/>
                  </a:lnTo>
                  <a:lnTo>
                    <a:pt x="223260" y="45386"/>
                  </a:lnTo>
                  <a:lnTo>
                    <a:pt x="233477" y="52272"/>
                  </a:lnTo>
                  <a:lnTo>
                    <a:pt x="240363" y="62489"/>
                  </a:lnTo>
                  <a:lnTo>
                    <a:pt x="242887" y="75009"/>
                  </a:lnTo>
                  <a:lnTo>
                    <a:pt x="242887" y="96440"/>
                  </a:lnTo>
                  <a:lnTo>
                    <a:pt x="97644" y="96440"/>
                  </a:lnTo>
                  <a:lnTo>
                    <a:pt x="95366" y="96893"/>
                  </a:lnTo>
                  <a:lnTo>
                    <a:pt x="82153" y="111931"/>
                  </a:lnTo>
                  <a:lnTo>
                    <a:pt x="82153" y="116668"/>
                  </a:lnTo>
                  <a:lnTo>
                    <a:pt x="97644" y="132159"/>
                  </a:lnTo>
                  <a:lnTo>
                    <a:pt x="242887" y="132159"/>
                  </a:lnTo>
                  <a:lnTo>
                    <a:pt x="242887" y="171450"/>
                  </a:lnTo>
                  <a:lnTo>
                    <a:pt x="88939" y="171450"/>
                  </a:lnTo>
                  <a:lnTo>
                    <a:pt x="85725" y="174664"/>
                  </a:lnTo>
                  <a:lnTo>
                    <a:pt x="85725" y="182522"/>
                  </a:lnTo>
                  <a:lnTo>
                    <a:pt x="88939" y="185737"/>
                  </a:lnTo>
                  <a:lnTo>
                    <a:pt x="242887" y="185737"/>
                  </a:lnTo>
                  <a:lnTo>
                    <a:pt x="242887" y="196453"/>
                  </a:lnTo>
                  <a:lnTo>
                    <a:pt x="240363" y="208972"/>
                  </a:lnTo>
                  <a:lnTo>
                    <a:pt x="233477" y="219190"/>
                  </a:lnTo>
                  <a:lnTo>
                    <a:pt x="223260" y="226075"/>
                  </a:lnTo>
                  <a:lnTo>
                    <a:pt x="210740" y="228600"/>
                  </a:lnTo>
                  <a:close/>
                </a:path>
                <a:path w="285750" h="228600">
                  <a:moveTo>
                    <a:pt x="183369" y="132159"/>
                  </a:moveTo>
                  <a:lnTo>
                    <a:pt x="102380" y="132159"/>
                  </a:lnTo>
                  <a:lnTo>
                    <a:pt x="104658" y="131706"/>
                  </a:lnTo>
                  <a:lnTo>
                    <a:pt x="109035" y="129893"/>
                  </a:lnTo>
                  <a:lnTo>
                    <a:pt x="117871" y="116668"/>
                  </a:lnTo>
                  <a:lnTo>
                    <a:pt x="117871" y="111931"/>
                  </a:lnTo>
                  <a:lnTo>
                    <a:pt x="102380" y="96440"/>
                  </a:lnTo>
                  <a:lnTo>
                    <a:pt x="183369" y="96440"/>
                  </a:lnTo>
                  <a:lnTo>
                    <a:pt x="167878" y="111931"/>
                  </a:lnTo>
                  <a:lnTo>
                    <a:pt x="167878" y="116668"/>
                  </a:lnTo>
                  <a:lnTo>
                    <a:pt x="181091" y="131706"/>
                  </a:lnTo>
                  <a:lnTo>
                    <a:pt x="183369" y="132159"/>
                  </a:lnTo>
                  <a:close/>
                </a:path>
                <a:path w="285750" h="228600">
                  <a:moveTo>
                    <a:pt x="242887" y="132159"/>
                  </a:moveTo>
                  <a:lnTo>
                    <a:pt x="188105" y="132159"/>
                  </a:lnTo>
                  <a:lnTo>
                    <a:pt x="190383" y="131706"/>
                  </a:lnTo>
                  <a:lnTo>
                    <a:pt x="194759" y="129893"/>
                  </a:lnTo>
                  <a:lnTo>
                    <a:pt x="203596" y="116668"/>
                  </a:lnTo>
                  <a:lnTo>
                    <a:pt x="203596" y="111931"/>
                  </a:lnTo>
                  <a:lnTo>
                    <a:pt x="188105" y="96440"/>
                  </a:lnTo>
                  <a:lnTo>
                    <a:pt x="242887" y="96440"/>
                  </a:lnTo>
                  <a:lnTo>
                    <a:pt x="242887" y="132159"/>
                  </a:lnTo>
                  <a:close/>
                </a:path>
                <a:path w="285750" h="228600">
                  <a:moveTo>
                    <a:pt x="131802" y="185737"/>
                  </a:moveTo>
                  <a:lnTo>
                    <a:pt x="111085" y="185737"/>
                  </a:lnTo>
                  <a:lnTo>
                    <a:pt x="114300" y="182522"/>
                  </a:lnTo>
                  <a:lnTo>
                    <a:pt x="114300" y="174664"/>
                  </a:lnTo>
                  <a:lnTo>
                    <a:pt x="111085" y="171450"/>
                  </a:lnTo>
                  <a:lnTo>
                    <a:pt x="131802" y="171450"/>
                  </a:lnTo>
                  <a:lnTo>
                    <a:pt x="128587" y="174664"/>
                  </a:lnTo>
                  <a:lnTo>
                    <a:pt x="128587" y="182522"/>
                  </a:lnTo>
                  <a:lnTo>
                    <a:pt x="131802" y="185737"/>
                  </a:lnTo>
                  <a:close/>
                </a:path>
                <a:path w="285750" h="228600">
                  <a:moveTo>
                    <a:pt x="174664" y="185737"/>
                  </a:moveTo>
                  <a:lnTo>
                    <a:pt x="153947" y="185737"/>
                  </a:lnTo>
                  <a:lnTo>
                    <a:pt x="157162" y="182522"/>
                  </a:lnTo>
                  <a:lnTo>
                    <a:pt x="157162" y="174664"/>
                  </a:lnTo>
                  <a:lnTo>
                    <a:pt x="153947" y="171450"/>
                  </a:lnTo>
                  <a:lnTo>
                    <a:pt x="174664" y="171450"/>
                  </a:lnTo>
                  <a:lnTo>
                    <a:pt x="171450" y="174664"/>
                  </a:lnTo>
                  <a:lnTo>
                    <a:pt x="171450" y="182522"/>
                  </a:lnTo>
                  <a:lnTo>
                    <a:pt x="174664" y="185737"/>
                  </a:lnTo>
                  <a:close/>
                </a:path>
                <a:path w="285750" h="228600">
                  <a:moveTo>
                    <a:pt x="242887" y="185737"/>
                  </a:moveTo>
                  <a:lnTo>
                    <a:pt x="196810" y="185737"/>
                  </a:lnTo>
                  <a:lnTo>
                    <a:pt x="200025" y="182522"/>
                  </a:lnTo>
                  <a:lnTo>
                    <a:pt x="200025" y="174664"/>
                  </a:lnTo>
                  <a:lnTo>
                    <a:pt x="196810" y="171450"/>
                  </a:lnTo>
                  <a:lnTo>
                    <a:pt x="242887" y="171450"/>
                  </a:lnTo>
                  <a:lnTo>
                    <a:pt x="242887" y="185737"/>
                  </a:lnTo>
                  <a:close/>
                </a:path>
                <a:path w="285750" h="228600">
                  <a:moveTo>
                    <a:pt x="28575" y="185737"/>
                  </a:moveTo>
                  <a:lnTo>
                    <a:pt x="21431" y="185737"/>
                  </a:lnTo>
                  <a:lnTo>
                    <a:pt x="13091" y="184052"/>
                  </a:lnTo>
                  <a:lnTo>
                    <a:pt x="6278" y="179458"/>
                  </a:lnTo>
                  <a:lnTo>
                    <a:pt x="1684" y="172646"/>
                  </a:lnTo>
                  <a:lnTo>
                    <a:pt x="0" y="164306"/>
                  </a:lnTo>
                  <a:lnTo>
                    <a:pt x="0" y="121443"/>
                  </a:lnTo>
                  <a:lnTo>
                    <a:pt x="1684" y="113103"/>
                  </a:lnTo>
                  <a:lnTo>
                    <a:pt x="6278" y="106291"/>
                  </a:lnTo>
                  <a:lnTo>
                    <a:pt x="13091" y="101697"/>
                  </a:lnTo>
                  <a:lnTo>
                    <a:pt x="21431" y="100012"/>
                  </a:lnTo>
                  <a:lnTo>
                    <a:pt x="28575" y="100012"/>
                  </a:lnTo>
                  <a:lnTo>
                    <a:pt x="28575" y="185737"/>
                  </a:lnTo>
                  <a:close/>
                </a:path>
                <a:path w="285750" h="228600">
                  <a:moveTo>
                    <a:pt x="264318" y="185737"/>
                  </a:moveTo>
                  <a:lnTo>
                    <a:pt x="257175" y="185737"/>
                  </a:lnTo>
                  <a:lnTo>
                    <a:pt x="257175" y="100012"/>
                  </a:lnTo>
                  <a:lnTo>
                    <a:pt x="264318" y="100012"/>
                  </a:lnTo>
                  <a:lnTo>
                    <a:pt x="272658" y="101697"/>
                  </a:lnTo>
                  <a:lnTo>
                    <a:pt x="279471" y="106291"/>
                  </a:lnTo>
                  <a:lnTo>
                    <a:pt x="284065" y="113103"/>
                  </a:lnTo>
                  <a:lnTo>
                    <a:pt x="285750" y="121443"/>
                  </a:lnTo>
                  <a:lnTo>
                    <a:pt x="285750" y="164306"/>
                  </a:lnTo>
                  <a:lnTo>
                    <a:pt x="284065" y="172646"/>
                  </a:lnTo>
                  <a:lnTo>
                    <a:pt x="279471" y="179458"/>
                  </a:lnTo>
                  <a:lnTo>
                    <a:pt x="272658" y="184052"/>
                  </a:lnTo>
                  <a:lnTo>
                    <a:pt x="264318" y="185737"/>
                  </a:lnTo>
                  <a:close/>
                </a:path>
              </a:pathLst>
            </a:custGeom>
            <a:solidFill>
              <a:srgbClr val="005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181505" y="4449089"/>
            <a:ext cx="1820545" cy="80454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492759">
              <a:lnSpc>
                <a:spcPct val="100000"/>
              </a:lnSpc>
              <a:spcBef>
                <a:spcPts val="1025"/>
              </a:spcBef>
            </a:pPr>
            <a:r>
              <a:rPr sz="1800" b="1" spc="220" dirty="0">
                <a:solidFill>
                  <a:srgbClr val="0052CC"/>
                </a:solidFill>
                <a:latin typeface="Calibri"/>
                <a:cs typeface="Calibri"/>
              </a:rPr>
              <a:t>Automate</a:t>
            </a:r>
            <a:endParaRPr sz="18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sz="1050" spc="-10" dirty="0">
                <a:solidFill>
                  <a:srgbClr val="003366"/>
                </a:solidFill>
                <a:latin typeface="Lato"/>
                <a:cs typeface="Lato"/>
              </a:rPr>
              <a:t>Login</a:t>
            </a:r>
            <a:r>
              <a:rPr sz="1050" spc="-4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050" spc="-10" dirty="0">
                <a:solidFill>
                  <a:srgbClr val="003366"/>
                </a:solidFill>
                <a:latin typeface="Lato"/>
                <a:cs typeface="Lato"/>
              </a:rPr>
              <a:t>Access</a:t>
            </a:r>
            <a:r>
              <a:rPr sz="1050" spc="-4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050" spc="-10" dirty="0">
                <a:solidFill>
                  <a:srgbClr val="003366"/>
                </a:solidFill>
                <a:latin typeface="Lato"/>
                <a:cs typeface="Lato"/>
              </a:rPr>
              <a:t>Requests</a:t>
            </a:r>
            <a:endParaRPr sz="1050" dirty="0">
              <a:latin typeface="Lato"/>
              <a:cs typeface="Lato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900" spc="-10" dirty="0">
                <a:solidFill>
                  <a:srgbClr val="4A8FE2"/>
                </a:solidFill>
                <a:latin typeface="Lato"/>
                <a:cs typeface="Lato"/>
              </a:rPr>
              <a:t>Self-</a:t>
            </a:r>
            <a:r>
              <a:rPr sz="900" dirty="0">
                <a:solidFill>
                  <a:srgbClr val="4A8FE2"/>
                </a:solidFill>
                <a:latin typeface="Lato"/>
                <a:cs typeface="Lato"/>
              </a:rPr>
              <a:t>service</a:t>
            </a:r>
            <a:r>
              <a:rPr sz="900" spc="-20" dirty="0">
                <a:solidFill>
                  <a:srgbClr val="4A8FE2"/>
                </a:solidFill>
                <a:latin typeface="Lato"/>
                <a:cs typeface="Lato"/>
              </a:rPr>
              <a:t> </a:t>
            </a:r>
            <a:r>
              <a:rPr sz="900" dirty="0">
                <a:solidFill>
                  <a:srgbClr val="4A8FE2"/>
                </a:solidFill>
                <a:latin typeface="Lato"/>
                <a:cs typeface="Lato"/>
              </a:rPr>
              <a:t>portal</a:t>
            </a:r>
            <a:r>
              <a:rPr sz="900" spc="-20" dirty="0">
                <a:solidFill>
                  <a:srgbClr val="4A8FE2"/>
                </a:solidFill>
                <a:latin typeface="Lato"/>
                <a:cs typeface="Lato"/>
              </a:rPr>
              <a:t> </a:t>
            </a:r>
            <a:r>
              <a:rPr sz="900" spc="-10" dirty="0">
                <a:solidFill>
                  <a:srgbClr val="4A8FE2"/>
                </a:solidFill>
                <a:latin typeface="Lato"/>
                <a:cs typeface="Lato"/>
              </a:rPr>
              <a:t>&amp;</a:t>
            </a:r>
            <a:r>
              <a:rPr sz="900" spc="-20" dirty="0">
                <a:solidFill>
                  <a:srgbClr val="4A8FE2"/>
                </a:solidFill>
                <a:latin typeface="Lato"/>
                <a:cs typeface="Lato"/>
              </a:rPr>
              <a:t> </a:t>
            </a:r>
            <a:r>
              <a:rPr sz="900" spc="-10" dirty="0">
                <a:solidFill>
                  <a:srgbClr val="4A8FE2"/>
                </a:solidFill>
                <a:latin typeface="Lato"/>
                <a:cs typeface="Lato"/>
              </a:rPr>
              <a:t>password</a:t>
            </a:r>
            <a:r>
              <a:rPr sz="900" spc="-20" dirty="0">
                <a:solidFill>
                  <a:srgbClr val="4A8FE2"/>
                </a:solidFill>
                <a:latin typeface="Lato"/>
                <a:cs typeface="Lato"/>
              </a:rPr>
              <a:t> </a:t>
            </a:r>
            <a:r>
              <a:rPr sz="900" spc="-10" dirty="0">
                <a:solidFill>
                  <a:srgbClr val="4A8FE2"/>
                </a:solidFill>
                <a:latin typeface="Lato"/>
                <a:cs typeface="Lato"/>
              </a:rPr>
              <a:t>reset</a:t>
            </a:r>
            <a:endParaRPr sz="900" dirty="0">
              <a:latin typeface="Lato"/>
              <a:cs typeface="Lato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062639" y="5686332"/>
            <a:ext cx="3810000" cy="942975"/>
            <a:chOff x="4190999" y="6924674"/>
            <a:chExt cx="3810000" cy="942975"/>
          </a:xfrm>
        </p:grpSpPr>
        <p:sp>
          <p:nvSpPr>
            <p:cNvPr id="30" name="object 30"/>
            <p:cNvSpPr/>
            <p:nvPr/>
          </p:nvSpPr>
          <p:spPr>
            <a:xfrm>
              <a:off x="4195761" y="6929436"/>
              <a:ext cx="3800475" cy="933450"/>
            </a:xfrm>
            <a:custGeom>
              <a:avLst/>
              <a:gdLst/>
              <a:ahLst/>
              <a:cxnLst/>
              <a:rect l="l" t="t" r="r" b="b"/>
              <a:pathLst>
                <a:path w="3800475" h="933450">
                  <a:moveTo>
                    <a:pt x="3771557" y="933449"/>
                  </a:moveTo>
                  <a:lnTo>
                    <a:pt x="28916" y="933449"/>
                  </a:lnTo>
                  <a:lnTo>
                    <a:pt x="24664" y="932602"/>
                  </a:lnTo>
                  <a:lnTo>
                    <a:pt x="0" y="904532"/>
                  </a:lnTo>
                  <a:lnTo>
                    <a:pt x="0" y="900112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3771557" y="0"/>
                  </a:lnTo>
                  <a:lnTo>
                    <a:pt x="3800474" y="28916"/>
                  </a:lnTo>
                  <a:lnTo>
                    <a:pt x="3800474" y="904532"/>
                  </a:lnTo>
                  <a:lnTo>
                    <a:pt x="3775810" y="932602"/>
                  </a:lnTo>
                  <a:lnTo>
                    <a:pt x="3771557" y="933449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195761" y="6929436"/>
              <a:ext cx="3800475" cy="933450"/>
            </a:xfrm>
            <a:custGeom>
              <a:avLst/>
              <a:gdLst/>
              <a:ahLst/>
              <a:cxnLst/>
              <a:rect l="l" t="t" r="r" b="b"/>
              <a:pathLst>
                <a:path w="3800475" h="933450">
                  <a:moveTo>
                    <a:pt x="0" y="900112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2"/>
                  </a:lnTo>
                  <a:lnTo>
                    <a:pt x="2537" y="20578"/>
                  </a:lnTo>
                  <a:lnTo>
                    <a:pt x="4229" y="16494"/>
                  </a:lnTo>
                  <a:lnTo>
                    <a:pt x="6637" y="12889"/>
                  </a:lnTo>
                  <a:lnTo>
                    <a:pt x="9764" y="9763"/>
                  </a:lnTo>
                  <a:lnTo>
                    <a:pt x="12889" y="6637"/>
                  </a:lnTo>
                  <a:lnTo>
                    <a:pt x="16495" y="4228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3767137" y="0"/>
                  </a:lnTo>
                  <a:lnTo>
                    <a:pt x="3771557" y="0"/>
                  </a:lnTo>
                  <a:lnTo>
                    <a:pt x="3775810" y="845"/>
                  </a:lnTo>
                  <a:lnTo>
                    <a:pt x="3779894" y="2537"/>
                  </a:lnTo>
                  <a:lnTo>
                    <a:pt x="3783978" y="4228"/>
                  </a:lnTo>
                  <a:lnTo>
                    <a:pt x="3787583" y="6637"/>
                  </a:lnTo>
                  <a:lnTo>
                    <a:pt x="3790710" y="9763"/>
                  </a:lnTo>
                  <a:lnTo>
                    <a:pt x="3793836" y="12889"/>
                  </a:lnTo>
                  <a:lnTo>
                    <a:pt x="3796245" y="16494"/>
                  </a:lnTo>
                  <a:lnTo>
                    <a:pt x="3797936" y="20578"/>
                  </a:lnTo>
                  <a:lnTo>
                    <a:pt x="3799628" y="24662"/>
                  </a:lnTo>
                  <a:lnTo>
                    <a:pt x="3800474" y="28916"/>
                  </a:lnTo>
                  <a:lnTo>
                    <a:pt x="3800474" y="33337"/>
                  </a:lnTo>
                  <a:lnTo>
                    <a:pt x="3800474" y="900112"/>
                  </a:lnTo>
                  <a:lnTo>
                    <a:pt x="3800474" y="904532"/>
                  </a:lnTo>
                  <a:lnTo>
                    <a:pt x="3799628" y="908785"/>
                  </a:lnTo>
                  <a:lnTo>
                    <a:pt x="3797936" y="912869"/>
                  </a:lnTo>
                  <a:lnTo>
                    <a:pt x="3796245" y="916953"/>
                  </a:lnTo>
                  <a:lnTo>
                    <a:pt x="3767137" y="933449"/>
                  </a:lnTo>
                  <a:lnTo>
                    <a:pt x="33337" y="933449"/>
                  </a:lnTo>
                  <a:lnTo>
                    <a:pt x="9764" y="923684"/>
                  </a:lnTo>
                  <a:lnTo>
                    <a:pt x="6637" y="920558"/>
                  </a:lnTo>
                  <a:lnTo>
                    <a:pt x="4229" y="916953"/>
                  </a:lnTo>
                  <a:lnTo>
                    <a:pt x="2537" y="912869"/>
                  </a:lnTo>
                  <a:lnTo>
                    <a:pt x="845" y="908785"/>
                  </a:lnTo>
                  <a:lnTo>
                    <a:pt x="0" y="904532"/>
                  </a:lnTo>
                  <a:lnTo>
                    <a:pt x="0" y="900112"/>
                  </a:lnTo>
                  <a:close/>
                </a:path>
              </a:pathLst>
            </a:custGeom>
            <a:ln w="9524">
              <a:solidFill>
                <a:srgbClr val="E6F1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76874" y="7110411"/>
              <a:ext cx="228600" cy="200025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5011188" y="5686194"/>
            <a:ext cx="1908175" cy="80454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636905">
              <a:lnSpc>
                <a:spcPct val="100000"/>
              </a:lnSpc>
              <a:spcBef>
                <a:spcPts val="1025"/>
              </a:spcBef>
            </a:pPr>
            <a:r>
              <a:rPr sz="1800" b="1" spc="160" dirty="0">
                <a:solidFill>
                  <a:srgbClr val="0052CC"/>
                </a:solidFill>
                <a:latin typeface="Calibri"/>
                <a:cs typeface="Calibri"/>
              </a:rPr>
              <a:t>Monitor</a:t>
            </a:r>
            <a:endParaRPr sz="18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sz="1050" spc="-10" dirty="0">
                <a:solidFill>
                  <a:srgbClr val="003366"/>
                </a:solidFill>
                <a:latin typeface="Lato"/>
                <a:cs typeface="Lato"/>
              </a:rPr>
              <a:t>System</a:t>
            </a:r>
            <a:r>
              <a:rPr sz="1050" spc="-2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050" spc="-10" dirty="0">
                <a:solidFill>
                  <a:srgbClr val="003366"/>
                </a:solidFill>
                <a:latin typeface="Lato"/>
                <a:cs typeface="Lato"/>
              </a:rPr>
              <a:t>Stability</a:t>
            </a:r>
            <a:endParaRPr sz="1050" dirty="0">
              <a:latin typeface="Lato"/>
              <a:cs typeface="Lato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900" dirty="0">
                <a:solidFill>
                  <a:srgbClr val="4A8FE2"/>
                </a:solidFill>
                <a:latin typeface="Lato"/>
                <a:cs typeface="Lato"/>
              </a:rPr>
              <a:t>Implement</a:t>
            </a:r>
            <a:r>
              <a:rPr sz="900" spc="-30" dirty="0">
                <a:solidFill>
                  <a:srgbClr val="4A8FE2"/>
                </a:solidFill>
                <a:latin typeface="Lato"/>
                <a:cs typeface="Lato"/>
              </a:rPr>
              <a:t> </a:t>
            </a:r>
            <a:r>
              <a:rPr sz="900" dirty="0">
                <a:solidFill>
                  <a:srgbClr val="4A8FE2"/>
                </a:solidFill>
                <a:latin typeface="Lato"/>
                <a:cs typeface="Lato"/>
              </a:rPr>
              <a:t>proactive</a:t>
            </a:r>
            <a:r>
              <a:rPr sz="900" spc="-30" dirty="0">
                <a:solidFill>
                  <a:srgbClr val="4A8FE2"/>
                </a:solidFill>
                <a:latin typeface="Lato"/>
                <a:cs typeface="Lato"/>
              </a:rPr>
              <a:t> </a:t>
            </a:r>
            <a:r>
              <a:rPr sz="900" dirty="0">
                <a:solidFill>
                  <a:srgbClr val="4A8FE2"/>
                </a:solidFill>
                <a:latin typeface="Lato"/>
                <a:cs typeface="Lato"/>
              </a:rPr>
              <a:t>monitoring</a:t>
            </a:r>
            <a:r>
              <a:rPr sz="900" spc="-25" dirty="0">
                <a:solidFill>
                  <a:srgbClr val="4A8FE2"/>
                </a:solidFill>
                <a:latin typeface="Lato"/>
                <a:cs typeface="Lato"/>
              </a:rPr>
              <a:t> </a:t>
            </a:r>
            <a:r>
              <a:rPr sz="900" spc="-20" dirty="0">
                <a:solidFill>
                  <a:srgbClr val="4A8FE2"/>
                </a:solidFill>
                <a:latin typeface="Lato"/>
                <a:cs typeface="Lato"/>
              </a:rPr>
              <a:t>tools</a:t>
            </a:r>
            <a:endParaRPr sz="900" dirty="0">
              <a:latin typeface="Lato"/>
              <a:cs typeface="Lato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176531" y="4451258"/>
            <a:ext cx="3810000" cy="942975"/>
            <a:chOff x="8000998" y="6924674"/>
            <a:chExt cx="3810000" cy="942975"/>
          </a:xfrm>
        </p:grpSpPr>
        <p:sp>
          <p:nvSpPr>
            <p:cNvPr id="35" name="object 35"/>
            <p:cNvSpPr/>
            <p:nvPr/>
          </p:nvSpPr>
          <p:spPr>
            <a:xfrm>
              <a:off x="8005760" y="6929436"/>
              <a:ext cx="3800475" cy="933450"/>
            </a:xfrm>
            <a:custGeom>
              <a:avLst/>
              <a:gdLst/>
              <a:ahLst/>
              <a:cxnLst/>
              <a:rect l="l" t="t" r="r" b="b"/>
              <a:pathLst>
                <a:path w="3800475" h="933450">
                  <a:moveTo>
                    <a:pt x="3771557" y="933449"/>
                  </a:moveTo>
                  <a:lnTo>
                    <a:pt x="28916" y="933449"/>
                  </a:lnTo>
                  <a:lnTo>
                    <a:pt x="24662" y="932602"/>
                  </a:lnTo>
                  <a:lnTo>
                    <a:pt x="0" y="904532"/>
                  </a:lnTo>
                  <a:lnTo>
                    <a:pt x="0" y="900112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3771557" y="0"/>
                  </a:lnTo>
                  <a:lnTo>
                    <a:pt x="3800474" y="28916"/>
                  </a:lnTo>
                  <a:lnTo>
                    <a:pt x="3800474" y="904532"/>
                  </a:lnTo>
                  <a:lnTo>
                    <a:pt x="3775809" y="932602"/>
                  </a:lnTo>
                  <a:lnTo>
                    <a:pt x="3771557" y="933449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005760" y="6929436"/>
              <a:ext cx="3800475" cy="933450"/>
            </a:xfrm>
            <a:custGeom>
              <a:avLst/>
              <a:gdLst/>
              <a:ahLst/>
              <a:cxnLst/>
              <a:rect l="l" t="t" r="r" b="b"/>
              <a:pathLst>
                <a:path w="3800475" h="933450">
                  <a:moveTo>
                    <a:pt x="0" y="900112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2"/>
                  </a:lnTo>
                  <a:lnTo>
                    <a:pt x="2537" y="20578"/>
                  </a:lnTo>
                  <a:lnTo>
                    <a:pt x="4228" y="16494"/>
                  </a:lnTo>
                  <a:lnTo>
                    <a:pt x="6637" y="12889"/>
                  </a:lnTo>
                  <a:lnTo>
                    <a:pt x="9764" y="9763"/>
                  </a:lnTo>
                  <a:lnTo>
                    <a:pt x="12889" y="6637"/>
                  </a:lnTo>
                  <a:lnTo>
                    <a:pt x="16494" y="4228"/>
                  </a:lnTo>
                  <a:lnTo>
                    <a:pt x="20578" y="2537"/>
                  </a:lnTo>
                  <a:lnTo>
                    <a:pt x="24662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3767137" y="0"/>
                  </a:lnTo>
                  <a:lnTo>
                    <a:pt x="3771557" y="0"/>
                  </a:lnTo>
                  <a:lnTo>
                    <a:pt x="3775809" y="845"/>
                  </a:lnTo>
                  <a:lnTo>
                    <a:pt x="3797937" y="20578"/>
                  </a:lnTo>
                  <a:lnTo>
                    <a:pt x="3799628" y="24662"/>
                  </a:lnTo>
                  <a:lnTo>
                    <a:pt x="3800474" y="28916"/>
                  </a:lnTo>
                  <a:lnTo>
                    <a:pt x="3800475" y="33337"/>
                  </a:lnTo>
                  <a:lnTo>
                    <a:pt x="3800475" y="900112"/>
                  </a:lnTo>
                  <a:lnTo>
                    <a:pt x="3800474" y="904532"/>
                  </a:lnTo>
                  <a:lnTo>
                    <a:pt x="3799628" y="908785"/>
                  </a:lnTo>
                  <a:lnTo>
                    <a:pt x="3797937" y="912869"/>
                  </a:lnTo>
                  <a:lnTo>
                    <a:pt x="3796245" y="916953"/>
                  </a:lnTo>
                  <a:lnTo>
                    <a:pt x="3767137" y="933449"/>
                  </a:lnTo>
                  <a:lnTo>
                    <a:pt x="33338" y="933449"/>
                  </a:lnTo>
                  <a:lnTo>
                    <a:pt x="9764" y="923684"/>
                  </a:lnTo>
                  <a:lnTo>
                    <a:pt x="6637" y="920558"/>
                  </a:lnTo>
                  <a:lnTo>
                    <a:pt x="4228" y="916953"/>
                  </a:lnTo>
                  <a:lnTo>
                    <a:pt x="2537" y="912869"/>
                  </a:lnTo>
                  <a:lnTo>
                    <a:pt x="845" y="908785"/>
                  </a:lnTo>
                  <a:lnTo>
                    <a:pt x="0" y="904532"/>
                  </a:lnTo>
                  <a:lnTo>
                    <a:pt x="0" y="900112"/>
                  </a:lnTo>
                  <a:close/>
                </a:path>
              </a:pathLst>
            </a:custGeom>
            <a:ln w="9524">
              <a:solidFill>
                <a:srgbClr val="E6F1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324974" y="7096124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69030" y="71437"/>
                  </a:moveTo>
                  <a:lnTo>
                    <a:pt x="59557" y="71437"/>
                  </a:lnTo>
                  <a:lnTo>
                    <a:pt x="55000" y="70531"/>
                  </a:lnTo>
                  <a:lnTo>
                    <a:pt x="28574" y="40455"/>
                  </a:lnTo>
                  <a:lnTo>
                    <a:pt x="28574" y="30982"/>
                  </a:lnTo>
                  <a:lnTo>
                    <a:pt x="55000" y="906"/>
                  </a:lnTo>
                  <a:lnTo>
                    <a:pt x="59557" y="0"/>
                  </a:lnTo>
                  <a:lnTo>
                    <a:pt x="69030" y="0"/>
                  </a:lnTo>
                  <a:lnTo>
                    <a:pt x="99106" y="26425"/>
                  </a:lnTo>
                  <a:lnTo>
                    <a:pt x="100012" y="30982"/>
                  </a:lnTo>
                  <a:lnTo>
                    <a:pt x="100012" y="40455"/>
                  </a:lnTo>
                  <a:lnTo>
                    <a:pt x="73586" y="70531"/>
                  </a:lnTo>
                  <a:lnTo>
                    <a:pt x="69030" y="71437"/>
                  </a:lnTo>
                  <a:close/>
                </a:path>
                <a:path w="285750" h="228600">
                  <a:moveTo>
                    <a:pt x="233336" y="71437"/>
                  </a:moveTo>
                  <a:lnTo>
                    <a:pt x="223863" y="71437"/>
                  </a:lnTo>
                  <a:lnTo>
                    <a:pt x="219307" y="70531"/>
                  </a:lnTo>
                  <a:lnTo>
                    <a:pt x="192881" y="40455"/>
                  </a:lnTo>
                  <a:lnTo>
                    <a:pt x="192881" y="30982"/>
                  </a:lnTo>
                  <a:lnTo>
                    <a:pt x="219307" y="906"/>
                  </a:lnTo>
                  <a:lnTo>
                    <a:pt x="223863" y="0"/>
                  </a:lnTo>
                  <a:lnTo>
                    <a:pt x="233336" y="0"/>
                  </a:lnTo>
                  <a:lnTo>
                    <a:pt x="263412" y="26425"/>
                  </a:lnTo>
                  <a:lnTo>
                    <a:pt x="264318" y="30982"/>
                  </a:lnTo>
                  <a:lnTo>
                    <a:pt x="264318" y="40455"/>
                  </a:lnTo>
                  <a:lnTo>
                    <a:pt x="237892" y="70531"/>
                  </a:lnTo>
                  <a:lnTo>
                    <a:pt x="233336" y="71437"/>
                  </a:lnTo>
                  <a:close/>
                </a:path>
                <a:path w="285750" h="228600">
                  <a:moveTo>
                    <a:pt x="148558" y="142874"/>
                  </a:moveTo>
                  <a:lnTo>
                    <a:pt x="137191" y="142874"/>
                  </a:lnTo>
                  <a:lnTo>
                    <a:pt x="131723" y="141787"/>
                  </a:lnTo>
                  <a:lnTo>
                    <a:pt x="101100" y="111164"/>
                  </a:lnTo>
                  <a:lnTo>
                    <a:pt x="100012" y="105696"/>
                  </a:lnTo>
                  <a:lnTo>
                    <a:pt x="100012" y="94328"/>
                  </a:lnTo>
                  <a:lnTo>
                    <a:pt x="100862" y="90055"/>
                  </a:lnTo>
                  <a:lnTo>
                    <a:pt x="100978" y="89470"/>
                  </a:lnTo>
                  <a:lnTo>
                    <a:pt x="131723" y="58237"/>
                  </a:lnTo>
                  <a:lnTo>
                    <a:pt x="137191" y="57150"/>
                  </a:lnTo>
                  <a:lnTo>
                    <a:pt x="148558" y="57150"/>
                  </a:lnTo>
                  <a:lnTo>
                    <a:pt x="180299" y="78358"/>
                  </a:lnTo>
                  <a:lnTo>
                    <a:pt x="185737" y="94328"/>
                  </a:lnTo>
                  <a:lnTo>
                    <a:pt x="185737" y="105696"/>
                  </a:lnTo>
                  <a:lnTo>
                    <a:pt x="164528" y="137437"/>
                  </a:lnTo>
                  <a:lnTo>
                    <a:pt x="154026" y="141787"/>
                  </a:lnTo>
                  <a:lnTo>
                    <a:pt x="148558" y="142874"/>
                  </a:lnTo>
                  <a:close/>
                </a:path>
                <a:path w="285750" h="228600">
                  <a:moveTo>
                    <a:pt x="105102" y="142874"/>
                  </a:moveTo>
                  <a:lnTo>
                    <a:pt x="4286" y="142874"/>
                  </a:lnTo>
                  <a:lnTo>
                    <a:pt x="0" y="138588"/>
                  </a:lnTo>
                  <a:lnTo>
                    <a:pt x="0" y="133364"/>
                  </a:lnTo>
                  <a:lnTo>
                    <a:pt x="3745" y="114826"/>
                  </a:lnTo>
                  <a:lnTo>
                    <a:pt x="13958" y="99683"/>
                  </a:lnTo>
                  <a:lnTo>
                    <a:pt x="29101" y="89470"/>
                  </a:lnTo>
                  <a:lnTo>
                    <a:pt x="47639" y="85725"/>
                  </a:lnTo>
                  <a:lnTo>
                    <a:pt x="73803" y="85725"/>
                  </a:lnTo>
                  <a:lnTo>
                    <a:pt x="80353" y="87243"/>
                  </a:lnTo>
                  <a:lnTo>
                    <a:pt x="83996" y="88860"/>
                  </a:lnTo>
                  <a:lnTo>
                    <a:pt x="86617" y="90055"/>
                  </a:lnTo>
                  <a:lnTo>
                    <a:pt x="86037" y="93270"/>
                  </a:lnTo>
                  <a:lnTo>
                    <a:pt x="85769" y="96619"/>
                  </a:lnTo>
                  <a:lnTo>
                    <a:pt x="85769" y="100012"/>
                  </a:lnTo>
                  <a:lnTo>
                    <a:pt x="87126" y="112429"/>
                  </a:lnTo>
                  <a:lnTo>
                    <a:pt x="90999" y="123904"/>
                  </a:lnTo>
                  <a:lnTo>
                    <a:pt x="97090" y="134149"/>
                  </a:lnTo>
                  <a:lnTo>
                    <a:pt x="105102" y="142874"/>
                  </a:lnTo>
                  <a:close/>
                </a:path>
                <a:path w="285750" h="228600">
                  <a:moveTo>
                    <a:pt x="281463" y="142874"/>
                  </a:moveTo>
                  <a:lnTo>
                    <a:pt x="180647" y="142874"/>
                  </a:lnTo>
                  <a:lnTo>
                    <a:pt x="188678" y="134149"/>
                  </a:lnTo>
                  <a:lnTo>
                    <a:pt x="194767" y="123904"/>
                  </a:lnTo>
                  <a:lnTo>
                    <a:pt x="198629" y="112429"/>
                  </a:lnTo>
                  <a:lnTo>
                    <a:pt x="199980" y="100012"/>
                  </a:lnTo>
                  <a:lnTo>
                    <a:pt x="199980" y="96619"/>
                  </a:lnTo>
                  <a:lnTo>
                    <a:pt x="199763" y="94328"/>
                  </a:lnTo>
                  <a:lnTo>
                    <a:pt x="199660" y="93270"/>
                  </a:lnTo>
                  <a:lnTo>
                    <a:pt x="199132" y="90055"/>
                  </a:lnTo>
                  <a:lnTo>
                    <a:pt x="205204" y="87243"/>
                  </a:lnTo>
                  <a:lnTo>
                    <a:pt x="211946" y="85725"/>
                  </a:lnTo>
                  <a:lnTo>
                    <a:pt x="238110" y="85725"/>
                  </a:lnTo>
                  <a:lnTo>
                    <a:pt x="256648" y="89470"/>
                  </a:lnTo>
                  <a:lnTo>
                    <a:pt x="271791" y="99683"/>
                  </a:lnTo>
                  <a:lnTo>
                    <a:pt x="282004" y="114826"/>
                  </a:lnTo>
                  <a:lnTo>
                    <a:pt x="285750" y="133364"/>
                  </a:lnTo>
                  <a:lnTo>
                    <a:pt x="285750" y="138588"/>
                  </a:lnTo>
                  <a:lnTo>
                    <a:pt x="281463" y="142874"/>
                  </a:lnTo>
                  <a:close/>
                </a:path>
                <a:path w="285750" h="228600">
                  <a:moveTo>
                    <a:pt x="223286" y="228600"/>
                  </a:moveTo>
                  <a:lnTo>
                    <a:pt x="62507" y="228600"/>
                  </a:lnTo>
                  <a:lnTo>
                    <a:pt x="57150" y="223242"/>
                  </a:lnTo>
                  <a:lnTo>
                    <a:pt x="57150" y="216678"/>
                  </a:lnTo>
                  <a:lnTo>
                    <a:pt x="61828" y="193516"/>
                  </a:lnTo>
                  <a:lnTo>
                    <a:pt x="74585" y="174597"/>
                  </a:lnTo>
                  <a:lnTo>
                    <a:pt x="93503" y="161840"/>
                  </a:lnTo>
                  <a:lnTo>
                    <a:pt x="116666" y="157162"/>
                  </a:lnTo>
                  <a:lnTo>
                    <a:pt x="169083" y="157162"/>
                  </a:lnTo>
                  <a:lnTo>
                    <a:pt x="192246" y="161840"/>
                  </a:lnTo>
                  <a:lnTo>
                    <a:pt x="211164" y="174597"/>
                  </a:lnTo>
                  <a:lnTo>
                    <a:pt x="223921" y="193516"/>
                  </a:lnTo>
                  <a:lnTo>
                    <a:pt x="228600" y="216678"/>
                  </a:lnTo>
                  <a:lnTo>
                    <a:pt x="228600" y="223242"/>
                  </a:lnTo>
                  <a:lnTo>
                    <a:pt x="223286" y="228600"/>
                  </a:lnTo>
                  <a:close/>
                </a:path>
              </a:pathLst>
            </a:custGeom>
            <a:solidFill>
              <a:srgbClr val="005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428315" y="4472791"/>
            <a:ext cx="1382395" cy="80454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25"/>
              </a:spcBef>
            </a:pPr>
            <a:r>
              <a:rPr sz="1800" b="1" spc="245" dirty="0">
                <a:solidFill>
                  <a:srgbClr val="0052CC"/>
                </a:solidFill>
                <a:latin typeface="Calibri"/>
                <a:cs typeface="Calibri"/>
              </a:rPr>
              <a:t>Assign</a:t>
            </a:r>
            <a:endParaRPr sz="1800" dirty="0">
              <a:latin typeface="Calibri"/>
              <a:cs typeface="Calibri"/>
            </a:endParaRPr>
          </a:p>
          <a:p>
            <a:pPr marL="66040">
              <a:lnSpc>
                <a:spcPct val="100000"/>
              </a:lnSpc>
              <a:spcBef>
                <a:spcPts val="540"/>
              </a:spcBef>
            </a:pPr>
            <a:r>
              <a:rPr sz="1050" dirty="0">
                <a:solidFill>
                  <a:srgbClr val="003366"/>
                </a:solidFill>
                <a:latin typeface="Lato"/>
                <a:cs typeface="Lato"/>
              </a:rPr>
              <a:t>Dedicated</a:t>
            </a:r>
            <a:r>
              <a:rPr sz="105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050" spc="-20" dirty="0">
                <a:solidFill>
                  <a:srgbClr val="003366"/>
                </a:solidFill>
                <a:latin typeface="Lato"/>
                <a:cs typeface="Lato"/>
              </a:rPr>
              <a:t>Sub-teams</a:t>
            </a:r>
            <a:endParaRPr sz="1050" dirty="0">
              <a:latin typeface="Lato"/>
              <a:cs typeface="Lato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900" spc="-10" dirty="0">
                <a:solidFill>
                  <a:srgbClr val="4A8FE2"/>
                </a:solidFill>
                <a:latin typeface="Lato"/>
                <a:cs typeface="Lato"/>
              </a:rPr>
              <a:t>For</a:t>
            </a:r>
            <a:r>
              <a:rPr sz="900" spc="-20" dirty="0">
                <a:solidFill>
                  <a:srgbClr val="4A8FE2"/>
                </a:solidFill>
                <a:latin typeface="Lato"/>
                <a:cs typeface="Lato"/>
              </a:rPr>
              <a:t> </a:t>
            </a:r>
            <a:r>
              <a:rPr sz="900" spc="-10" dirty="0">
                <a:solidFill>
                  <a:srgbClr val="4A8FE2"/>
                </a:solidFill>
                <a:latin typeface="Lato"/>
                <a:cs typeface="Lato"/>
              </a:rPr>
              <a:t>high-volume</a:t>
            </a:r>
            <a:r>
              <a:rPr sz="900" spc="-20" dirty="0">
                <a:solidFill>
                  <a:srgbClr val="4A8FE2"/>
                </a:solidFill>
                <a:latin typeface="Lato"/>
                <a:cs typeface="Lato"/>
              </a:rPr>
              <a:t> </a:t>
            </a:r>
            <a:r>
              <a:rPr sz="900" spc="-10" dirty="0">
                <a:solidFill>
                  <a:srgbClr val="4A8FE2"/>
                </a:solidFill>
                <a:latin typeface="Lato"/>
                <a:cs typeface="Lato"/>
              </a:rPr>
              <a:t>categories</a:t>
            </a:r>
            <a:endParaRPr sz="900" dirty="0">
              <a:latin typeface="Lato"/>
              <a:cs typeface="Lato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1981768" y="6522602"/>
            <a:ext cx="114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3366"/>
                </a:solidFill>
                <a:latin typeface="Lato"/>
                <a:cs typeface="Lato"/>
              </a:rPr>
              <a:t>6</a:t>
            </a:r>
            <a:endParaRPr sz="1200" dirty="0">
              <a:latin typeface="Lato"/>
              <a:cs typeface="Lato"/>
            </a:endParaRPr>
          </a:p>
        </p:txBody>
      </p:sp>
      <p:graphicFrame>
        <p:nvGraphicFramePr>
          <p:cNvPr id="42" name="Chart 41">
            <a:extLst>
              <a:ext uri="{FF2B5EF4-FFF2-40B4-BE49-F238E27FC236}">
                <a16:creationId xmlns:a16="http://schemas.microsoft.com/office/drawing/2014/main" id="{3869E6DB-5A95-4945-AA8A-FF1843B949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8853172"/>
              </p:ext>
            </p:extLst>
          </p:nvPr>
        </p:nvGraphicFramePr>
        <p:xfrm>
          <a:off x="432655" y="1112253"/>
          <a:ext cx="5091844" cy="245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3" name="object 18">
            <a:extLst>
              <a:ext uri="{FF2B5EF4-FFF2-40B4-BE49-F238E27FC236}">
                <a16:creationId xmlns:a16="http://schemas.microsoft.com/office/drawing/2014/main" id="{21C8F3E5-F7B9-4C08-B476-86B0784029ED}"/>
              </a:ext>
            </a:extLst>
          </p:cNvPr>
          <p:cNvSpPr txBox="1">
            <a:spLocks/>
          </p:cNvSpPr>
          <p:nvPr/>
        </p:nvSpPr>
        <p:spPr>
          <a:xfrm>
            <a:off x="8874320" y="1115311"/>
            <a:ext cx="3333927" cy="51475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>
            <a:lvl1pPr marL="0">
              <a:defRPr sz="1300" b="0" i="0">
                <a:solidFill>
                  <a:srgbClr val="0052CC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14300"/>
            <a:r>
              <a:rPr lang="en-US" spc="-75" dirty="0"/>
              <a:t>Login</a:t>
            </a:r>
            <a:r>
              <a:rPr lang="en-US" spc="-90" dirty="0"/>
              <a:t> </a:t>
            </a:r>
            <a:r>
              <a:rPr lang="en-US" spc="-100" dirty="0"/>
              <a:t>Access:</a:t>
            </a:r>
            <a:r>
              <a:rPr lang="en-US" spc="-85" dirty="0"/>
              <a:t> </a:t>
            </a:r>
            <a:r>
              <a:rPr lang="en-US" spc="-20" dirty="0"/>
              <a:t>30%</a:t>
            </a:r>
          </a:p>
          <a:p>
            <a:pPr marL="114300" marR="123189">
              <a:lnSpc>
                <a:spcPct val="104200"/>
              </a:lnSpc>
              <a:spcBef>
                <a:spcPts val="430"/>
              </a:spcBef>
            </a:pPr>
            <a:r>
              <a:rPr lang="en-US" sz="1200" spc="-20" dirty="0">
                <a:solidFill>
                  <a:schemeClr val="tx1"/>
                </a:solidFill>
                <a:latin typeface="Lato"/>
                <a:cs typeface="Lato"/>
              </a:rPr>
              <a:t>Second</a:t>
            </a:r>
            <a:r>
              <a:rPr lang="en-US" sz="1200" spc="-35" dirty="0">
                <a:solidFill>
                  <a:schemeClr val="tx1"/>
                </a:solidFill>
                <a:latin typeface="Lato"/>
                <a:cs typeface="Lato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Lato"/>
                <a:cs typeface="Lato"/>
              </a:rPr>
              <a:t>largest</a:t>
            </a:r>
            <a:r>
              <a:rPr lang="en-US" sz="1200" spc="-30" dirty="0">
                <a:solidFill>
                  <a:schemeClr val="tx1"/>
                </a:solidFill>
                <a:latin typeface="Lato"/>
                <a:cs typeface="Lato"/>
              </a:rPr>
              <a:t> </a:t>
            </a:r>
            <a:r>
              <a:rPr lang="en-US" sz="1200" spc="-10" dirty="0">
                <a:solidFill>
                  <a:schemeClr val="tx1"/>
                </a:solidFill>
                <a:latin typeface="Lato"/>
                <a:cs typeface="Lato"/>
              </a:rPr>
              <a:t>segment</a:t>
            </a:r>
            <a:r>
              <a:rPr lang="en-US" sz="1200" spc="-35" dirty="0">
                <a:solidFill>
                  <a:schemeClr val="tx1"/>
                </a:solidFill>
                <a:latin typeface="Lato"/>
                <a:cs typeface="Lato"/>
              </a:rPr>
              <a:t> </a:t>
            </a:r>
            <a:r>
              <a:rPr lang="en-US" sz="1200" spc="-10" dirty="0">
                <a:solidFill>
                  <a:schemeClr val="tx1"/>
                </a:solidFill>
                <a:latin typeface="Lato"/>
                <a:cs typeface="Lato"/>
              </a:rPr>
              <a:t>(29,193</a:t>
            </a:r>
            <a:r>
              <a:rPr lang="en-US" sz="1200" spc="-30" dirty="0">
                <a:solidFill>
                  <a:schemeClr val="tx1"/>
                </a:solidFill>
                <a:latin typeface="Lato"/>
                <a:cs typeface="Lato"/>
              </a:rPr>
              <a:t> </a:t>
            </a:r>
            <a:r>
              <a:rPr lang="en-US" sz="1200" spc="-10" dirty="0">
                <a:solidFill>
                  <a:schemeClr val="tx1"/>
                </a:solidFill>
                <a:latin typeface="Lato"/>
                <a:cs typeface="Lato"/>
              </a:rPr>
              <a:t>tickets).</a:t>
            </a:r>
            <a:endParaRPr lang="en-US" sz="1200" dirty="0">
              <a:solidFill>
                <a:schemeClr val="tx1"/>
              </a:solidFill>
              <a:latin typeface="Lato"/>
              <a:cs typeface="Lato"/>
            </a:endParaRPr>
          </a:p>
        </p:txBody>
      </p:sp>
      <p:sp>
        <p:nvSpPr>
          <p:cNvPr id="44" name="object 18">
            <a:extLst>
              <a:ext uri="{FF2B5EF4-FFF2-40B4-BE49-F238E27FC236}">
                <a16:creationId xmlns:a16="http://schemas.microsoft.com/office/drawing/2014/main" id="{976FC05C-FEAC-4F4C-89A9-AA4B5FDA7359}"/>
              </a:ext>
            </a:extLst>
          </p:cNvPr>
          <p:cNvSpPr txBox="1">
            <a:spLocks/>
          </p:cNvSpPr>
          <p:nvPr/>
        </p:nvSpPr>
        <p:spPr>
          <a:xfrm>
            <a:off x="8879365" y="1801776"/>
            <a:ext cx="3333927" cy="54418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>
            <a:lvl1pPr marL="0">
              <a:defRPr sz="1300" b="0" i="0">
                <a:solidFill>
                  <a:srgbClr val="0052CC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14300">
              <a:lnSpc>
                <a:spcPct val="100000"/>
              </a:lnSpc>
              <a:spcBef>
                <a:spcPts val="5"/>
              </a:spcBef>
            </a:pPr>
            <a:r>
              <a:rPr lang="en-US" spc="-55" dirty="0"/>
              <a:t>Software:</a:t>
            </a:r>
            <a:r>
              <a:rPr lang="en-US" spc="-60" dirty="0"/>
              <a:t> </a:t>
            </a:r>
            <a:r>
              <a:rPr lang="en-US" spc="-20" dirty="0"/>
              <a:t>20%</a:t>
            </a:r>
          </a:p>
          <a:p>
            <a:pPr marL="114300" marR="946150">
              <a:lnSpc>
                <a:spcPct val="104200"/>
              </a:lnSpc>
              <a:spcBef>
                <a:spcPts val="430"/>
              </a:spcBef>
            </a:pPr>
            <a:r>
              <a:rPr lang="en-US" sz="1400" dirty="0">
                <a:solidFill>
                  <a:schemeClr val="tx1"/>
                </a:solidFill>
                <a:latin typeface="Lato"/>
                <a:cs typeface="Lato"/>
              </a:rPr>
              <a:t>Comprises</a:t>
            </a:r>
            <a:r>
              <a:rPr lang="en-US" sz="1400" spc="-50" dirty="0">
                <a:solidFill>
                  <a:schemeClr val="tx1"/>
                </a:solidFill>
                <a:latin typeface="Lato"/>
                <a:cs typeface="Lato"/>
              </a:rPr>
              <a:t> (</a:t>
            </a:r>
            <a:r>
              <a:rPr lang="en-US" sz="1400" spc="-10" dirty="0">
                <a:solidFill>
                  <a:schemeClr val="tx1"/>
                </a:solidFill>
                <a:latin typeface="Lato"/>
                <a:cs typeface="Lato"/>
              </a:rPr>
              <a:t>19,570</a:t>
            </a:r>
            <a:r>
              <a:rPr lang="en-US" sz="1400" spc="-45" dirty="0">
                <a:solidFill>
                  <a:schemeClr val="tx1"/>
                </a:solidFill>
                <a:latin typeface="Lato"/>
                <a:cs typeface="Lato"/>
              </a:rPr>
              <a:t> </a:t>
            </a:r>
            <a:r>
              <a:rPr lang="en-US" sz="1400" spc="-10" dirty="0">
                <a:solidFill>
                  <a:schemeClr val="tx1"/>
                </a:solidFill>
                <a:latin typeface="Lato"/>
                <a:cs typeface="Lato"/>
              </a:rPr>
              <a:t>tickets).</a:t>
            </a:r>
            <a:endParaRPr lang="en-US" sz="1400" dirty="0">
              <a:solidFill>
                <a:schemeClr val="tx1"/>
              </a:solidFill>
              <a:latin typeface="Lato"/>
              <a:cs typeface="Lato"/>
            </a:endParaRPr>
          </a:p>
        </p:txBody>
      </p:sp>
      <p:grpSp>
        <p:nvGrpSpPr>
          <p:cNvPr id="40" name="object 4">
            <a:extLst>
              <a:ext uri="{FF2B5EF4-FFF2-40B4-BE49-F238E27FC236}">
                <a16:creationId xmlns:a16="http://schemas.microsoft.com/office/drawing/2014/main" id="{C9DA070F-EB21-46B3-8DBA-BDEC04F23910}"/>
              </a:ext>
            </a:extLst>
          </p:cNvPr>
          <p:cNvGrpSpPr/>
          <p:nvPr/>
        </p:nvGrpSpPr>
        <p:grpSpPr>
          <a:xfrm>
            <a:off x="5845883" y="2961556"/>
            <a:ext cx="5913461" cy="895350"/>
            <a:chOff x="380999" y="4972049"/>
            <a:chExt cx="5600700" cy="895350"/>
          </a:xfrm>
        </p:grpSpPr>
        <p:sp>
          <p:nvSpPr>
            <p:cNvPr id="41" name="object 5">
              <a:extLst>
                <a:ext uri="{FF2B5EF4-FFF2-40B4-BE49-F238E27FC236}">
                  <a16:creationId xmlns:a16="http://schemas.microsoft.com/office/drawing/2014/main" id="{A5938BB9-9C32-4539-B90F-C1936ABA3FA5}"/>
                </a:ext>
              </a:extLst>
            </p:cNvPr>
            <p:cNvSpPr/>
            <p:nvPr/>
          </p:nvSpPr>
          <p:spPr>
            <a:xfrm>
              <a:off x="380987" y="4972062"/>
              <a:ext cx="5600700" cy="895350"/>
            </a:xfrm>
            <a:custGeom>
              <a:avLst/>
              <a:gdLst/>
              <a:ahLst/>
              <a:cxnLst/>
              <a:rect l="l" t="t" r="r" b="b"/>
              <a:pathLst>
                <a:path w="5600700" h="895350">
                  <a:moveTo>
                    <a:pt x="5600700" y="0"/>
                  </a:moveTo>
                  <a:lnTo>
                    <a:pt x="55911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5591175" y="9525"/>
                  </a:lnTo>
                  <a:lnTo>
                    <a:pt x="5591175" y="885825"/>
                  </a:lnTo>
                  <a:lnTo>
                    <a:pt x="0" y="885825"/>
                  </a:lnTo>
                  <a:lnTo>
                    <a:pt x="0" y="895350"/>
                  </a:lnTo>
                  <a:lnTo>
                    <a:pt x="5591175" y="895350"/>
                  </a:lnTo>
                  <a:lnTo>
                    <a:pt x="5600700" y="895350"/>
                  </a:lnTo>
                  <a:lnTo>
                    <a:pt x="5600700" y="885825"/>
                  </a:lnTo>
                  <a:lnTo>
                    <a:pt x="5600700" y="9525"/>
                  </a:lnTo>
                  <a:lnTo>
                    <a:pt x="5600700" y="0"/>
                  </a:lnTo>
                  <a:close/>
                </a:path>
              </a:pathLst>
            </a:custGeom>
            <a:solidFill>
              <a:srgbClr val="E6F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6">
              <a:extLst>
                <a:ext uri="{FF2B5EF4-FFF2-40B4-BE49-F238E27FC236}">
                  <a16:creationId xmlns:a16="http://schemas.microsoft.com/office/drawing/2014/main" id="{C219F804-8F0D-4158-B9D6-B695804AC488}"/>
                </a:ext>
              </a:extLst>
            </p:cNvPr>
            <p:cNvSpPr/>
            <p:nvPr/>
          </p:nvSpPr>
          <p:spPr>
            <a:xfrm>
              <a:off x="380999" y="4972049"/>
              <a:ext cx="38100" cy="895350"/>
            </a:xfrm>
            <a:custGeom>
              <a:avLst/>
              <a:gdLst/>
              <a:ahLst/>
              <a:cxnLst/>
              <a:rect l="l" t="t" r="r" b="b"/>
              <a:pathLst>
                <a:path w="38100" h="895350">
                  <a:moveTo>
                    <a:pt x="0" y="895349"/>
                  </a:moveTo>
                  <a:lnTo>
                    <a:pt x="0" y="0"/>
                  </a:lnTo>
                  <a:lnTo>
                    <a:pt x="38099" y="9524"/>
                  </a:lnTo>
                  <a:lnTo>
                    <a:pt x="38099" y="885824"/>
                  </a:lnTo>
                  <a:lnTo>
                    <a:pt x="0" y="895349"/>
                  </a:lnTo>
                  <a:close/>
                </a:path>
              </a:pathLst>
            </a:custGeom>
            <a:solidFill>
              <a:srgbClr val="005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7">
            <a:extLst>
              <a:ext uri="{FF2B5EF4-FFF2-40B4-BE49-F238E27FC236}">
                <a16:creationId xmlns:a16="http://schemas.microsoft.com/office/drawing/2014/main" id="{1A79B292-ADA7-4EE7-B8BB-40565237C0E0}"/>
              </a:ext>
            </a:extLst>
          </p:cNvPr>
          <p:cNvSpPr txBox="1"/>
          <p:nvPr/>
        </p:nvSpPr>
        <p:spPr>
          <a:xfrm>
            <a:off x="5965275" y="3012364"/>
            <a:ext cx="6766173" cy="76822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675"/>
              </a:spcBef>
            </a:pPr>
            <a:r>
              <a:rPr sz="1300" b="1" spc="-85" dirty="0">
                <a:solidFill>
                  <a:srgbClr val="0052CC"/>
                </a:solidFill>
                <a:latin typeface="Arial"/>
                <a:cs typeface="Arial"/>
              </a:rPr>
              <a:t>Key</a:t>
            </a:r>
            <a:r>
              <a:rPr sz="1300" b="1" spc="-10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0052CC"/>
                </a:solidFill>
                <a:latin typeface="Arial"/>
                <a:cs typeface="Arial"/>
              </a:rPr>
              <a:t>Insight:</a:t>
            </a:r>
            <a:endParaRPr sz="1300" b="1" dirty="0">
              <a:latin typeface="Arial"/>
              <a:cs typeface="Arial"/>
            </a:endParaRPr>
          </a:p>
          <a:p>
            <a:pPr marL="114300" marR="742950">
              <a:lnSpc>
                <a:spcPct val="104200"/>
              </a:lnSpc>
              <a:spcBef>
                <a:spcPts val="430"/>
              </a:spcBef>
            </a:pPr>
            <a:r>
              <a:rPr sz="1400" b="1" spc="-10" dirty="0">
                <a:solidFill>
                  <a:srgbClr val="003366"/>
                </a:solidFill>
                <a:latin typeface="Lato"/>
                <a:cs typeface="Lato"/>
              </a:rPr>
              <a:t>"System"</a:t>
            </a:r>
            <a:r>
              <a:rPr sz="1400" b="1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400" b="1" spc="-10" dirty="0">
                <a:solidFill>
                  <a:srgbClr val="003366"/>
                </a:solidFill>
                <a:latin typeface="Lato"/>
                <a:cs typeface="Lato"/>
              </a:rPr>
              <a:t>and</a:t>
            </a:r>
            <a:r>
              <a:rPr sz="1400" b="1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400" b="1" spc="-10" dirty="0">
                <a:solidFill>
                  <a:srgbClr val="003366"/>
                </a:solidFill>
                <a:latin typeface="Lato"/>
                <a:cs typeface="Lato"/>
              </a:rPr>
              <a:t>"Login</a:t>
            </a:r>
            <a:r>
              <a:rPr sz="1400" b="1" spc="-4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400" b="1" spc="-10" dirty="0">
                <a:solidFill>
                  <a:srgbClr val="003366"/>
                </a:solidFill>
                <a:latin typeface="Lato"/>
                <a:cs typeface="Lato"/>
              </a:rPr>
              <a:t>Access"</a:t>
            </a:r>
            <a:r>
              <a:rPr sz="1400" b="1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400" b="1" spc="-10" dirty="0">
                <a:solidFill>
                  <a:srgbClr val="003366"/>
                </a:solidFill>
                <a:latin typeface="Lato"/>
                <a:cs typeface="Lato"/>
              </a:rPr>
              <a:t>issues</a:t>
            </a:r>
            <a:r>
              <a:rPr sz="1400" b="1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400" b="1" spc="-20" dirty="0">
                <a:solidFill>
                  <a:srgbClr val="003366"/>
                </a:solidFill>
                <a:latin typeface="Lato"/>
                <a:cs typeface="Lato"/>
              </a:rPr>
              <a:t>make</a:t>
            </a:r>
            <a:r>
              <a:rPr sz="1400" b="1" spc="-4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400" b="1" spc="-20" dirty="0">
                <a:solidFill>
                  <a:srgbClr val="003366"/>
                </a:solidFill>
                <a:latin typeface="Lato"/>
                <a:cs typeface="Lato"/>
              </a:rPr>
              <a:t>up</a:t>
            </a:r>
            <a:r>
              <a:rPr sz="1400" b="1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400" b="1" dirty="0">
                <a:solidFill>
                  <a:srgbClr val="003366"/>
                </a:solidFill>
                <a:latin typeface="Lato"/>
                <a:cs typeface="Lato"/>
              </a:rPr>
              <a:t>nearly</a:t>
            </a:r>
            <a:r>
              <a:rPr sz="1400" b="1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400" b="1" spc="-20" dirty="0">
                <a:solidFill>
                  <a:srgbClr val="003366"/>
                </a:solidFill>
                <a:latin typeface="Lato"/>
                <a:cs typeface="Lato"/>
              </a:rPr>
              <a:t>70%</a:t>
            </a:r>
            <a:r>
              <a:rPr sz="1400" b="1" spc="-4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400" b="1" spc="-25" dirty="0">
                <a:solidFill>
                  <a:srgbClr val="003366"/>
                </a:solidFill>
                <a:latin typeface="Lato"/>
                <a:cs typeface="Lato"/>
              </a:rPr>
              <a:t>of</a:t>
            </a:r>
            <a:r>
              <a:rPr sz="1400" b="1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400" b="1" dirty="0">
                <a:solidFill>
                  <a:srgbClr val="003366"/>
                </a:solidFill>
                <a:latin typeface="Lato"/>
                <a:cs typeface="Lato"/>
              </a:rPr>
              <a:t>total</a:t>
            </a:r>
            <a:r>
              <a:rPr sz="1400" b="1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400" b="1" spc="-10" dirty="0">
                <a:solidFill>
                  <a:srgbClr val="003366"/>
                </a:solidFill>
                <a:latin typeface="Lato"/>
                <a:cs typeface="Lato"/>
              </a:rPr>
              <a:t>tickets, </a:t>
            </a:r>
            <a:r>
              <a:rPr sz="1400" b="1" dirty="0">
                <a:solidFill>
                  <a:srgbClr val="003366"/>
                </a:solidFill>
                <a:latin typeface="Lato"/>
                <a:cs typeface="Lato"/>
              </a:rPr>
              <a:t>indicating</a:t>
            </a:r>
            <a:r>
              <a:rPr sz="1400" b="1" spc="-6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400" b="1" dirty="0">
                <a:solidFill>
                  <a:srgbClr val="003366"/>
                </a:solidFill>
                <a:latin typeface="Lato"/>
                <a:cs typeface="Lato"/>
              </a:rPr>
              <a:t>areas</a:t>
            </a:r>
            <a:r>
              <a:rPr sz="1400" b="1" spc="-6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400" b="1" dirty="0">
                <a:solidFill>
                  <a:srgbClr val="003366"/>
                </a:solidFill>
                <a:latin typeface="Lato"/>
                <a:cs typeface="Lato"/>
              </a:rPr>
              <a:t>prime</a:t>
            </a:r>
            <a:r>
              <a:rPr sz="1400" b="1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400" b="1" dirty="0">
                <a:solidFill>
                  <a:srgbClr val="003366"/>
                </a:solidFill>
                <a:latin typeface="Lato"/>
                <a:cs typeface="Lato"/>
              </a:rPr>
              <a:t>for</a:t>
            </a:r>
            <a:r>
              <a:rPr sz="1400" b="1" spc="-6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400" b="1" dirty="0">
                <a:solidFill>
                  <a:srgbClr val="003366"/>
                </a:solidFill>
                <a:latin typeface="Lato"/>
                <a:cs typeface="Lato"/>
              </a:rPr>
              <a:t>automation</a:t>
            </a:r>
            <a:r>
              <a:rPr sz="1400" b="1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400" b="1" spc="-10" dirty="0">
                <a:solidFill>
                  <a:srgbClr val="003366"/>
                </a:solidFill>
                <a:latin typeface="Lato"/>
                <a:cs typeface="Lato"/>
              </a:rPr>
              <a:t>and</a:t>
            </a:r>
            <a:r>
              <a:rPr sz="1400" b="1" spc="-6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400" b="1" spc="-10" dirty="0">
                <a:solidFill>
                  <a:srgbClr val="003366"/>
                </a:solidFill>
                <a:latin typeface="Lato"/>
                <a:cs typeface="Lato"/>
              </a:rPr>
              <a:t>process</a:t>
            </a:r>
            <a:r>
              <a:rPr sz="1400" b="1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400" b="1" spc="-10" dirty="0">
                <a:solidFill>
                  <a:srgbClr val="003366"/>
                </a:solidFill>
                <a:latin typeface="Lato"/>
                <a:cs typeface="Lato"/>
              </a:rPr>
              <a:t>improvement.</a:t>
            </a:r>
            <a:endParaRPr sz="1400" b="1" dirty="0">
              <a:latin typeface="Lato"/>
              <a:cs typeface="Lato"/>
            </a:endParaRPr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E952662D-79F4-4A80-A384-DDEEEDFC9E8D}"/>
              </a:ext>
            </a:extLst>
          </p:cNvPr>
          <p:cNvSpPr/>
          <p:nvPr/>
        </p:nvSpPr>
        <p:spPr>
          <a:xfrm>
            <a:off x="9207189" y="0"/>
            <a:ext cx="2973070" cy="2496820"/>
          </a:xfrm>
          <a:custGeom>
            <a:avLst/>
            <a:gdLst/>
            <a:ahLst/>
            <a:cxnLst/>
            <a:rect l="l" t="t" r="r" b="b"/>
            <a:pathLst>
              <a:path w="2973070" h="2496820">
                <a:moveTo>
                  <a:pt x="2020557" y="2496807"/>
                </a:moveTo>
                <a:lnTo>
                  <a:pt x="0" y="476250"/>
                </a:lnTo>
                <a:lnTo>
                  <a:pt x="476250" y="0"/>
                </a:lnTo>
                <a:lnTo>
                  <a:pt x="2973057" y="0"/>
                </a:lnTo>
                <a:lnTo>
                  <a:pt x="2973057" y="1544307"/>
                </a:lnTo>
                <a:lnTo>
                  <a:pt x="2020557" y="2496807"/>
                </a:lnTo>
                <a:close/>
              </a:path>
            </a:pathLst>
          </a:custGeom>
          <a:solidFill>
            <a:srgbClr val="4A8FE2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39">
            <a:extLst>
              <a:ext uri="{FF2B5EF4-FFF2-40B4-BE49-F238E27FC236}">
                <a16:creationId xmlns:a16="http://schemas.microsoft.com/office/drawing/2014/main" id="{5F4ABACB-DB7B-4298-88E9-05665FC86B55}"/>
              </a:ext>
            </a:extLst>
          </p:cNvPr>
          <p:cNvSpPr/>
          <p:nvPr/>
        </p:nvSpPr>
        <p:spPr>
          <a:xfrm rot="10800000">
            <a:off x="0" y="4335015"/>
            <a:ext cx="2973070" cy="2496820"/>
          </a:xfrm>
          <a:custGeom>
            <a:avLst/>
            <a:gdLst/>
            <a:ahLst/>
            <a:cxnLst/>
            <a:rect l="l" t="t" r="r" b="b"/>
            <a:pathLst>
              <a:path w="2973070" h="2496820">
                <a:moveTo>
                  <a:pt x="2020557" y="2496807"/>
                </a:moveTo>
                <a:lnTo>
                  <a:pt x="0" y="476250"/>
                </a:lnTo>
                <a:lnTo>
                  <a:pt x="476250" y="0"/>
                </a:lnTo>
                <a:lnTo>
                  <a:pt x="2973057" y="0"/>
                </a:lnTo>
                <a:lnTo>
                  <a:pt x="2973057" y="1544307"/>
                </a:lnTo>
                <a:lnTo>
                  <a:pt x="2020557" y="2496807"/>
                </a:lnTo>
                <a:close/>
              </a:path>
            </a:pathLst>
          </a:custGeom>
          <a:solidFill>
            <a:srgbClr val="4A8FE2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035" y="0"/>
            <a:ext cx="659876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90" dirty="0"/>
              <a:t>RESOLUTION</a:t>
            </a:r>
            <a:r>
              <a:rPr spc="160" dirty="0"/>
              <a:t> </a:t>
            </a:r>
            <a:r>
              <a:rPr spc="295" dirty="0"/>
              <a:t>TIME</a:t>
            </a:r>
            <a:r>
              <a:rPr spc="165" dirty="0"/>
              <a:t> </a:t>
            </a:r>
            <a:r>
              <a:rPr spc="400" dirty="0"/>
              <a:t>VS</a:t>
            </a:r>
            <a:r>
              <a:rPr spc="160" dirty="0"/>
              <a:t> </a:t>
            </a:r>
            <a:r>
              <a:rPr spc="345" dirty="0"/>
              <a:t>SATISFACTION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5749" y="5230377"/>
            <a:ext cx="3657600" cy="1352550"/>
            <a:chOff x="380999" y="4743449"/>
            <a:chExt cx="3657600" cy="1352550"/>
          </a:xfrm>
        </p:grpSpPr>
        <p:sp>
          <p:nvSpPr>
            <p:cNvPr id="4" name="object 4"/>
            <p:cNvSpPr/>
            <p:nvPr/>
          </p:nvSpPr>
          <p:spPr>
            <a:xfrm>
              <a:off x="380987" y="4743449"/>
              <a:ext cx="3657600" cy="1352550"/>
            </a:xfrm>
            <a:custGeom>
              <a:avLst/>
              <a:gdLst/>
              <a:ahLst/>
              <a:cxnLst/>
              <a:rect l="l" t="t" r="r" b="b"/>
              <a:pathLst>
                <a:path w="3657600" h="1352550">
                  <a:moveTo>
                    <a:pt x="3657600" y="0"/>
                  </a:moveTo>
                  <a:lnTo>
                    <a:pt x="36480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3648075" y="9525"/>
                  </a:lnTo>
                  <a:lnTo>
                    <a:pt x="3648075" y="1343025"/>
                  </a:lnTo>
                  <a:lnTo>
                    <a:pt x="0" y="1343025"/>
                  </a:lnTo>
                  <a:lnTo>
                    <a:pt x="0" y="1352550"/>
                  </a:lnTo>
                  <a:lnTo>
                    <a:pt x="3648075" y="1352550"/>
                  </a:lnTo>
                  <a:lnTo>
                    <a:pt x="3657600" y="1352550"/>
                  </a:lnTo>
                  <a:lnTo>
                    <a:pt x="3657600" y="1343025"/>
                  </a:lnTo>
                  <a:lnTo>
                    <a:pt x="3657600" y="9525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E6F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0999" y="4743449"/>
              <a:ext cx="38100" cy="1352550"/>
            </a:xfrm>
            <a:custGeom>
              <a:avLst/>
              <a:gdLst/>
              <a:ahLst/>
              <a:cxnLst/>
              <a:rect l="l" t="t" r="r" b="b"/>
              <a:pathLst>
                <a:path w="38100" h="1352550">
                  <a:moveTo>
                    <a:pt x="0" y="1352549"/>
                  </a:moveTo>
                  <a:lnTo>
                    <a:pt x="0" y="0"/>
                  </a:lnTo>
                  <a:lnTo>
                    <a:pt x="38099" y="9524"/>
                  </a:lnTo>
                  <a:lnTo>
                    <a:pt x="38099" y="1343024"/>
                  </a:lnTo>
                  <a:lnTo>
                    <a:pt x="0" y="1352549"/>
                  </a:lnTo>
                  <a:close/>
                </a:path>
              </a:pathLst>
            </a:custGeom>
            <a:solidFill>
              <a:srgbClr val="005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83035" y="4920244"/>
            <a:ext cx="1632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305" dirty="0">
                <a:solidFill>
                  <a:srgbClr val="0052CC"/>
                </a:solidFill>
                <a:latin typeface="Calibri"/>
                <a:cs typeface="Calibri"/>
              </a:rPr>
              <a:t>KEY</a:t>
            </a:r>
            <a:r>
              <a:rPr sz="1800" b="1" spc="110" dirty="0">
                <a:solidFill>
                  <a:srgbClr val="0052CC"/>
                </a:solidFill>
                <a:latin typeface="Calibri"/>
                <a:cs typeface="Calibri"/>
              </a:rPr>
              <a:t> </a:t>
            </a:r>
            <a:r>
              <a:rPr sz="1800" b="1" spc="240" dirty="0">
                <a:solidFill>
                  <a:srgbClr val="0052CC"/>
                </a:solidFill>
                <a:latin typeface="Calibri"/>
                <a:cs typeface="Calibri"/>
              </a:rPr>
              <a:t>METRICS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3849" y="5241383"/>
            <a:ext cx="3609975" cy="1073371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630"/>
              </a:spcBef>
            </a:pPr>
            <a:r>
              <a:rPr sz="1300" spc="-65" dirty="0">
                <a:solidFill>
                  <a:srgbClr val="0052CC"/>
                </a:solidFill>
                <a:latin typeface="Arial"/>
                <a:cs typeface="Arial"/>
              </a:rPr>
              <a:t>Performance </a:t>
            </a:r>
            <a:r>
              <a:rPr sz="1300" spc="-10" dirty="0">
                <a:solidFill>
                  <a:srgbClr val="0052CC"/>
                </a:solidFill>
                <a:latin typeface="Arial"/>
                <a:cs typeface="Arial"/>
              </a:rPr>
              <a:t>Indicators:</a:t>
            </a:r>
            <a:endParaRPr sz="1300" dirty="0">
              <a:latin typeface="Arial"/>
              <a:cs typeface="Arial"/>
            </a:endParaRPr>
          </a:p>
          <a:p>
            <a:pPr marL="285750" indent="-171450">
              <a:lnSpc>
                <a:spcPct val="100000"/>
              </a:lnSpc>
              <a:spcBef>
                <a:spcPts val="540"/>
              </a:spcBef>
              <a:buFont typeface="Arial" panose="020B0604020202020204" pitchFamily="34" charset="0"/>
              <a:buChar char="•"/>
            </a:pPr>
            <a:r>
              <a:rPr sz="1200" spc="-25" dirty="0">
                <a:solidFill>
                  <a:srgbClr val="003366"/>
                </a:solidFill>
                <a:latin typeface="Lato"/>
                <a:cs typeface="Lato"/>
              </a:rPr>
              <a:t>Avg</a:t>
            </a:r>
            <a:r>
              <a:rPr sz="1200" spc="-6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Resolution</a:t>
            </a:r>
            <a:r>
              <a:rPr sz="1200" spc="-6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Time:</a:t>
            </a:r>
            <a:r>
              <a:rPr sz="12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300" spc="-65" dirty="0">
                <a:solidFill>
                  <a:srgbClr val="0052CC"/>
                </a:solidFill>
                <a:latin typeface="Arial"/>
                <a:cs typeface="Arial"/>
              </a:rPr>
              <a:t>4.6</a:t>
            </a:r>
            <a:r>
              <a:rPr sz="1300" spc="-114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0052CC"/>
                </a:solidFill>
                <a:latin typeface="Arial"/>
                <a:cs typeface="Arial"/>
              </a:rPr>
              <a:t>days</a:t>
            </a:r>
            <a:endParaRPr lang="en-IN" sz="1300" dirty="0">
              <a:latin typeface="Arial"/>
              <a:cs typeface="Arial"/>
            </a:endParaRPr>
          </a:p>
          <a:p>
            <a:pPr marL="285750" indent="-171450">
              <a:lnSpc>
                <a:spcPct val="100000"/>
              </a:lnSpc>
              <a:spcBef>
                <a:spcPts val="540"/>
              </a:spcBef>
              <a:buFont typeface="Arial" panose="020B0604020202020204" pitchFamily="34" charset="0"/>
              <a:buChar char="•"/>
            </a:pPr>
            <a:r>
              <a:rPr sz="1200" spc="-25" dirty="0">
                <a:solidFill>
                  <a:srgbClr val="003366"/>
                </a:solidFill>
                <a:latin typeface="Lato"/>
                <a:cs typeface="Lato"/>
              </a:rPr>
              <a:t>Avg</a:t>
            </a:r>
            <a:r>
              <a:rPr sz="1200" spc="-4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Satisfaction</a:t>
            </a:r>
            <a:r>
              <a:rPr sz="1200" spc="-4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Rate:</a:t>
            </a:r>
            <a:r>
              <a:rPr sz="1200" spc="-3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300" spc="-65" dirty="0">
                <a:solidFill>
                  <a:srgbClr val="0052CC"/>
                </a:solidFill>
                <a:latin typeface="Arial"/>
                <a:cs typeface="Arial"/>
              </a:rPr>
              <a:t>4.1</a:t>
            </a:r>
            <a:r>
              <a:rPr sz="1300" spc="-9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75" dirty="0">
                <a:solidFill>
                  <a:srgbClr val="0052CC"/>
                </a:solidFill>
                <a:latin typeface="Arial"/>
                <a:cs typeface="Arial"/>
              </a:rPr>
              <a:t>/</a:t>
            </a:r>
            <a:r>
              <a:rPr sz="1300" spc="-9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0052CC"/>
                </a:solidFill>
                <a:latin typeface="Arial"/>
                <a:cs typeface="Arial"/>
              </a:rPr>
              <a:t>5</a:t>
            </a:r>
            <a:endParaRPr lang="en-IN" sz="1300" spc="-50" dirty="0">
              <a:latin typeface="Arial"/>
              <a:cs typeface="Arial"/>
            </a:endParaRPr>
          </a:p>
          <a:p>
            <a:pPr marL="285750" indent="-171450">
              <a:lnSpc>
                <a:spcPct val="100000"/>
              </a:lnSpc>
              <a:spcBef>
                <a:spcPts val="540"/>
              </a:spcBef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Correlation:</a:t>
            </a:r>
            <a:r>
              <a:rPr sz="1200" spc="-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300" spc="-25" dirty="0">
                <a:solidFill>
                  <a:srgbClr val="0052CC"/>
                </a:solidFill>
                <a:latin typeface="Arial"/>
                <a:cs typeface="Arial"/>
              </a:rPr>
              <a:t>-</a:t>
            </a:r>
            <a:r>
              <a:rPr sz="1300" spc="-55" dirty="0">
                <a:solidFill>
                  <a:srgbClr val="0052CC"/>
                </a:solidFill>
                <a:latin typeface="Arial"/>
                <a:cs typeface="Arial"/>
              </a:rPr>
              <a:t>0.041</a:t>
            </a:r>
            <a:r>
              <a:rPr sz="1300" spc="-6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(Weak</a:t>
            </a:r>
            <a:r>
              <a:rPr sz="1200" spc="-1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Negative)</a:t>
            </a:r>
            <a:endParaRPr sz="1200" dirty="0">
              <a:latin typeface="Lato"/>
              <a:cs typeface="La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191000" y="4467489"/>
            <a:ext cx="3657600" cy="1504950"/>
            <a:chOff x="4267199" y="4743449"/>
            <a:chExt cx="3657600" cy="1504950"/>
          </a:xfrm>
        </p:grpSpPr>
        <p:sp>
          <p:nvSpPr>
            <p:cNvPr id="9" name="object 9"/>
            <p:cNvSpPr/>
            <p:nvPr/>
          </p:nvSpPr>
          <p:spPr>
            <a:xfrm>
              <a:off x="4267187" y="4743449"/>
              <a:ext cx="3657600" cy="1504950"/>
            </a:xfrm>
            <a:custGeom>
              <a:avLst/>
              <a:gdLst/>
              <a:ahLst/>
              <a:cxnLst/>
              <a:rect l="l" t="t" r="r" b="b"/>
              <a:pathLst>
                <a:path w="3657600" h="1504950">
                  <a:moveTo>
                    <a:pt x="3657600" y="0"/>
                  </a:moveTo>
                  <a:lnTo>
                    <a:pt x="36480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3648075" y="9525"/>
                  </a:lnTo>
                  <a:lnTo>
                    <a:pt x="3648075" y="1495425"/>
                  </a:lnTo>
                  <a:lnTo>
                    <a:pt x="0" y="1495425"/>
                  </a:lnTo>
                  <a:lnTo>
                    <a:pt x="0" y="1504950"/>
                  </a:lnTo>
                  <a:lnTo>
                    <a:pt x="3648075" y="1504950"/>
                  </a:lnTo>
                  <a:lnTo>
                    <a:pt x="3657600" y="1504950"/>
                  </a:lnTo>
                  <a:lnTo>
                    <a:pt x="3657600" y="1495425"/>
                  </a:lnTo>
                  <a:lnTo>
                    <a:pt x="3657600" y="9525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E6F1FF"/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4267199" y="4743449"/>
              <a:ext cx="38100" cy="1504950"/>
            </a:xfrm>
            <a:custGeom>
              <a:avLst/>
              <a:gdLst/>
              <a:ahLst/>
              <a:cxnLst/>
              <a:rect l="l" t="t" r="r" b="b"/>
              <a:pathLst>
                <a:path w="38100" h="1504950">
                  <a:moveTo>
                    <a:pt x="0" y="1504949"/>
                  </a:moveTo>
                  <a:lnTo>
                    <a:pt x="0" y="0"/>
                  </a:lnTo>
                  <a:lnTo>
                    <a:pt x="38099" y="9524"/>
                  </a:lnTo>
                  <a:lnTo>
                    <a:pt x="38099" y="1495424"/>
                  </a:lnTo>
                  <a:lnTo>
                    <a:pt x="0" y="1504949"/>
                  </a:lnTo>
                  <a:close/>
                </a:path>
              </a:pathLst>
            </a:custGeom>
            <a:solidFill>
              <a:srgbClr val="0052CC"/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185643" y="4172125"/>
            <a:ext cx="154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305" dirty="0">
                <a:solidFill>
                  <a:srgbClr val="0052CC"/>
                </a:solidFill>
                <a:latin typeface="Calibri"/>
                <a:cs typeface="Calibri"/>
              </a:rPr>
              <a:t>KEY</a:t>
            </a:r>
            <a:r>
              <a:rPr sz="1800" b="1" spc="110" dirty="0">
                <a:solidFill>
                  <a:srgbClr val="0052CC"/>
                </a:solidFill>
                <a:latin typeface="Calibri"/>
                <a:cs typeface="Calibri"/>
              </a:rPr>
              <a:t> </a:t>
            </a:r>
            <a:r>
              <a:rPr sz="1800" b="1" spc="210" dirty="0">
                <a:solidFill>
                  <a:srgbClr val="0052CC"/>
                </a:solidFill>
                <a:latin typeface="Calibri"/>
                <a:cs typeface="Calibri"/>
              </a:rPr>
              <a:t>INSIGHT</a:t>
            </a:r>
            <a:endParaRPr sz="1800" b="1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77322" y="4491271"/>
            <a:ext cx="3609975" cy="134429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840"/>
              </a:spcBef>
            </a:pPr>
            <a:r>
              <a:rPr sz="1300" b="1" spc="-10" dirty="0">
                <a:solidFill>
                  <a:srgbClr val="0052CC"/>
                </a:solidFill>
                <a:latin typeface="Arial"/>
                <a:cs typeface="Arial"/>
              </a:rPr>
              <a:t>Analysis:</a:t>
            </a:r>
            <a:endParaRPr sz="1300" b="1" dirty="0">
              <a:latin typeface="Arial"/>
              <a:cs typeface="Arial"/>
            </a:endParaRPr>
          </a:p>
          <a:p>
            <a:pPr marL="285750" marR="746125" indent="-171450">
              <a:lnSpc>
                <a:spcPct val="125000"/>
              </a:lnSpc>
              <a:spcBef>
                <a:spcPts val="280"/>
              </a:spcBef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003366"/>
                </a:solidFill>
                <a:latin typeface="Lato"/>
                <a:cs typeface="Lato"/>
              </a:rPr>
              <a:t>Slight</a:t>
            </a:r>
            <a:r>
              <a:rPr sz="1200" b="1" spc="-6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b="1" dirty="0">
                <a:solidFill>
                  <a:srgbClr val="003366"/>
                </a:solidFill>
                <a:latin typeface="Lato"/>
                <a:cs typeface="Lato"/>
              </a:rPr>
              <a:t>trend:</a:t>
            </a:r>
            <a:r>
              <a:rPr sz="1200" b="1" spc="-6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b="1" spc="-10" dirty="0">
                <a:solidFill>
                  <a:srgbClr val="003366"/>
                </a:solidFill>
                <a:latin typeface="Lato"/>
                <a:cs typeface="Lato"/>
              </a:rPr>
              <a:t>As</a:t>
            </a:r>
            <a:r>
              <a:rPr sz="1200" b="1" spc="-6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b="1" dirty="0">
                <a:solidFill>
                  <a:srgbClr val="003366"/>
                </a:solidFill>
                <a:latin typeface="Lato"/>
                <a:cs typeface="Lato"/>
              </a:rPr>
              <a:t>resolution</a:t>
            </a:r>
            <a:r>
              <a:rPr sz="1200" b="1" spc="-6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b="1" dirty="0">
                <a:solidFill>
                  <a:srgbClr val="003366"/>
                </a:solidFill>
                <a:latin typeface="Lato"/>
                <a:cs typeface="Lato"/>
              </a:rPr>
              <a:t>time</a:t>
            </a:r>
            <a:r>
              <a:rPr sz="1200" b="1" spc="-6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b="1" spc="-10" dirty="0">
                <a:solidFill>
                  <a:srgbClr val="003366"/>
                </a:solidFill>
                <a:latin typeface="Lato"/>
                <a:cs typeface="Lato"/>
              </a:rPr>
              <a:t>increases, </a:t>
            </a:r>
            <a:r>
              <a:rPr sz="1200" b="1" dirty="0">
                <a:solidFill>
                  <a:srgbClr val="003366"/>
                </a:solidFill>
                <a:latin typeface="Lato"/>
                <a:cs typeface="Lato"/>
              </a:rPr>
              <a:t>satisfaction</a:t>
            </a:r>
            <a:r>
              <a:rPr sz="1200" b="1" spc="-6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b="1" spc="-10" dirty="0">
                <a:solidFill>
                  <a:srgbClr val="003366"/>
                </a:solidFill>
                <a:latin typeface="Lato"/>
                <a:cs typeface="Lato"/>
              </a:rPr>
              <a:t>tends</a:t>
            </a:r>
            <a:r>
              <a:rPr sz="1200" b="1" spc="-6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b="1" dirty="0">
                <a:solidFill>
                  <a:srgbClr val="003366"/>
                </a:solidFill>
                <a:latin typeface="Lato"/>
                <a:cs typeface="Lato"/>
              </a:rPr>
              <a:t>to</a:t>
            </a:r>
            <a:r>
              <a:rPr sz="1200" b="1" spc="-6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b="1" spc="-20" dirty="0">
                <a:solidFill>
                  <a:srgbClr val="003366"/>
                </a:solidFill>
                <a:latin typeface="Lato"/>
                <a:cs typeface="Lato"/>
              </a:rPr>
              <a:t>drop</a:t>
            </a:r>
            <a:endParaRPr sz="1200" b="1" dirty="0">
              <a:latin typeface="Lato"/>
              <a:cs typeface="Lato"/>
            </a:endParaRPr>
          </a:p>
          <a:p>
            <a:pPr marL="285750" marR="451484" indent="-171450">
              <a:lnSpc>
                <a:spcPct val="121800"/>
              </a:lnSpc>
              <a:spcBef>
                <a:spcPts val="520"/>
              </a:spcBef>
              <a:buFont typeface="Arial" panose="020B0604020202020204" pitchFamily="34" charset="0"/>
              <a:buChar char="•"/>
            </a:pPr>
            <a:r>
              <a:rPr sz="1200" b="1" spc="-30" dirty="0">
                <a:solidFill>
                  <a:srgbClr val="003366"/>
                </a:solidFill>
                <a:latin typeface="Lato"/>
                <a:cs typeface="Lato"/>
              </a:rPr>
              <a:t>However,</a:t>
            </a:r>
            <a:r>
              <a:rPr sz="1200" b="1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b="1" dirty="0">
                <a:solidFill>
                  <a:srgbClr val="003366"/>
                </a:solidFill>
                <a:latin typeface="Lato"/>
                <a:cs typeface="Lato"/>
              </a:rPr>
              <a:t>it's</a:t>
            </a:r>
            <a:r>
              <a:rPr sz="1200" b="1" spc="-4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300" b="1" spc="-20" dirty="0">
                <a:solidFill>
                  <a:srgbClr val="0052CC"/>
                </a:solidFill>
                <a:latin typeface="Arial"/>
                <a:cs typeface="Arial"/>
              </a:rPr>
              <a:t>not</a:t>
            </a:r>
            <a:r>
              <a:rPr sz="1300" b="1" spc="-9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b="1" spc="-45" dirty="0">
                <a:solidFill>
                  <a:srgbClr val="0052CC"/>
                </a:solidFill>
                <a:latin typeface="Arial"/>
                <a:cs typeface="Arial"/>
              </a:rPr>
              <a:t>strong</a:t>
            </a:r>
            <a:r>
              <a:rPr sz="1300" b="1" spc="-10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b="1" spc="-80" dirty="0">
                <a:solidFill>
                  <a:srgbClr val="0052CC"/>
                </a:solidFill>
                <a:latin typeface="Arial"/>
                <a:cs typeface="Arial"/>
              </a:rPr>
              <a:t>enough</a:t>
            </a:r>
            <a:r>
              <a:rPr sz="1300" b="1" spc="-9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3366"/>
                </a:solidFill>
                <a:latin typeface="Lato"/>
                <a:cs typeface="Lato"/>
              </a:rPr>
              <a:t>to</a:t>
            </a:r>
            <a:r>
              <a:rPr sz="1200" b="1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b="1" spc="-10" dirty="0">
                <a:solidFill>
                  <a:srgbClr val="003366"/>
                </a:solidFill>
                <a:latin typeface="Lato"/>
                <a:cs typeface="Lato"/>
              </a:rPr>
              <a:t>be</a:t>
            </a:r>
            <a:r>
              <a:rPr sz="1200" b="1" spc="-4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b="1" spc="-10" dirty="0">
                <a:solidFill>
                  <a:srgbClr val="003366"/>
                </a:solidFill>
                <a:latin typeface="Lato"/>
                <a:cs typeface="Lato"/>
              </a:rPr>
              <a:t>the</a:t>
            </a:r>
            <a:r>
              <a:rPr sz="1200" b="1" spc="-4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b="1" spc="-20" dirty="0">
                <a:solidFill>
                  <a:srgbClr val="003366"/>
                </a:solidFill>
                <a:latin typeface="Lato"/>
                <a:cs typeface="Lato"/>
              </a:rPr>
              <a:t>only </a:t>
            </a:r>
            <a:r>
              <a:rPr sz="1200" b="1" spc="-10" dirty="0">
                <a:solidFill>
                  <a:srgbClr val="003366"/>
                </a:solidFill>
                <a:latin typeface="Lato"/>
                <a:cs typeface="Lato"/>
              </a:rPr>
              <a:t>factor</a:t>
            </a:r>
            <a:endParaRPr sz="1200" b="1" dirty="0">
              <a:latin typeface="Lato"/>
              <a:cs typeface="La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153387" y="3749209"/>
            <a:ext cx="3657600" cy="1047750"/>
            <a:chOff x="8153399" y="4743449"/>
            <a:chExt cx="3657600" cy="1047750"/>
          </a:xfrm>
        </p:grpSpPr>
        <p:sp>
          <p:nvSpPr>
            <p:cNvPr id="14" name="object 14"/>
            <p:cNvSpPr/>
            <p:nvPr/>
          </p:nvSpPr>
          <p:spPr>
            <a:xfrm>
              <a:off x="8153387" y="4743449"/>
              <a:ext cx="3657600" cy="1047750"/>
            </a:xfrm>
            <a:custGeom>
              <a:avLst/>
              <a:gdLst/>
              <a:ahLst/>
              <a:cxnLst/>
              <a:rect l="l" t="t" r="r" b="b"/>
              <a:pathLst>
                <a:path w="3657600" h="1047750">
                  <a:moveTo>
                    <a:pt x="3657600" y="0"/>
                  </a:moveTo>
                  <a:lnTo>
                    <a:pt x="36480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3648075" y="9525"/>
                  </a:lnTo>
                  <a:lnTo>
                    <a:pt x="3648075" y="1038225"/>
                  </a:lnTo>
                  <a:lnTo>
                    <a:pt x="0" y="1038225"/>
                  </a:lnTo>
                  <a:lnTo>
                    <a:pt x="0" y="1047750"/>
                  </a:lnTo>
                  <a:lnTo>
                    <a:pt x="3648075" y="1047750"/>
                  </a:lnTo>
                  <a:lnTo>
                    <a:pt x="3657600" y="1047750"/>
                  </a:lnTo>
                  <a:lnTo>
                    <a:pt x="3657600" y="1038225"/>
                  </a:lnTo>
                  <a:lnTo>
                    <a:pt x="3657600" y="9525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E6F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153399" y="4743449"/>
              <a:ext cx="38100" cy="1047750"/>
            </a:xfrm>
            <a:custGeom>
              <a:avLst/>
              <a:gdLst/>
              <a:ahLst/>
              <a:cxnLst/>
              <a:rect l="l" t="t" r="r" b="b"/>
              <a:pathLst>
                <a:path w="38100" h="1047750">
                  <a:moveTo>
                    <a:pt x="0" y="1047749"/>
                  </a:moveTo>
                  <a:lnTo>
                    <a:pt x="0" y="0"/>
                  </a:lnTo>
                  <a:lnTo>
                    <a:pt x="38099" y="9524"/>
                  </a:lnTo>
                  <a:lnTo>
                    <a:pt x="38099" y="1038224"/>
                  </a:lnTo>
                  <a:lnTo>
                    <a:pt x="0" y="1047749"/>
                  </a:lnTo>
                  <a:close/>
                </a:path>
              </a:pathLst>
            </a:custGeom>
            <a:solidFill>
              <a:srgbClr val="005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116073" y="3449653"/>
            <a:ext cx="1753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45" dirty="0">
                <a:solidFill>
                  <a:srgbClr val="0052CC"/>
                </a:solidFill>
                <a:latin typeface="Calibri"/>
                <a:cs typeface="Calibri"/>
              </a:rPr>
              <a:t>ACTION</a:t>
            </a:r>
            <a:r>
              <a:rPr sz="1800" b="1" spc="114" dirty="0">
                <a:solidFill>
                  <a:srgbClr val="0052CC"/>
                </a:solidFill>
                <a:latin typeface="Calibri"/>
                <a:cs typeface="Calibri"/>
              </a:rPr>
              <a:t> </a:t>
            </a:r>
            <a:r>
              <a:rPr sz="1800" b="1" spc="210" dirty="0">
                <a:solidFill>
                  <a:srgbClr val="0052CC"/>
                </a:solidFill>
                <a:latin typeface="Calibri"/>
                <a:cs typeface="Calibri"/>
              </a:rPr>
              <a:t>ITEMS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91499" y="3740166"/>
            <a:ext cx="3609975" cy="1066959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840"/>
              </a:spcBef>
            </a:pPr>
            <a:r>
              <a:rPr sz="1300" spc="-10" dirty="0">
                <a:solidFill>
                  <a:srgbClr val="0052CC"/>
                </a:solidFill>
                <a:latin typeface="Arial"/>
                <a:cs typeface="Arial"/>
              </a:rPr>
              <a:t>Recommendations:</a:t>
            </a:r>
            <a:endParaRPr sz="1300" dirty="0">
              <a:latin typeface="Arial"/>
              <a:cs typeface="Arial"/>
            </a:endParaRPr>
          </a:p>
          <a:p>
            <a:pPr marL="285750" indent="-171450">
              <a:lnSpc>
                <a:spcPct val="100000"/>
              </a:lnSpc>
              <a:spcBef>
                <a:spcPts val="640"/>
              </a:spcBef>
              <a:buFont typeface="Arial" panose="020B0604020202020204" pitchFamily="34" charset="0"/>
              <a:buChar char="•"/>
            </a:pP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Combine</a:t>
            </a:r>
            <a:r>
              <a:rPr sz="1200" spc="-4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technical</a:t>
            </a:r>
            <a:r>
              <a:rPr sz="1200" spc="-4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training</a:t>
            </a:r>
            <a:r>
              <a:rPr sz="1200" spc="-4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with</a:t>
            </a:r>
            <a:r>
              <a:rPr sz="1200" spc="-4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soft</a:t>
            </a:r>
            <a:r>
              <a:rPr sz="1200" spc="-3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skills</a:t>
            </a:r>
            <a:r>
              <a:rPr sz="1200" spc="-4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coaching</a:t>
            </a:r>
            <a:endParaRPr sz="1200" dirty="0">
              <a:latin typeface="Lato"/>
              <a:cs typeface="Lato"/>
            </a:endParaRPr>
          </a:p>
          <a:p>
            <a:pPr marL="285750" indent="-171450">
              <a:lnSpc>
                <a:spcPct val="100000"/>
              </a:lnSpc>
              <a:spcBef>
                <a:spcPts val="960"/>
              </a:spcBef>
              <a:buFont typeface="Arial" panose="020B0604020202020204" pitchFamily="34" charset="0"/>
              <a:buChar char="•"/>
            </a:pPr>
            <a:r>
              <a:rPr sz="1200" spc="-20" dirty="0">
                <a:solidFill>
                  <a:srgbClr val="003366"/>
                </a:solidFill>
                <a:latin typeface="Lato"/>
                <a:cs typeface="Lato"/>
              </a:rPr>
              <a:t>Use</a:t>
            </a:r>
            <a:r>
              <a:rPr sz="1200" spc="-6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satisfaction</a:t>
            </a:r>
            <a:r>
              <a:rPr sz="1200" spc="-6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feedback</a:t>
            </a:r>
            <a:r>
              <a:rPr sz="1200" spc="-6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for</a:t>
            </a:r>
            <a:r>
              <a:rPr sz="1200" spc="-6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root-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cause</a:t>
            </a:r>
            <a:r>
              <a:rPr sz="1200" spc="-6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analysis</a:t>
            </a:r>
            <a:endParaRPr sz="1200" dirty="0">
              <a:latin typeface="Lato"/>
              <a:cs typeface="Lato"/>
            </a:endParaRPr>
          </a:p>
        </p:txBody>
      </p:sp>
      <p:graphicFrame>
        <p:nvGraphicFramePr>
          <p:cNvPr id="44" name="Chart 43">
            <a:extLst>
              <a:ext uri="{FF2B5EF4-FFF2-40B4-BE49-F238E27FC236}">
                <a16:creationId xmlns:a16="http://schemas.microsoft.com/office/drawing/2014/main" id="{B0CB4341-9A37-480C-AA12-05BCD5B5D7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792703"/>
              </p:ext>
            </p:extLst>
          </p:nvPr>
        </p:nvGraphicFramePr>
        <p:xfrm>
          <a:off x="195749" y="541565"/>
          <a:ext cx="11829573" cy="27075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" name="object 39">
            <a:extLst>
              <a:ext uri="{FF2B5EF4-FFF2-40B4-BE49-F238E27FC236}">
                <a16:creationId xmlns:a16="http://schemas.microsoft.com/office/drawing/2014/main" id="{77BD8A66-0782-4FC4-8858-D110F1C0A6D2}"/>
              </a:ext>
            </a:extLst>
          </p:cNvPr>
          <p:cNvSpPr/>
          <p:nvPr/>
        </p:nvSpPr>
        <p:spPr>
          <a:xfrm>
            <a:off x="9207189" y="0"/>
            <a:ext cx="2973070" cy="2496820"/>
          </a:xfrm>
          <a:custGeom>
            <a:avLst/>
            <a:gdLst/>
            <a:ahLst/>
            <a:cxnLst/>
            <a:rect l="l" t="t" r="r" b="b"/>
            <a:pathLst>
              <a:path w="2973070" h="2496820">
                <a:moveTo>
                  <a:pt x="2020557" y="2496807"/>
                </a:moveTo>
                <a:lnTo>
                  <a:pt x="0" y="476250"/>
                </a:lnTo>
                <a:lnTo>
                  <a:pt x="476250" y="0"/>
                </a:lnTo>
                <a:lnTo>
                  <a:pt x="2973057" y="0"/>
                </a:lnTo>
                <a:lnTo>
                  <a:pt x="2973057" y="1544307"/>
                </a:lnTo>
                <a:lnTo>
                  <a:pt x="2020557" y="2496807"/>
                </a:lnTo>
                <a:close/>
              </a:path>
            </a:pathLst>
          </a:custGeom>
          <a:solidFill>
            <a:srgbClr val="4A8FE2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39">
            <a:extLst>
              <a:ext uri="{FF2B5EF4-FFF2-40B4-BE49-F238E27FC236}">
                <a16:creationId xmlns:a16="http://schemas.microsoft.com/office/drawing/2014/main" id="{79C72D4F-1F34-460F-954F-26BB379B2032}"/>
              </a:ext>
            </a:extLst>
          </p:cNvPr>
          <p:cNvSpPr/>
          <p:nvPr/>
        </p:nvSpPr>
        <p:spPr>
          <a:xfrm rot="10800000">
            <a:off x="0" y="4335015"/>
            <a:ext cx="2973070" cy="2496820"/>
          </a:xfrm>
          <a:custGeom>
            <a:avLst/>
            <a:gdLst/>
            <a:ahLst/>
            <a:cxnLst/>
            <a:rect l="l" t="t" r="r" b="b"/>
            <a:pathLst>
              <a:path w="2973070" h="2496820">
                <a:moveTo>
                  <a:pt x="2020557" y="2496807"/>
                </a:moveTo>
                <a:lnTo>
                  <a:pt x="0" y="476250"/>
                </a:lnTo>
                <a:lnTo>
                  <a:pt x="476250" y="0"/>
                </a:lnTo>
                <a:lnTo>
                  <a:pt x="2973057" y="0"/>
                </a:lnTo>
                <a:lnTo>
                  <a:pt x="2973057" y="1544307"/>
                </a:lnTo>
                <a:lnTo>
                  <a:pt x="2020557" y="2496807"/>
                </a:lnTo>
                <a:close/>
              </a:path>
            </a:pathLst>
          </a:custGeom>
          <a:solidFill>
            <a:srgbClr val="4A8FE2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object 15"/>
          <p:cNvGrpSpPr/>
          <p:nvPr/>
        </p:nvGrpSpPr>
        <p:grpSpPr>
          <a:xfrm>
            <a:off x="8153400" y="4018407"/>
            <a:ext cx="2287244" cy="1066800"/>
            <a:chOff x="8153387" y="4743449"/>
            <a:chExt cx="3657600" cy="2228862"/>
          </a:xfrm>
        </p:grpSpPr>
        <p:sp>
          <p:nvSpPr>
            <p:cNvPr id="16" name="object 16"/>
            <p:cNvSpPr/>
            <p:nvPr/>
          </p:nvSpPr>
          <p:spPr>
            <a:xfrm>
              <a:off x="8153387" y="4743461"/>
              <a:ext cx="3657600" cy="2228850"/>
            </a:xfrm>
            <a:custGeom>
              <a:avLst/>
              <a:gdLst/>
              <a:ahLst/>
              <a:cxnLst/>
              <a:rect l="l" t="t" r="r" b="b"/>
              <a:pathLst>
                <a:path w="3657600" h="2228850">
                  <a:moveTo>
                    <a:pt x="3657600" y="0"/>
                  </a:moveTo>
                  <a:lnTo>
                    <a:pt x="36480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3648075" y="9525"/>
                  </a:lnTo>
                  <a:lnTo>
                    <a:pt x="3648075" y="2219312"/>
                  </a:lnTo>
                  <a:lnTo>
                    <a:pt x="0" y="2219312"/>
                  </a:lnTo>
                  <a:lnTo>
                    <a:pt x="0" y="2228837"/>
                  </a:lnTo>
                  <a:lnTo>
                    <a:pt x="3648075" y="2228837"/>
                  </a:lnTo>
                  <a:lnTo>
                    <a:pt x="3657600" y="2228837"/>
                  </a:lnTo>
                  <a:lnTo>
                    <a:pt x="3657600" y="2219312"/>
                  </a:lnTo>
                  <a:lnTo>
                    <a:pt x="3657600" y="9525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E6F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153399" y="4743449"/>
              <a:ext cx="38100" cy="2228850"/>
            </a:xfrm>
            <a:custGeom>
              <a:avLst/>
              <a:gdLst/>
              <a:ahLst/>
              <a:cxnLst/>
              <a:rect l="l" t="t" r="r" b="b"/>
              <a:pathLst>
                <a:path w="38100" h="2228850">
                  <a:moveTo>
                    <a:pt x="0" y="2228849"/>
                  </a:moveTo>
                  <a:lnTo>
                    <a:pt x="0" y="0"/>
                  </a:lnTo>
                  <a:lnTo>
                    <a:pt x="38099" y="9524"/>
                  </a:lnTo>
                  <a:lnTo>
                    <a:pt x="38099" y="2219324"/>
                  </a:lnTo>
                  <a:lnTo>
                    <a:pt x="0" y="2228849"/>
                  </a:lnTo>
                  <a:close/>
                </a:path>
              </a:pathLst>
            </a:custGeom>
            <a:solidFill>
              <a:srgbClr val="0052C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42313" y="5018913"/>
            <a:ext cx="4052388" cy="1629357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840"/>
              </a:spcBef>
            </a:pPr>
            <a:r>
              <a:rPr sz="1300" spc="-55" dirty="0">
                <a:solidFill>
                  <a:srgbClr val="0052CC"/>
                </a:solidFill>
                <a:latin typeface="Arial"/>
                <a:cs typeface="Arial"/>
              </a:rPr>
              <a:t>Agent</a:t>
            </a:r>
            <a:r>
              <a:rPr sz="1300" spc="-7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0052CC"/>
                </a:solidFill>
                <a:latin typeface="Arial"/>
                <a:cs typeface="Arial"/>
              </a:rPr>
              <a:t>Performance</a:t>
            </a:r>
            <a:r>
              <a:rPr sz="1300" spc="-7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0052CC"/>
                </a:solidFill>
                <a:latin typeface="Arial"/>
                <a:cs typeface="Arial"/>
              </a:rPr>
              <a:t>Metrics:</a:t>
            </a:r>
            <a:endParaRPr sz="1300" dirty="0">
              <a:latin typeface="Arial"/>
              <a:cs typeface="Arial"/>
            </a:endParaRPr>
          </a:p>
          <a:p>
            <a:pPr marL="114300" marR="400685">
              <a:lnSpc>
                <a:spcPct val="125000"/>
              </a:lnSpc>
              <a:spcBef>
                <a:spcPts val="280"/>
              </a:spcBef>
            </a:pP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Agents</a:t>
            </a:r>
            <a:r>
              <a:rPr sz="1200" spc="-6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with</a:t>
            </a:r>
            <a:r>
              <a:rPr sz="12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highest</a:t>
            </a:r>
            <a:r>
              <a:rPr sz="12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resolution</a:t>
            </a:r>
            <a:r>
              <a:rPr sz="12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time</a:t>
            </a:r>
            <a:r>
              <a:rPr sz="12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often</a:t>
            </a:r>
            <a:r>
              <a:rPr sz="12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20" dirty="0">
                <a:solidFill>
                  <a:srgbClr val="003366"/>
                </a:solidFill>
                <a:latin typeface="Lato"/>
                <a:cs typeface="Lato"/>
              </a:rPr>
              <a:t>have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lowest</a:t>
            </a:r>
            <a:r>
              <a:rPr sz="1200" spc="-3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satisfaction</a:t>
            </a:r>
            <a:endParaRPr sz="1200" dirty="0">
              <a:latin typeface="Lato"/>
              <a:cs typeface="Lato"/>
            </a:endParaRPr>
          </a:p>
          <a:p>
            <a:pPr marL="438150" marR="539750" indent="-17145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Agent</a:t>
            </a:r>
            <a:r>
              <a:rPr sz="1200" spc="-6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19:</a:t>
            </a:r>
            <a:r>
              <a:rPr sz="1200" spc="-6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Res</a:t>
            </a:r>
            <a:r>
              <a:rPr sz="1200" spc="-6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Time:</a:t>
            </a:r>
            <a:r>
              <a:rPr sz="1200" spc="-6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25" dirty="0">
                <a:solidFill>
                  <a:srgbClr val="003366"/>
                </a:solidFill>
                <a:latin typeface="Lato"/>
                <a:cs typeface="Lato"/>
              </a:rPr>
              <a:t>5.6</a:t>
            </a:r>
            <a:r>
              <a:rPr sz="1200" spc="-6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days,</a:t>
            </a:r>
            <a:r>
              <a:rPr sz="1200" spc="-6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Sat:</a:t>
            </a:r>
            <a:r>
              <a:rPr sz="1200" spc="-6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20" dirty="0">
                <a:solidFill>
                  <a:srgbClr val="003366"/>
                </a:solidFill>
                <a:latin typeface="Lato"/>
                <a:cs typeface="Lato"/>
              </a:rPr>
              <a:t>3.04</a:t>
            </a:r>
            <a:endParaRPr lang="en-IN" sz="1200" spc="-20" dirty="0">
              <a:solidFill>
                <a:srgbClr val="003366"/>
              </a:solidFill>
              <a:latin typeface="Lato"/>
              <a:cs typeface="Lato"/>
            </a:endParaRPr>
          </a:p>
          <a:p>
            <a:pPr marL="438150" marR="539750" indent="-17145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Agent</a:t>
            </a:r>
            <a:r>
              <a:rPr sz="1200" spc="-6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22</a:t>
            </a:r>
            <a:r>
              <a:rPr sz="1200" spc="-6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&amp;</a:t>
            </a:r>
            <a:r>
              <a:rPr sz="1200" spc="-6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28:</a:t>
            </a:r>
            <a:r>
              <a:rPr sz="1200" spc="-6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Also</a:t>
            </a:r>
            <a:r>
              <a:rPr sz="1200" spc="-6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below</a:t>
            </a:r>
            <a:r>
              <a:rPr sz="1200" spc="-6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average</a:t>
            </a:r>
            <a:r>
              <a:rPr sz="1200" spc="-6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in</a:t>
            </a:r>
            <a:r>
              <a:rPr sz="1200" spc="-6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20" dirty="0">
                <a:solidFill>
                  <a:srgbClr val="003366"/>
                </a:solidFill>
                <a:latin typeface="Lato"/>
                <a:cs typeface="Lato"/>
              </a:rPr>
              <a:t>both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metrics</a:t>
            </a:r>
            <a:endParaRPr lang="en-IN" sz="1200" spc="-10" dirty="0">
              <a:solidFill>
                <a:srgbClr val="003366"/>
              </a:solidFill>
              <a:latin typeface="Lato"/>
              <a:cs typeface="La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334806" y="4213023"/>
            <a:ext cx="2071071" cy="1962162"/>
            <a:chOff x="4267187" y="4743449"/>
            <a:chExt cx="3657600" cy="1962162"/>
          </a:xfrm>
        </p:grpSpPr>
        <p:sp>
          <p:nvSpPr>
            <p:cNvPr id="10" name="object 10"/>
            <p:cNvSpPr/>
            <p:nvPr/>
          </p:nvSpPr>
          <p:spPr>
            <a:xfrm>
              <a:off x="4267187" y="4743461"/>
              <a:ext cx="3657600" cy="1962150"/>
            </a:xfrm>
            <a:custGeom>
              <a:avLst/>
              <a:gdLst/>
              <a:ahLst/>
              <a:cxnLst/>
              <a:rect l="l" t="t" r="r" b="b"/>
              <a:pathLst>
                <a:path w="3657600" h="1962150">
                  <a:moveTo>
                    <a:pt x="3657600" y="0"/>
                  </a:moveTo>
                  <a:lnTo>
                    <a:pt x="36480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3648075" y="9525"/>
                  </a:lnTo>
                  <a:lnTo>
                    <a:pt x="3648075" y="1952612"/>
                  </a:lnTo>
                  <a:lnTo>
                    <a:pt x="0" y="1952612"/>
                  </a:lnTo>
                  <a:lnTo>
                    <a:pt x="0" y="1962137"/>
                  </a:lnTo>
                  <a:lnTo>
                    <a:pt x="3648075" y="1962137"/>
                  </a:lnTo>
                  <a:lnTo>
                    <a:pt x="3657600" y="1962137"/>
                  </a:lnTo>
                  <a:lnTo>
                    <a:pt x="3657600" y="1952612"/>
                  </a:lnTo>
                  <a:lnTo>
                    <a:pt x="3657600" y="9525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E6F1FF"/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4267199" y="4743449"/>
              <a:ext cx="38100" cy="1962150"/>
            </a:xfrm>
            <a:custGeom>
              <a:avLst/>
              <a:gdLst/>
              <a:ahLst/>
              <a:cxnLst/>
              <a:rect l="l" t="t" r="r" b="b"/>
              <a:pathLst>
                <a:path w="38100" h="1962150">
                  <a:moveTo>
                    <a:pt x="0" y="1962149"/>
                  </a:moveTo>
                  <a:lnTo>
                    <a:pt x="0" y="0"/>
                  </a:lnTo>
                  <a:lnTo>
                    <a:pt x="38099" y="9524"/>
                  </a:lnTo>
                  <a:lnTo>
                    <a:pt x="38099" y="1952624"/>
                  </a:lnTo>
                  <a:lnTo>
                    <a:pt x="0" y="1962149"/>
                  </a:lnTo>
                  <a:close/>
                </a:path>
              </a:pathLst>
            </a:custGeom>
            <a:solidFill>
              <a:srgbClr val="0052CC"/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0" y="36719"/>
            <a:ext cx="6032501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50" dirty="0"/>
              <a:t>INVESTMENT</a:t>
            </a:r>
            <a:r>
              <a:rPr spc="165" dirty="0"/>
              <a:t> </a:t>
            </a:r>
            <a:r>
              <a:rPr spc="365" dirty="0"/>
              <a:t>RECOMMENDATION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42307" y="5026260"/>
            <a:ext cx="3657600" cy="1620000"/>
            <a:chOff x="380987" y="4743449"/>
            <a:chExt cx="3657600" cy="2266962"/>
          </a:xfrm>
        </p:grpSpPr>
        <p:sp>
          <p:nvSpPr>
            <p:cNvPr id="4" name="object 4"/>
            <p:cNvSpPr/>
            <p:nvPr/>
          </p:nvSpPr>
          <p:spPr>
            <a:xfrm>
              <a:off x="380987" y="4743461"/>
              <a:ext cx="3657600" cy="2266950"/>
            </a:xfrm>
            <a:custGeom>
              <a:avLst/>
              <a:gdLst/>
              <a:ahLst/>
              <a:cxnLst/>
              <a:rect l="l" t="t" r="r" b="b"/>
              <a:pathLst>
                <a:path w="3657600" h="2266950">
                  <a:moveTo>
                    <a:pt x="3657600" y="0"/>
                  </a:moveTo>
                  <a:lnTo>
                    <a:pt x="36480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3648075" y="9525"/>
                  </a:lnTo>
                  <a:lnTo>
                    <a:pt x="3648075" y="2257412"/>
                  </a:lnTo>
                  <a:lnTo>
                    <a:pt x="0" y="2257412"/>
                  </a:lnTo>
                  <a:lnTo>
                    <a:pt x="0" y="2266937"/>
                  </a:lnTo>
                  <a:lnTo>
                    <a:pt x="3648075" y="2266937"/>
                  </a:lnTo>
                  <a:lnTo>
                    <a:pt x="3657600" y="2266937"/>
                  </a:lnTo>
                  <a:lnTo>
                    <a:pt x="3657600" y="2257412"/>
                  </a:lnTo>
                  <a:lnTo>
                    <a:pt x="3657600" y="9525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E6F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0999" y="4743449"/>
              <a:ext cx="38100" cy="2266950"/>
            </a:xfrm>
            <a:custGeom>
              <a:avLst/>
              <a:gdLst/>
              <a:ahLst/>
              <a:cxnLst/>
              <a:rect l="l" t="t" r="r" b="b"/>
              <a:pathLst>
                <a:path w="38100" h="2266950">
                  <a:moveTo>
                    <a:pt x="0" y="2266949"/>
                  </a:moveTo>
                  <a:lnTo>
                    <a:pt x="0" y="0"/>
                  </a:lnTo>
                  <a:lnTo>
                    <a:pt x="38099" y="9524"/>
                  </a:lnTo>
                  <a:lnTo>
                    <a:pt x="38099" y="2257424"/>
                  </a:lnTo>
                  <a:lnTo>
                    <a:pt x="0" y="2266949"/>
                  </a:lnTo>
                  <a:close/>
                </a:path>
              </a:pathLst>
            </a:custGeom>
            <a:solidFill>
              <a:srgbClr val="005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61369" y="4691521"/>
            <a:ext cx="2656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40" dirty="0">
                <a:solidFill>
                  <a:srgbClr val="0052CC"/>
                </a:solidFill>
                <a:latin typeface="Calibri"/>
                <a:cs typeface="Calibri"/>
              </a:rPr>
              <a:t>DATA</a:t>
            </a:r>
            <a:r>
              <a:rPr sz="1800" b="1" spc="114" dirty="0">
                <a:solidFill>
                  <a:srgbClr val="0052CC"/>
                </a:solidFill>
                <a:latin typeface="Calibri"/>
                <a:cs typeface="Calibri"/>
              </a:rPr>
              <a:t> </a:t>
            </a:r>
            <a:r>
              <a:rPr sz="1800" b="1" spc="254" dirty="0">
                <a:solidFill>
                  <a:srgbClr val="0052CC"/>
                </a:solidFill>
                <a:latin typeface="Calibri"/>
                <a:cs typeface="Calibri"/>
              </a:rPr>
              <a:t>OBSERVATIONS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22208" y="3822419"/>
            <a:ext cx="154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305" dirty="0">
                <a:solidFill>
                  <a:srgbClr val="0052CC"/>
                </a:solidFill>
                <a:latin typeface="Calibri"/>
                <a:cs typeface="Calibri"/>
              </a:rPr>
              <a:t>KEY</a:t>
            </a:r>
            <a:r>
              <a:rPr sz="1800" b="1" spc="110" dirty="0">
                <a:solidFill>
                  <a:srgbClr val="0052CC"/>
                </a:solidFill>
                <a:latin typeface="Calibri"/>
                <a:cs typeface="Calibri"/>
              </a:rPr>
              <a:t> </a:t>
            </a:r>
            <a:r>
              <a:rPr sz="1800" b="1" spc="210" dirty="0">
                <a:solidFill>
                  <a:srgbClr val="0052CC"/>
                </a:solidFill>
                <a:latin typeface="Calibri"/>
                <a:cs typeface="Calibri"/>
              </a:rPr>
              <a:t>INSIGHT</a:t>
            </a:r>
            <a:endParaRPr sz="1800" b="1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25650" y="4234270"/>
            <a:ext cx="3810083" cy="1513941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840"/>
              </a:spcBef>
            </a:pPr>
            <a:r>
              <a:rPr sz="1300" b="1" spc="-75" dirty="0">
                <a:solidFill>
                  <a:srgbClr val="0052CC"/>
                </a:solidFill>
                <a:latin typeface="Arial"/>
                <a:cs typeface="Arial"/>
              </a:rPr>
              <a:t>Service</a:t>
            </a:r>
            <a:r>
              <a:rPr sz="1300" b="1" spc="-8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b="1" spc="-30" dirty="0">
                <a:solidFill>
                  <a:srgbClr val="0052CC"/>
                </a:solidFill>
                <a:latin typeface="Arial"/>
                <a:cs typeface="Arial"/>
              </a:rPr>
              <a:t>Quality</a:t>
            </a:r>
            <a:r>
              <a:rPr sz="1300" b="1" spc="-7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0052CC"/>
                </a:solidFill>
                <a:latin typeface="Arial"/>
                <a:cs typeface="Arial"/>
              </a:rPr>
              <a:t>Factors:</a:t>
            </a:r>
            <a:endParaRPr sz="1300" b="1" dirty="0">
              <a:latin typeface="Arial"/>
              <a:cs typeface="Arial"/>
            </a:endParaRPr>
          </a:p>
          <a:p>
            <a:pPr marL="438150" marR="1915795" indent="-17145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003366"/>
                </a:solidFill>
                <a:latin typeface="Lato"/>
                <a:cs typeface="Lato"/>
              </a:rPr>
              <a:t>Customer</a:t>
            </a:r>
            <a:r>
              <a:rPr sz="1200" b="1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b="1" spc="-10" dirty="0">
                <a:solidFill>
                  <a:srgbClr val="003366"/>
                </a:solidFill>
                <a:latin typeface="Lato"/>
                <a:cs typeface="Lato"/>
              </a:rPr>
              <a:t>empathy </a:t>
            </a:r>
            <a:endParaRPr lang="en-IN" sz="1200" b="1" spc="-10" dirty="0">
              <a:solidFill>
                <a:srgbClr val="003366"/>
              </a:solidFill>
              <a:latin typeface="Lato"/>
              <a:cs typeface="Lato"/>
            </a:endParaRPr>
          </a:p>
          <a:p>
            <a:pPr marL="438150" marR="1915795" indent="-17145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200" b="1" spc="-10" dirty="0">
                <a:solidFill>
                  <a:srgbClr val="003366"/>
                </a:solidFill>
                <a:latin typeface="Lato"/>
                <a:cs typeface="Lato"/>
              </a:rPr>
              <a:t>Issue</a:t>
            </a:r>
            <a:r>
              <a:rPr sz="1200" b="1" spc="-4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b="1" spc="-10" dirty="0">
                <a:solidFill>
                  <a:srgbClr val="003366"/>
                </a:solidFill>
                <a:latin typeface="Lato"/>
                <a:cs typeface="Lato"/>
              </a:rPr>
              <a:t>ownership</a:t>
            </a:r>
            <a:endParaRPr lang="en-IN" sz="1200" b="1" spc="-10" dirty="0">
              <a:solidFill>
                <a:srgbClr val="003366"/>
              </a:solidFill>
              <a:latin typeface="Lato"/>
              <a:cs typeface="Lato"/>
            </a:endParaRPr>
          </a:p>
          <a:p>
            <a:pPr marL="438150" marR="1915795" indent="-17145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200" b="1" spc="-10" dirty="0">
                <a:solidFill>
                  <a:srgbClr val="003366"/>
                </a:solidFill>
                <a:latin typeface="Lato"/>
                <a:cs typeface="Lato"/>
              </a:rPr>
              <a:t>Effective</a:t>
            </a:r>
            <a:r>
              <a:rPr sz="1200" b="1" spc="-6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b="1" spc="-10" dirty="0">
                <a:solidFill>
                  <a:srgbClr val="003366"/>
                </a:solidFill>
                <a:latin typeface="Lato"/>
                <a:cs typeface="Lato"/>
              </a:rPr>
              <a:t>follow-</a:t>
            </a:r>
            <a:r>
              <a:rPr sz="1200" b="1" spc="-25" dirty="0">
                <a:solidFill>
                  <a:srgbClr val="003366"/>
                </a:solidFill>
                <a:latin typeface="Lato"/>
                <a:cs typeface="Lato"/>
              </a:rPr>
              <a:t>ups </a:t>
            </a:r>
            <a:endParaRPr lang="en-IN" sz="1200" b="1" spc="-25" dirty="0">
              <a:solidFill>
                <a:srgbClr val="003366"/>
              </a:solidFill>
              <a:latin typeface="Lato"/>
              <a:cs typeface="Lato"/>
            </a:endParaRPr>
          </a:p>
          <a:p>
            <a:pPr marL="438150" marR="1915795" indent="-17145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003366"/>
                </a:solidFill>
                <a:latin typeface="Lato"/>
                <a:cs typeface="Lato"/>
              </a:rPr>
              <a:t>Clear</a:t>
            </a:r>
            <a:r>
              <a:rPr sz="1200" b="1" spc="-10" dirty="0">
                <a:solidFill>
                  <a:srgbClr val="003366"/>
                </a:solidFill>
                <a:latin typeface="Lato"/>
                <a:cs typeface="Lato"/>
              </a:rPr>
              <a:t> communication</a:t>
            </a:r>
            <a:endParaRPr sz="1200" b="1" dirty="0">
              <a:latin typeface="Lato"/>
              <a:cs typeface="La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153400" y="3653172"/>
            <a:ext cx="3628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spc="235" dirty="0">
                <a:solidFill>
                  <a:srgbClr val="0052CC"/>
                </a:solidFill>
                <a:latin typeface="Calibri"/>
                <a:cs typeface="Calibri"/>
              </a:rPr>
              <a:t>FINAL RECOMMENDATION 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001499" y="6648270"/>
            <a:ext cx="1165722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3366"/>
                </a:solidFill>
                <a:latin typeface="Lato"/>
                <a:cs typeface="Lato"/>
              </a:rPr>
              <a:t>8</a:t>
            </a:r>
            <a:endParaRPr sz="1200" dirty="0">
              <a:latin typeface="Lato"/>
              <a:cs typeface="Lato"/>
            </a:endParaRPr>
          </a:p>
        </p:txBody>
      </p:sp>
      <p:graphicFrame>
        <p:nvGraphicFramePr>
          <p:cNvPr id="33" name="Chart 32">
            <a:extLst>
              <a:ext uri="{FF2B5EF4-FFF2-40B4-BE49-F238E27FC236}">
                <a16:creationId xmlns:a16="http://schemas.microsoft.com/office/drawing/2014/main" id="{726C444C-DB51-4216-90F7-7E29468A51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6308732"/>
              </p:ext>
            </p:extLst>
          </p:nvPr>
        </p:nvGraphicFramePr>
        <p:xfrm>
          <a:off x="952500" y="473137"/>
          <a:ext cx="10266044" cy="2915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object 39">
            <a:extLst>
              <a:ext uri="{FF2B5EF4-FFF2-40B4-BE49-F238E27FC236}">
                <a16:creationId xmlns:a16="http://schemas.microsoft.com/office/drawing/2014/main" id="{3A7BB66F-A09E-4988-A1F1-CF405C40F16B}"/>
              </a:ext>
            </a:extLst>
          </p:cNvPr>
          <p:cNvSpPr/>
          <p:nvPr/>
        </p:nvSpPr>
        <p:spPr>
          <a:xfrm>
            <a:off x="9207189" y="0"/>
            <a:ext cx="2973070" cy="2496820"/>
          </a:xfrm>
          <a:custGeom>
            <a:avLst/>
            <a:gdLst/>
            <a:ahLst/>
            <a:cxnLst/>
            <a:rect l="l" t="t" r="r" b="b"/>
            <a:pathLst>
              <a:path w="2973070" h="2496820">
                <a:moveTo>
                  <a:pt x="2020557" y="2496807"/>
                </a:moveTo>
                <a:lnTo>
                  <a:pt x="0" y="476250"/>
                </a:lnTo>
                <a:lnTo>
                  <a:pt x="476250" y="0"/>
                </a:lnTo>
                <a:lnTo>
                  <a:pt x="2973057" y="0"/>
                </a:lnTo>
                <a:lnTo>
                  <a:pt x="2973057" y="1544307"/>
                </a:lnTo>
                <a:lnTo>
                  <a:pt x="2020557" y="2496807"/>
                </a:lnTo>
                <a:close/>
              </a:path>
            </a:pathLst>
          </a:custGeom>
          <a:solidFill>
            <a:srgbClr val="4A8FE2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39">
            <a:extLst>
              <a:ext uri="{FF2B5EF4-FFF2-40B4-BE49-F238E27FC236}">
                <a16:creationId xmlns:a16="http://schemas.microsoft.com/office/drawing/2014/main" id="{A2101B82-A575-46BC-80D2-BCC91ACB0F18}"/>
              </a:ext>
            </a:extLst>
          </p:cNvPr>
          <p:cNvSpPr/>
          <p:nvPr/>
        </p:nvSpPr>
        <p:spPr>
          <a:xfrm rot="10800000">
            <a:off x="0" y="4335015"/>
            <a:ext cx="2973070" cy="2496820"/>
          </a:xfrm>
          <a:custGeom>
            <a:avLst/>
            <a:gdLst/>
            <a:ahLst/>
            <a:cxnLst/>
            <a:rect l="l" t="t" r="r" b="b"/>
            <a:pathLst>
              <a:path w="2973070" h="2496820">
                <a:moveTo>
                  <a:pt x="2020557" y="2496807"/>
                </a:moveTo>
                <a:lnTo>
                  <a:pt x="0" y="476250"/>
                </a:lnTo>
                <a:lnTo>
                  <a:pt x="476250" y="0"/>
                </a:lnTo>
                <a:lnTo>
                  <a:pt x="2973057" y="0"/>
                </a:lnTo>
                <a:lnTo>
                  <a:pt x="2973057" y="1544307"/>
                </a:lnTo>
                <a:lnTo>
                  <a:pt x="2020557" y="2496807"/>
                </a:lnTo>
                <a:close/>
              </a:path>
            </a:pathLst>
          </a:custGeom>
          <a:solidFill>
            <a:srgbClr val="4A8FE2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5">
            <a:extLst>
              <a:ext uri="{FF2B5EF4-FFF2-40B4-BE49-F238E27FC236}">
                <a16:creationId xmlns:a16="http://schemas.microsoft.com/office/drawing/2014/main" id="{98C8E86C-A259-462A-8B2F-355D5C2AB9EF}"/>
              </a:ext>
            </a:extLst>
          </p:cNvPr>
          <p:cNvSpPr txBox="1"/>
          <p:nvPr/>
        </p:nvSpPr>
        <p:spPr>
          <a:xfrm>
            <a:off x="8358119" y="4170427"/>
            <a:ext cx="2466016" cy="61491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40"/>
              </a:spcBef>
            </a:pPr>
            <a:r>
              <a:rPr lang="en-IN" sz="1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Prioritize Agent Training</a:t>
            </a:r>
          </a:p>
          <a:p>
            <a:pPr algn="l">
              <a:lnSpc>
                <a:spcPct val="100000"/>
              </a:lnSpc>
              <a:spcBef>
                <a:spcPts val="1040"/>
              </a:spcBef>
            </a:pPr>
            <a:r>
              <a:rPr kumimoji="0" lang="en-US" altLang="en-US" sz="1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Enhance Skills &amp; Service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39">
            <a:extLst>
              <a:ext uri="{FF2B5EF4-FFF2-40B4-BE49-F238E27FC236}">
                <a16:creationId xmlns:a16="http://schemas.microsoft.com/office/drawing/2014/main" id="{0F40F190-02C0-4420-8468-9102EF151DCF}"/>
              </a:ext>
            </a:extLst>
          </p:cNvPr>
          <p:cNvSpPr/>
          <p:nvPr/>
        </p:nvSpPr>
        <p:spPr>
          <a:xfrm>
            <a:off x="9207189" y="0"/>
            <a:ext cx="2973070" cy="2496820"/>
          </a:xfrm>
          <a:custGeom>
            <a:avLst/>
            <a:gdLst/>
            <a:ahLst/>
            <a:cxnLst/>
            <a:rect l="l" t="t" r="r" b="b"/>
            <a:pathLst>
              <a:path w="2973070" h="2496820">
                <a:moveTo>
                  <a:pt x="2020557" y="2496807"/>
                </a:moveTo>
                <a:lnTo>
                  <a:pt x="0" y="476250"/>
                </a:lnTo>
                <a:lnTo>
                  <a:pt x="476250" y="0"/>
                </a:lnTo>
                <a:lnTo>
                  <a:pt x="2973057" y="0"/>
                </a:lnTo>
                <a:lnTo>
                  <a:pt x="2973057" y="1544307"/>
                </a:lnTo>
                <a:lnTo>
                  <a:pt x="2020557" y="2496807"/>
                </a:lnTo>
                <a:close/>
              </a:path>
            </a:pathLst>
          </a:custGeom>
          <a:solidFill>
            <a:srgbClr val="4A8FE2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9">
            <a:extLst>
              <a:ext uri="{FF2B5EF4-FFF2-40B4-BE49-F238E27FC236}">
                <a16:creationId xmlns:a16="http://schemas.microsoft.com/office/drawing/2014/main" id="{648158CB-B33E-4407-B127-4566B78627E3}"/>
              </a:ext>
            </a:extLst>
          </p:cNvPr>
          <p:cNvSpPr/>
          <p:nvPr/>
        </p:nvSpPr>
        <p:spPr>
          <a:xfrm rot="10800000">
            <a:off x="0" y="4335015"/>
            <a:ext cx="2973070" cy="2496820"/>
          </a:xfrm>
          <a:custGeom>
            <a:avLst/>
            <a:gdLst/>
            <a:ahLst/>
            <a:cxnLst/>
            <a:rect l="l" t="t" r="r" b="b"/>
            <a:pathLst>
              <a:path w="2973070" h="2496820">
                <a:moveTo>
                  <a:pt x="2020557" y="2496807"/>
                </a:moveTo>
                <a:lnTo>
                  <a:pt x="0" y="476250"/>
                </a:lnTo>
                <a:lnTo>
                  <a:pt x="476250" y="0"/>
                </a:lnTo>
                <a:lnTo>
                  <a:pt x="2973057" y="0"/>
                </a:lnTo>
                <a:lnTo>
                  <a:pt x="2973057" y="1544307"/>
                </a:lnTo>
                <a:lnTo>
                  <a:pt x="2020557" y="2496807"/>
                </a:lnTo>
                <a:close/>
              </a:path>
            </a:pathLst>
          </a:custGeom>
          <a:solidFill>
            <a:srgbClr val="4A8FE2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Rectangle: Diagonal Corners Snipped 4">
            <a:extLst>
              <a:ext uri="{FF2B5EF4-FFF2-40B4-BE49-F238E27FC236}">
                <a16:creationId xmlns:a16="http://schemas.microsoft.com/office/drawing/2014/main" id="{3B068BE0-4EB3-4482-A500-8D48CD77DBD1}"/>
              </a:ext>
            </a:extLst>
          </p:cNvPr>
          <p:cNvSpPr/>
          <p:nvPr/>
        </p:nvSpPr>
        <p:spPr>
          <a:xfrm flipH="1">
            <a:off x="200025" y="1218406"/>
            <a:ext cx="5155420" cy="1756822"/>
          </a:xfrm>
          <a:prstGeom prst="snip2DiagRect">
            <a:avLst/>
          </a:prstGeom>
          <a:solidFill>
            <a:srgbClr val="F2F7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499" y="398729"/>
            <a:ext cx="4295702" cy="436657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204"/>
              </a:spcBef>
            </a:pPr>
            <a:r>
              <a:rPr spc="390" dirty="0">
                <a:solidFill>
                  <a:srgbClr val="0A3C7B"/>
                </a:solidFill>
              </a:rPr>
              <a:t>AGENT</a:t>
            </a:r>
            <a:r>
              <a:rPr lang="en-IN" spc="390" dirty="0">
                <a:solidFill>
                  <a:srgbClr val="0A3C7B"/>
                </a:solidFill>
              </a:rPr>
              <a:t> </a:t>
            </a:r>
            <a:r>
              <a:rPr spc="150" dirty="0">
                <a:solidFill>
                  <a:srgbClr val="0A3C7B"/>
                </a:solidFill>
              </a:rPr>
              <a:t> </a:t>
            </a:r>
            <a:r>
              <a:rPr spc="430" dirty="0">
                <a:solidFill>
                  <a:srgbClr val="0A3C7B"/>
                </a:solidFill>
              </a:rPr>
              <a:t>PERFORMANCE</a:t>
            </a:r>
            <a:endParaRPr spc="340" dirty="0">
              <a:solidFill>
                <a:srgbClr val="0A3C7B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8299" y="894127"/>
            <a:ext cx="571500" cy="38100"/>
          </a:xfrm>
          <a:custGeom>
            <a:avLst/>
            <a:gdLst/>
            <a:ahLst/>
            <a:cxnLst/>
            <a:rect l="l" t="t" r="r" b="b"/>
            <a:pathLst>
              <a:path w="571500" h="38100">
                <a:moveTo>
                  <a:pt x="571499" y="38099"/>
                </a:moveTo>
                <a:lnTo>
                  <a:pt x="0" y="38099"/>
                </a:lnTo>
                <a:lnTo>
                  <a:pt x="0" y="0"/>
                </a:lnTo>
                <a:lnTo>
                  <a:pt x="571499" y="0"/>
                </a:lnTo>
                <a:lnTo>
                  <a:pt x="571499" y="38099"/>
                </a:lnTo>
                <a:close/>
              </a:path>
            </a:pathLst>
          </a:custGeom>
          <a:solidFill>
            <a:srgbClr val="0052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68299" y="1128710"/>
            <a:ext cx="5241925" cy="1806264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endParaRPr lang="en-US" sz="1450" b="1" dirty="0">
              <a:solidFill>
                <a:srgbClr val="406799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450" b="1" dirty="0">
                <a:solidFill>
                  <a:srgbClr val="2D4B7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Insights: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50" b="1" dirty="0">
                <a:solidFill>
                  <a:srgbClr val="40679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Clear segmentation of high vs. low performers.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50" b="1" dirty="0">
                <a:solidFill>
                  <a:srgbClr val="40679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Top performers: Maintain high satisfaction even with heavy workloads.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50" b="1" dirty="0">
                <a:solidFill>
                  <a:srgbClr val="40679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Bottom performers: Struggle with both speed and quality.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50" b="1" dirty="0">
                <a:solidFill>
                  <a:srgbClr val="40679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Performance variation indicates strong scope for knowledge transfer.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471285" y="392275"/>
            <a:ext cx="4977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95" dirty="0">
                <a:solidFill>
                  <a:srgbClr val="0052CC"/>
                </a:solidFill>
                <a:latin typeface="Calibri"/>
                <a:cs typeface="Calibri"/>
              </a:rPr>
              <a:t>PERFORMANCE</a:t>
            </a:r>
            <a:r>
              <a:rPr sz="1800" b="1" spc="100" dirty="0">
                <a:solidFill>
                  <a:srgbClr val="0052CC"/>
                </a:solidFill>
                <a:latin typeface="Calibri"/>
                <a:cs typeface="Calibri"/>
              </a:rPr>
              <a:t> </a:t>
            </a:r>
            <a:r>
              <a:rPr sz="1800" b="1" spc="250" dirty="0">
                <a:solidFill>
                  <a:srgbClr val="0052CC"/>
                </a:solidFill>
                <a:latin typeface="Calibri"/>
                <a:cs typeface="Calibri"/>
              </a:rPr>
              <a:t>METRICS</a:t>
            </a:r>
            <a:r>
              <a:rPr sz="1800" b="1" spc="100" dirty="0">
                <a:solidFill>
                  <a:srgbClr val="0052CC"/>
                </a:solidFill>
                <a:latin typeface="Calibri"/>
                <a:cs typeface="Calibri"/>
              </a:rPr>
              <a:t> </a:t>
            </a:r>
            <a:r>
              <a:rPr sz="1800" b="1" spc="220" dirty="0">
                <a:solidFill>
                  <a:srgbClr val="0052CC"/>
                </a:solidFill>
                <a:latin typeface="Calibri"/>
                <a:cs typeface="Calibri"/>
              </a:rPr>
              <a:t>VISUALIZATION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96877" y="4943198"/>
            <a:ext cx="28575" cy="288000"/>
          </a:xfrm>
          <a:custGeom>
            <a:avLst/>
            <a:gdLst/>
            <a:ahLst/>
            <a:cxnLst/>
            <a:rect l="l" t="t" r="r" b="b"/>
            <a:pathLst>
              <a:path w="28575" h="381000">
                <a:moveTo>
                  <a:pt x="28574" y="380999"/>
                </a:moveTo>
                <a:lnTo>
                  <a:pt x="0" y="380999"/>
                </a:lnTo>
                <a:lnTo>
                  <a:pt x="0" y="0"/>
                </a:lnTo>
                <a:lnTo>
                  <a:pt x="28574" y="0"/>
                </a:lnTo>
                <a:lnTo>
                  <a:pt x="28574" y="380999"/>
                </a:lnTo>
                <a:close/>
              </a:path>
            </a:pathLst>
          </a:custGeom>
          <a:solidFill>
            <a:srgbClr val="4BAF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92115" y="5447269"/>
            <a:ext cx="28575" cy="288000"/>
          </a:xfrm>
          <a:custGeom>
            <a:avLst/>
            <a:gdLst/>
            <a:ahLst/>
            <a:cxnLst/>
            <a:rect l="l" t="t" r="r" b="b"/>
            <a:pathLst>
              <a:path w="28575" h="381000">
                <a:moveTo>
                  <a:pt x="28574" y="380999"/>
                </a:moveTo>
                <a:lnTo>
                  <a:pt x="0" y="380999"/>
                </a:lnTo>
                <a:lnTo>
                  <a:pt x="0" y="0"/>
                </a:lnTo>
                <a:lnTo>
                  <a:pt x="28574" y="0"/>
                </a:lnTo>
                <a:lnTo>
                  <a:pt x="28574" y="380999"/>
                </a:lnTo>
                <a:close/>
              </a:path>
            </a:pathLst>
          </a:custGeom>
          <a:solidFill>
            <a:srgbClr val="4BAF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95288" y="4429158"/>
            <a:ext cx="28575" cy="288000"/>
          </a:xfrm>
          <a:custGeom>
            <a:avLst/>
            <a:gdLst/>
            <a:ahLst/>
            <a:cxnLst/>
            <a:rect l="l" t="t" r="r" b="b"/>
            <a:pathLst>
              <a:path w="28575" h="381000">
                <a:moveTo>
                  <a:pt x="28574" y="380999"/>
                </a:moveTo>
                <a:lnTo>
                  <a:pt x="0" y="380999"/>
                </a:lnTo>
                <a:lnTo>
                  <a:pt x="0" y="0"/>
                </a:lnTo>
                <a:lnTo>
                  <a:pt x="28574" y="0"/>
                </a:lnTo>
                <a:lnTo>
                  <a:pt x="28574" y="380999"/>
                </a:lnTo>
                <a:close/>
              </a:path>
            </a:pathLst>
          </a:custGeom>
          <a:solidFill>
            <a:srgbClr val="4BAF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79416" y="3987937"/>
            <a:ext cx="2616835" cy="3404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100" spc="125" dirty="0">
                <a:solidFill>
                  <a:srgbClr val="0052CC"/>
                </a:solidFill>
                <a:latin typeface="Segoe UI Symbol"/>
                <a:cs typeface="Segoe UI Symbol"/>
              </a:rPr>
              <a:t>🏆</a:t>
            </a:r>
            <a:r>
              <a:rPr sz="2100" spc="-65" dirty="0">
                <a:solidFill>
                  <a:srgbClr val="0052CC"/>
                </a:solidFill>
                <a:latin typeface="Segoe UI Symbol"/>
                <a:cs typeface="Segoe UI Symbol"/>
              </a:rPr>
              <a:t> </a:t>
            </a:r>
            <a:r>
              <a:rPr sz="1800" b="1" spc="280" dirty="0">
                <a:solidFill>
                  <a:srgbClr val="0052CC"/>
                </a:solidFill>
                <a:latin typeface="Calibri"/>
                <a:cs typeface="Calibri"/>
              </a:rPr>
              <a:t>TOP</a:t>
            </a:r>
            <a:r>
              <a:rPr sz="1800" b="1" spc="105" dirty="0">
                <a:solidFill>
                  <a:srgbClr val="0052CC"/>
                </a:solidFill>
                <a:latin typeface="Calibri"/>
                <a:cs typeface="Calibri"/>
              </a:rPr>
              <a:t> </a:t>
            </a:r>
            <a:r>
              <a:rPr sz="1800" b="1" spc="285" dirty="0">
                <a:solidFill>
                  <a:srgbClr val="0052CC"/>
                </a:solidFill>
                <a:latin typeface="Calibri"/>
                <a:cs typeface="Calibri"/>
              </a:rPr>
              <a:t>PERFORMERS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0692" y="4435021"/>
            <a:ext cx="5238754" cy="283411"/>
          </a:xfrm>
          <a:prstGeom prst="rect">
            <a:avLst/>
          </a:prstGeom>
          <a:solidFill>
            <a:srgbClr val="81B0E3">
              <a:alpha val="10198"/>
            </a:srgbClr>
          </a:solidFill>
        </p:spPr>
        <p:txBody>
          <a:bodyPr vert="horz" wrap="square" lIns="0" tIns="8255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650"/>
              </a:spcBef>
            </a:pPr>
            <a:r>
              <a:rPr sz="1300" spc="-114" dirty="0">
                <a:solidFill>
                  <a:srgbClr val="0052CC"/>
                </a:solidFill>
                <a:latin typeface="Arial"/>
                <a:cs typeface="Arial"/>
              </a:rPr>
              <a:t>Jesus</a:t>
            </a:r>
            <a:r>
              <a:rPr sz="1300" spc="-10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75" dirty="0">
                <a:solidFill>
                  <a:srgbClr val="0052CC"/>
                </a:solidFill>
                <a:latin typeface="Arial"/>
                <a:cs typeface="Arial"/>
              </a:rPr>
              <a:t>Grajeda</a:t>
            </a:r>
            <a:r>
              <a:rPr sz="1300" spc="-10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0052CC"/>
                </a:solidFill>
                <a:latin typeface="Arial"/>
                <a:cs typeface="Arial"/>
              </a:rPr>
              <a:t>(Agent</a:t>
            </a:r>
            <a:r>
              <a:rPr sz="1300" spc="-9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0052CC"/>
                </a:solidFill>
                <a:latin typeface="Arial"/>
                <a:cs typeface="Arial"/>
              </a:rPr>
              <a:t>2):</a:t>
            </a:r>
            <a:r>
              <a:rPr sz="1300" spc="-10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0A3C7B"/>
                </a:solidFill>
                <a:latin typeface="Lato"/>
                <a:cs typeface="Lato"/>
              </a:rPr>
              <a:t>Low</a:t>
            </a:r>
            <a:r>
              <a:rPr sz="1200" spc="-4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A3C7B"/>
                </a:solidFill>
                <a:latin typeface="Lato"/>
                <a:cs typeface="Lato"/>
              </a:rPr>
              <a:t>Res</a:t>
            </a:r>
            <a:r>
              <a:rPr sz="1200" spc="-5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Time</a:t>
            </a:r>
            <a:r>
              <a:rPr sz="1200" spc="-4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+</a:t>
            </a:r>
            <a:r>
              <a:rPr sz="1200" spc="-5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High</a:t>
            </a:r>
            <a:r>
              <a:rPr sz="1200" spc="-5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Satisfaction</a:t>
            </a:r>
            <a:r>
              <a:rPr sz="1200" spc="-4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+</a:t>
            </a:r>
            <a:r>
              <a:rPr sz="1200" spc="-5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High</a:t>
            </a:r>
            <a:r>
              <a:rPr sz="1200" spc="-4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Volume</a:t>
            </a:r>
            <a:endParaRPr sz="1200">
              <a:latin typeface="Lato"/>
              <a:cs typeface="La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2117" y="4952636"/>
            <a:ext cx="5267328" cy="283411"/>
          </a:xfrm>
          <a:prstGeom prst="rect">
            <a:avLst/>
          </a:prstGeom>
          <a:solidFill>
            <a:srgbClr val="81B0E3">
              <a:alpha val="10198"/>
            </a:srgbClr>
          </a:solidFill>
        </p:spPr>
        <p:txBody>
          <a:bodyPr vert="horz" wrap="square" lIns="0" tIns="8255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650"/>
              </a:spcBef>
            </a:pPr>
            <a:r>
              <a:rPr sz="1300" spc="-60" dirty="0">
                <a:solidFill>
                  <a:srgbClr val="0052CC"/>
                </a:solidFill>
                <a:latin typeface="Arial"/>
                <a:cs typeface="Arial"/>
              </a:rPr>
              <a:t>Galindo</a:t>
            </a:r>
            <a:r>
              <a:rPr sz="1300" spc="-10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80" dirty="0">
                <a:solidFill>
                  <a:srgbClr val="0052CC"/>
                </a:solidFill>
                <a:latin typeface="Arial"/>
                <a:cs typeface="Arial"/>
              </a:rPr>
              <a:t>Guadalupe</a:t>
            </a:r>
            <a:r>
              <a:rPr sz="1300" spc="-10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0052CC"/>
                </a:solidFill>
                <a:latin typeface="Arial"/>
                <a:cs typeface="Arial"/>
              </a:rPr>
              <a:t>(Agent</a:t>
            </a:r>
            <a:r>
              <a:rPr sz="1300" spc="-10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0052CC"/>
                </a:solidFill>
                <a:latin typeface="Arial"/>
                <a:cs typeface="Arial"/>
              </a:rPr>
              <a:t>15):</a:t>
            </a:r>
            <a:r>
              <a:rPr sz="1300" spc="-10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A3C7B"/>
                </a:solidFill>
                <a:latin typeface="Lato"/>
                <a:cs typeface="Lato"/>
              </a:rPr>
              <a:t>Consistent</a:t>
            </a:r>
            <a:r>
              <a:rPr sz="1200" spc="-5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high</a:t>
            </a:r>
            <a:r>
              <a:rPr sz="1200" spc="-5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A3C7B"/>
                </a:solidFill>
                <a:latin typeface="Lato"/>
                <a:cs typeface="Lato"/>
              </a:rPr>
              <a:t>ratings</a:t>
            </a:r>
            <a:r>
              <a:rPr sz="1200" spc="-5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+</a:t>
            </a:r>
            <a:r>
              <a:rPr sz="1200" spc="-5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efficient</a:t>
            </a:r>
            <a:r>
              <a:rPr sz="1200" spc="-5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resolution</a:t>
            </a:r>
            <a:endParaRPr sz="1200" dirty="0">
              <a:latin typeface="Lato"/>
              <a:cs typeface="La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0692" y="5444292"/>
            <a:ext cx="5238753" cy="283411"/>
          </a:xfrm>
          <a:prstGeom prst="rect">
            <a:avLst/>
          </a:prstGeom>
          <a:solidFill>
            <a:srgbClr val="81B0E3">
              <a:alpha val="10198"/>
            </a:srgbClr>
          </a:solidFill>
        </p:spPr>
        <p:txBody>
          <a:bodyPr vert="horz" wrap="square" lIns="0" tIns="8255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650"/>
              </a:spcBef>
            </a:pPr>
            <a:r>
              <a:rPr sz="1300" spc="-105" dirty="0">
                <a:solidFill>
                  <a:srgbClr val="0052CC"/>
                </a:solidFill>
                <a:latin typeface="Arial"/>
                <a:cs typeface="Arial"/>
              </a:rPr>
              <a:t>Segura</a:t>
            </a:r>
            <a:r>
              <a:rPr sz="1300" spc="-10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75" dirty="0">
                <a:solidFill>
                  <a:srgbClr val="0052CC"/>
                </a:solidFill>
                <a:latin typeface="Arial"/>
                <a:cs typeface="Arial"/>
              </a:rPr>
              <a:t>Garcia</a:t>
            </a:r>
            <a:r>
              <a:rPr sz="1300" spc="-9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0052CC"/>
                </a:solidFill>
                <a:latin typeface="Arial"/>
                <a:cs typeface="Arial"/>
              </a:rPr>
              <a:t>(Agent</a:t>
            </a:r>
            <a:r>
              <a:rPr sz="1300" spc="-9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0052CC"/>
                </a:solidFill>
                <a:latin typeface="Arial"/>
                <a:cs typeface="Arial"/>
              </a:rPr>
              <a:t>29):</a:t>
            </a:r>
            <a:r>
              <a:rPr sz="1300" spc="-9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Excellent</a:t>
            </a:r>
            <a:r>
              <a:rPr sz="1200" spc="-4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balance</a:t>
            </a:r>
            <a:r>
              <a:rPr sz="1200" spc="-4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25" dirty="0">
                <a:solidFill>
                  <a:srgbClr val="0A3C7B"/>
                </a:solidFill>
                <a:latin typeface="Lato"/>
                <a:cs typeface="Lato"/>
              </a:rPr>
              <a:t>of</a:t>
            </a:r>
            <a:r>
              <a:rPr sz="1200" spc="-4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20" dirty="0">
                <a:solidFill>
                  <a:srgbClr val="0A3C7B"/>
                </a:solidFill>
                <a:latin typeface="Lato"/>
                <a:cs typeface="Lato"/>
              </a:rPr>
              <a:t>speed</a:t>
            </a:r>
            <a:r>
              <a:rPr sz="1200" spc="-4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and</a:t>
            </a:r>
            <a:r>
              <a:rPr sz="1200" spc="-4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quality</a:t>
            </a:r>
            <a:endParaRPr sz="1200">
              <a:latin typeface="Lato"/>
              <a:cs typeface="Lat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968498" y="4551977"/>
            <a:ext cx="28575" cy="288000"/>
          </a:xfrm>
          <a:custGeom>
            <a:avLst/>
            <a:gdLst/>
            <a:ahLst/>
            <a:cxnLst/>
            <a:rect l="l" t="t" r="r" b="b"/>
            <a:pathLst>
              <a:path w="28575" h="381000">
                <a:moveTo>
                  <a:pt x="28574" y="380999"/>
                </a:moveTo>
                <a:lnTo>
                  <a:pt x="0" y="380999"/>
                </a:lnTo>
                <a:lnTo>
                  <a:pt x="0" y="0"/>
                </a:lnTo>
                <a:lnTo>
                  <a:pt x="28574" y="0"/>
                </a:lnTo>
                <a:lnTo>
                  <a:pt x="28574" y="380999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968498" y="4986182"/>
            <a:ext cx="28575" cy="288000"/>
          </a:xfrm>
          <a:custGeom>
            <a:avLst/>
            <a:gdLst/>
            <a:ahLst/>
            <a:cxnLst/>
            <a:rect l="l" t="t" r="r" b="b"/>
            <a:pathLst>
              <a:path w="28575" h="381000">
                <a:moveTo>
                  <a:pt x="28574" y="380999"/>
                </a:moveTo>
                <a:lnTo>
                  <a:pt x="0" y="380999"/>
                </a:lnTo>
                <a:lnTo>
                  <a:pt x="0" y="0"/>
                </a:lnTo>
                <a:lnTo>
                  <a:pt x="28574" y="0"/>
                </a:lnTo>
                <a:lnTo>
                  <a:pt x="28574" y="380999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 flipH="1">
            <a:off x="6971040" y="5408731"/>
            <a:ext cx="28800" cy="283411"/>
          </a:xfrm>
          <a:custGeom>
            <a:avLst/>
            <a:gdLst/>
            <a:ahLst/>
            <a:cxnLst/>
            <a:rect l="l" t="t" r="r" b="b"/>
            <a:pathLst>
              <a:path w="28575" h="381000">
                <a:moveTo>
                  <a:pt x="28574" y="380999"/>
                </a:moveTo>
                <a:lnTo>
                  <a:pt x="0" y="380999"/>
                </a:lnTo>
                <a:lnTo>
                  <a:pt x="0" y="0"/>
                </a:lnTo>
                <a:lnTo>
                  <a:pt x="28574" y="0"/>
                </a:lnTo>
                <a:lnTo>
                  <a:pt x="28574" y="380999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993900" y="3903297"/>
            <a:ext cx="3176905" cy="61747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spc="355" dirty="0">
                <a:solidFill>
                  <a:srgbClr val="0052CC"/>
                </a:solidFill>
                <a:latin typeface="DejaVu Sans"/>
                <a:cs typeface="DejaVu Sans"/>
              </a:rPr>
              <a:t>⚠</a:t>
            </a:r>
            <a:r>
              <a:rPr sz="2100" spc="-160" dirty="0">
                <a:solidFill>
                  <a:srgbClr val="0052CC"/>
                </a:solidFill>
                <a:latin typeface="DejaVu Sans"/>
                <a:cs typeface="DejaVu Sans"/>
              </a:rPr>
              <a:t> </a:t>
            </a:r>
            <a:r>
              <a:rPr sz="1800" b="1" spc="254" dirty="0">
                <a:solidFill>
                  <a:srgbClr val="0052CC"/>
                </a:solidFill>
                <a:latin typeface="Calibri"/>
                <a:cs typeface="Calibri"/>
              </a:rPr>
              <a:t>BOTTOM</a:t>
            </a:r>
            <a:r>
              <a:rPr sz="1800" b="1" spc="100" dirty="0">
                <a:solidFill>
                  <a:srgbClr val="0052CC"/>
                </a:solidFill>
                <a:latin typeface="Calibri"/>
                <a:cs typeface="Calibri"/>
              </a:rPr>
              <a:t> </a:t>
            </a:r>
            <a:r>
              <a:rPr sz="1800" b="1" spc="285" dirty="0">
                <a:solidFill>
                  <a:srgbClr val="0052CC"/>
                </a:solidFill>
                <a:latin typeface="Calibri"/>
                <a:cs typeface="Calibri"/>
              </a:rPr>
              <a:t>PERFORMERS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993902" y="4561695"/>
            <a:ext cx="4455148" cy="283411"/>
          </a:xfrm>
          <a:prstGeom prst="rect">
            <a:avLst/>
          </a:prstGeom>
          <a:solidFill>
            <a:srgbClr val="81B0E3">
              <a:alpha val="10198"/>
            </a:srgbClr>
          </a:solidFill>
        </p:spPr>
        <p:txBody>
          <a:bodyPr vert="horz" wrap="square" lIns="0" tIns="8255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650"/>
              </a:spcBef>
            </a:pPr>
            <a:r>
              <a:rPr sz="1300" spc="-90" dirty="0">
                <a:solidFill>
                  <a:srgbClr val="0052CC"/>
                </a:solidFill>
                <a:latin typeface="Arial"/>
                <a:cs typeface="Arial"/>
              </a:rPr>
              <a:t>Elena</a:t>
            </a:r>
            <a:r>
              <a:rPr sz="1300" spc="-9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85" dirty="0">
                <a:solidFill>
                  <a:srgbClr val="0052CC"/>
                </a:solidFill>
                <a:latin typeface="Arial"/>
                <a:cs typeface="Arial"/>
              </a:rPr>
              <a:t>Velez</a:t>
            </a:r>
            <a:r>
              <a:rPr sz="1300" spc="-9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0052CC"/>
                </a:solidFill>
                <a:latin typeface="Arial"/>
                <a:cs typeface="Arial"/>
              </a:rPr>
              <a:t>(Agent</a:t>
            </a:r>
            <a:r>
              <a:rPr sz="1300" spc="-9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65" dirty="0">
                <a:solidFill>
                  <a:srgbClr val="0052CC"/>
                </a:solidFill>
                <a:latin typeface="Arial"/>
                <a:cs typeface="Arial"/>
              </a:rPr>
              <a:t>3):</a:t>
            </a:r>
            <a:r>
              <a:rPr sz="1300" spc="-9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A3C7B"/>
                </a:solidFill>
                <a:latin typeface="Lato"/>
                <a:cs typeface="Lato"/>
              </a:rPr>
              <a:t>Res</a:t>
            </a:r>
            <a:r>
              <a:rPr sz="1200" spc="-4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Time</a:t>
            </a:r>
            <a:r>
              <a:rPr sz="1200" spc="-4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&gt;</a:t>
            </a:r>
            <a:r>
              <a:rPr sz="1200" spc="-4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25" dirty="0">
                <a:solidFill>
                  <a:srgbClr val="0A3C7B"/>
                </a:solidFill>
                <a:latin typeface="Lato"/>
                <a:cs typeface="Lato"/>
              </a:rPr>
              <a:t>5.3d,</a:t>
            </a:r>
            <a:r>
              <a:rPr sz="1200" spc="-4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Satisfaction</a:t>
            </a:r>
            <a:r>
              <a:rPr sz="1200" spc="-4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&lt;</a:t>
            </a:r>
            <a:r>
              <a:rPr sz="1200" spc="-4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25" dirty="0">
                <a:solidFill>
                  <a:srgbClr val="0A3C7B"/>
                </a:solidFill>
                <a:latin typeface="Lato"/>
                <a:cs typeface="Lato"/>
              </a:rPr>
              <a:t>3.6</a:t>
            </a:r>
            <a:endParaRPr sz="1200" dirty="0">
              <a:latin typeface="Lato"/>
              <a:cs typeface="La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65327" y="4989969"/>
            <a:ext cx="4483724" cy="283411"/>
          </a:xfrm>
          <a:prstGeom prst="rect">
            <a:avLst/>
          </a:prstGeom>
          <a:solidFill>
            <a:srgbClr val="81B0E3">
              <a:alpha val="10198"/>
            </a:srgbClr>
          </a:solidFill>
        </p:spPr>
        <p:txBody>
          <a:bodyPr vert="horz" wrap="square" lIns="0" tIns="8255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650"/>
              </a:spcBef>
            </a:pPr>
            <a:r>
              <a:rPr sz="1300" spc="-75" dirty="0">
                <a:solidFill>
                  <a:srgbClr val="0052CC"/>
                </a:solidFill>
                <a:latin typeface="Arial"/>
                <a:cs typeface="Arial"/>
              </a:rPr>
              <a:t>Lorena</a:t>
            </a:r>
            <a:r>
              <a:rPr sz="1300" spc="-10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0052CC"/>
                </a:solidFill>
                <a:latin typeface="Arial"/>
                <a:cs typeface="Arial"/>
              </a:rPr>
              <a:t>(Agent</a:t>
            </a:r>
            <a:r>
              <a:rPr sz="1300" spc="-9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0052CC"/>
                </a:solidFill>
                <a:latin typeface="Arial"/>
                <a:cs typeface="Arial"/>
              </a:rPr>
              <a:t>22):</a:t>
            </a:r>
            <a:r>
              <a:rPr sz="1300" spc="-9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A3C7B"/>
                </a:solidFill>
                <a:latin typeface="Lato"/>
                <a:cs typeface="Lato"/>
              </a:rPr>
              <a:t>Consistently</a:t>
            </a:r>
            <a:r>
              <a:rPr sz="1200" spc="-4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low</a:t>
            </a:r>
            <a:r>
              <a:rPr sz="1200" spc="-4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performance</a:t>
            </a:r>
            <a:r>
              <a:rPr sz="1200" spc="-4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A3C7B"/>
                </a:solidFill>
                <a:latin typeface="Lato"/>
                <a:cs typeface="Lato"/>
              </a:rPr>
              <a:t>across</a:t>
            </a:r>
            <a:r>
              <a:rPr sz="1200" spc="-4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metrics</a:t>
            </a:r>
            <a:endParaRPr sz="1200" dirty="0">
              <a:latin typeface="Lato"/>
              <a:cs typeface="La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993901" y="5408731"/>
            <a:ext cx="4455149" cy="283411"/>
          </a:xfrm>
          <a:prstGeom prst="rect">
            <a:avLst/>
          </a:prstGeom>
          <a:solidFill>
            <a:srgbClr val="81B0E3">
              <a:alpha val="10198"/>
            </a:srgbClr>
          </a:solidFill>
        </p:spPr>
        <p:txBody>
          <a:bodyPr vert="horz" wrap="square" lIns="0" tIns="8255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650"/>
              </a:spcBef>
            </a:pPr>
            <a:r>
              <a:rPr sz="1300" spc="-20" dirty="0">
                <a:solidFill>
                  <a:srgbClr val="0052CC"/>
                </a:solidFill>
                <a:latin typeface="Arial"/>
                <a:cs typeface="Arial"/>
              </a:rPr>
              <a:t>Nurio</a:t>
            </a:r>
            <a:r>
              <a:rPr sz="1300" spc="-10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90" dirty="0">
                <a:solidFill>
                  <a:srgbClr val="0052CC"/>
                </a:solidFill>
                <a:latin typeface="Arial"/>
                <a:cs typeface="Arial"/>
              </a:rPr>
              <a:t>Zepeda</a:t>
            </a:r>
            <a:r>
              <a:rPr sz="1300" spc="-10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0052CC"/>
                </a:solidFill>
                <a:latin typeface="Arial"/>
                <a:cs typeface="Arial"/>
              </a:rPr>
              <a:t>(Agent</a:t>
            </a:r>
            <a:r>
              <a:rPr sz="1300" spc="-9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55" dirty="0">
                <a:solidFill>
                  <a:srgbClr val="0052CC"/>
                </a:solidFill>
                <a:latin typeface="Arial"/>
                <a:cs typeface="Arial"/>
              </a:rPr>
              <a:t>28):</a:t>
            </a:r>
            <a:r>
              <a:rPr sz="1300" spc="-10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High</a:t>
            </a:r>
            <a:r>
              <a:rPr sz="1200" spc="-5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A3C7B"/>
                </a:solidFill>
                <a:latin typeface="Lato"/>
                <a:cs typeface="Lato"/>
              </a:rPr>
              <a:t>res</a:t>
            </a:r>
            <a:r>
              <a:rPr sz="1200" spc="-4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time,</a:t>
            </a:r>
            <a:r>
              <a:rPr sz="1200" spc="-5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low</a:t>
            </a:r>
            <a:r>
              <a:rPr sz="1200" spc="-5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satisfaction</a:t>
            </a:r>
            <a:endParaRPr sz="1200" dirty="0">
              <a:latin typeface="Lato"/>
              <a:cs typeface="Lato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030073" y="6615897"/>
            <a:ext cx="114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52CC"/>
                </a:solidFill>
                <a:latin typeface="Lato"/>
                <a:cs typeface="Lato"/>
              </a:rPr>
              <a:t>9</a:t>
            </a:r>
            <a:endParaRPr sz="1200" dirty="0">
              <a:latin typeface="Lato"/>
              <a:cs typeface="Lato"/>
            </a:endParaRPr>
          </a:p>
        </p:txBody>
      </p:sp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A95EC078-0FD7-4EFA-9F16-1C30C676C2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0540016"/>
              </p:ext>
            </p:extLst>
          </p:nvPr>
        </p:nvGraphicFramePr>
        <p:xfrm>
          <a:off x="5915025" y="924976"/>
          <a:ext cx="6090286" cy="219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Arrow: Left 3">
            <a:extLst>
              <a:ext uri="{FF2B5EF4-FFF2-40B4-BE49-F238E27FC236}">
                <a16:creationId xmlns:a16="http://schemas.microsoft.com/office/drawing/2014/main" id="{C4B2A33F-E55E-42CC-A58B-8507D464FA43}"/>
              </a:ext>
            </a:extLst>
          </p:cNvPr>
          <p:cNvSpPr/>
          <p:nvPr/>
        </p:nvSpPr>
        <p:spPr>
          <a:xfrm>
            <a:off x="5355445" y="2016683"/>
            <a:ext cx="504000" cy="220774"/>
          </a:xfrm>
          <a:prstGeom prst="leftArrow">
            <a:avLst/>
          </a:prstGeom>
          <a:ln>
            <a:solidFill>
              <a:srgbClr val="2D4B7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39">
            <a:extLst>
              <a:ext uri="{FF2B5EF4-FFF2-40B4-BE49-F238E27FC236}">
                <a16:creationId xmlns:a16="http://schemas.microsoft.com/office/drawing/2014/main" id="{C4CAA17B-DA8D-48DC-94FC-0B57973E72FD}"/>
              </a:ext>
            </a:extLst>
          </p:cNvPr>
          <p:cNvSpPr/>
          <p:nvPr/>
        </p:nvSpPr>
        <p:spPr>
          <a:xfrm>
            <a:off x="9218930" y="0"/>
            <a:ext cx="2973070" cy="2496820"/>
          </a:xfrm>
          <a:custGeom>
            <a:avLst/>
            <a:gdLst/>
            <a:ahLst/>
            <a:cxnLst/>
            <a:rect l="l" t="t" r="r" b="b"/>
            <a:pathLst>
              <a:path w="2973070" h="2496820">
                <a:moveTo>
                  <a:pt x="2020557" y="2496807"/>
                </a:moveTo>
                <a:lnTo>
                  <a:pt x="0" y="476250"/>
                </a:lnTo>
                <a:lnTo>
                  <a:pt x="476250" y="0"/>
                </a:lnTo>
                <a:lnTo>
                  <a:pt x="2973057" y="0"/>
                </a:lnTo>
                <a:lnTo>
                  <a:pt x="2973057" y="1544307"/>
                </a:lnTo>
                <a:lnTo>
                  <a:pt x="2020557" y="2496807"/>
                </a:lnTo>
                <a:close/>
              </a:path>
            </a:pathLst>
          </a:custGeom>
          <a:solidFill>
            <a:srgbClr val="4A8FE2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9">
            <a:extLst>
              <a:ext uri="{FF2B5EF4-FFF2-40B4-BE49-F238E27FC236}">
                <a16:creationId xmlns:a16="http://schemas.microsoft.com/office/drawing/2014/main" id="{A91E77D3-226F-48F2-8CE9-70929C26616D}"/>
              </a:ext>
            </a:extLst>
          </p:cNvPr>
          <p:cNvSpPr/>
          <p:nvPr/>
        </p:nvSpPr>
        <p:spPr>
          <a:xfrm rot="10800000">
            <a:off x="0" y="4266406"/>
            <a:ext cx="2973070" cy="2496820"/>
          </a:xfrm>
          <a:custGeom>
            <a:avLst/>
            <a:gdLst/>
            <a:ahLst/>
            <a:cxnLst/>
            <a:rect l="l" t="t" r="r" b="b"/>
            <a:pathLst>
              <a:path w="2973070" h="2496820">
                <a:moveTo>
                  <a:pt x="2020557" y="2496807"/>
                </a:moveTo>
                <a:lnTo>
                  <a:pt x="0" y="476250"/>
                </a:lnTo>
                <a:lnTo>
                  <a:pt x="476250" y="0"/>
                </a:lnTo>
                <a:lnTo>
                  <a:pt x="2973057" y="0"/>
                </a:lnTo>
                <a:lnTo>
                  <a:pt x="2973057" y="1544307"/>
                </a:lnTo>
                <a:lnTo>
                  <a:pt x="2020557" y="2496807"/>
                </a:lnTo>
                <a:close/>
              </a:path>
            </a:pathLst>
          </a:custGeom>
          <a:solidFill>
            <a:srgbClr val="4A8FE2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Rectangle: Diagonal Corners Snipped 11">
            <a:extLst>
              <a:ext uri="{FF2B5EF4-FFF2-40B4-BE49-F238E27FC236}">
                <a16:creationId xmlns:a16="http://schemas.microsoft.com/office/drawing/2014/main" id="{1837FDA2-5D66-4A3F-B14B-4F5BB235DD73}"/>
              </a:ext>
            </a:extLst>
          </p:cNvPr>
          <p:cNvSpPr/>
          <p:nvPr/>
        </p:nvSpPr>
        <p:spPr>
          <a:xfrm flipH="1">
            <a:off x="274291" y="2971007"/>
            <a:ext cx="5549639" cy="2438400"/>
          </a:xfrm>
          <a:prstGeom prst="snip2DiagRect">
            <a:avLst/>
          </a:prstGeom>
          <a:solidFill>
            <a:srgbClr val="F2F7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4324" y="451556"/>
            <a:ext cx="5188585" cy="84645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204"/>
              </a:spcBef>
            </a:pPr>
            <a:r>
              <a:rPr spc="415" dirty="0">
                <a:solidFill>
                  <a:srgbClr val="0A3C7B"/>
                </a:solidFill>
              </a:rPr>
              <a:t>DEMOGRAPHICS</a:t>
            </a:r>
            <a:r>
              <a:rPr spc="160" dirty="0">
                <a:solidFill>
                  <a:srgbClr val="0A3C7B"/>
                </a:solidFill>
              </a:rPr>
              <a:t> </a:t>
            </a:r>
            <a:r>
              <a:rPr spc="330" dirty="0">
                <a:solidFill>
                  <a:srgbClr val="0A3C7B"/>
                </a:solidFill>
              </a:rPr>
              <a:t>IMPACT</a:t>
            </a:r>
            <a:r>
              <a:rPr spc="160" dirty="0">
                <a:solidFill>
                  <a:srgbClr val="0A3C7B"/>
                </a:solidFill>
              </a:rPr>
              <a:t> </a:t>
            </a:r>
            <a:r>
              <a:rPr spc="385" dirty="0">
                <a:solidFill>
                  <a:srgbClr val="0A3C7B"/>
                </a:solidFill>
              </a:rPr>
              <a:t>ON </a:t>
            </a:r>
            <a:r>
              <a:rPr spc="430" dirty="0">
                <a:solidFill>
                  <a:srgbClr val="0A3C7B"/>
                </a:solidFill>
              </a:rPr>
              <a:t>PERFORMANCE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9296" y="1447006"/>
            <a:ext cx="5348605" cy="50165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>
              <a:lnSpc>
                <a:spcPct val="121800"/>
              </a:lnSpc>
              <a:spcBef>
                <a:spcPts val="165"/>
              </a:spcBef>
            </a:pPr>
            <a:r>
              <a:rPr sz="1300" spc="-90" dirty="0">
                <a:solidFill>
                  <a:srgbClr val="0052CC"/>
                </a:solidFill>
                <a:latin typeface="Arial"/>
                <a:cs typeface="Arial"/>
              </a:rPr>
              <a:t>Age</a:t>
            </a:r>
            <a:r>
              <a:rPr sz="1300" spc="-8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70" dirty="0">
                <a:solidFill>
                  <a:srgbClr val="0052CC"/>
                </a:solidFill>
                <a:latin typeface="Arial"/>
                <a:cs typeface="Arial"/>
              </a:rPr>
              <a:t>Analysis:</a:t>
            </a:r>
            <a:r>
              <a:rPr sz="1300" spc="-7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Examining</a:t>
            </a:r>
            <a:r>
              <a:rPr sz="1200" spc="-3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25" dirty="0">
                <a:solidFill>
                  <a:srgbClr val="0A3C7B"/>
                </a:solidFill>
                <a:latin typeface="Lato"/>
                <a:cs typeface="Lato"/>
              </a:rPr>
              <a:t>how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agent</a:t>
            </a:r>
            <a:r>
              <a:rPr sz="1200" spc="-3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age</a:t>
            </a:r>
            <a:r>
              <a:rPr sz="1200" spc="-2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impacts</a:t>
            </a:r>
            <a:r>
              <a:rPr sz="1200" spc="-2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A3C7B"/>
                </a:solidFill>
                <a:latin typeface="Lato"/>
                <a:cs typeface="Lato"/>
              </a:rPr>
              <a:t>resolution</a:t>
            </a:r>
            <a:r>
              <a:rPr sz="1200" spc="-3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time,</a:t>
            </a:r>
            <a:r>
              <a:rPr sz="1200" spc="-2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satisfaction,</a:t>
            </a:r>
            <a:r>
              <a:rPr sz="1200" spc="-3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25" dirty="0">
                <a:solidFill>
                  <a:srgbClr val="0A3C7B"/>
                </a:solidFill>
                <a:latin typeface="Lato"/>
                <a:cs typeface="Lato"/>
              </a:rPr>
              <a:t>and </a:t>
            </a:r>
            <a:r>
              <a:rPr sz="1200" dirty="0">
                <a:solidFill>
                  <a:srgbClr val="0A3C7B"/>
                </a:solidFill>
                <a:latin typeface="Lato"/>
                <a:cs typeface="Lato"/>
              </a:rPr>
              <a:t>ticket</a:t>
            </a:r>
            <a:r>
              <a:rPr sz="1200" spc="-8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volume</a:t>
            </a:r>
            <a:endParaRPr sz="1200" dirty="0">
              <a:latin typeface="Lato"/>
              <a:cs typeface="La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5988" y="3210839"/>
            <a:ext cx="913130" cy="21736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b="1" spc="-85" dirty="0">
                <a:solidFill>
                  <a:srgbClr val="0052CC"/>
                </a:solidFill>
                <a:latin typeface="Arial"/>
                <a:cs typeface="Arial"/>
              </a:rPr>
              <a:t>Key</a:t>
            </a:r>
            <a:r>
              <a:rPr sz="1300" b="1" spc="-10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lang="en-IN" sz="1300" b="1" spc="-105" dirty="0">
                <a:solidFill>
                  <a:srgbClr val="0052CC"/>
                </a:solidFill>
                <a:latin typeface="Arial"/>
                <a:cs typeface="Arial"/>
              </a:rPr>
              <a:t>Insights</a:t>
            </a:r>
            <a:r>
              <a:rPr sz="1300" b="1" spc="-60" dirty="0">
                <a:solidFill>
                  <a:srgbClr val="0052CC"/>
                </a:solidFill>
                <a:latin typeface="Arial"/>
                <a:cs typeface="Arial"/>
              </a:rPr>
              <a:t>:</a:t>
            </a:r>
            <a:endParaRPr sz="1300" b="1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5988" y="3612060"/>
            <a:ext cx="5192671" cy="1308692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84150" marR="116839" indent="-171450">
              <a:lnSpc>
                <a:spcPct val="121800"/>
              </a:lnSpc>
              <a:spcBef>
                <a:spcPts val="165"/>
              </a:spcBef>
              <a:buFont typeface="Arial" panose="020B0604020202020204" pitchFamily="34" charset="0"/>
              <a:buChar char="•"/>
            </a:pPr>
            <a:r>
              <a:rPr sz="1200" b="1" spc="-10" dirty="0">
                <a:solidFill>
                  <a:srgbClr val="0A3C7B"/>
                </a:solidFill>
                <a:latin typeface="Lato"/>
                <a:cs typeface="Lato"/>
              </a:rPr>
              <a:t>Agents</a:t>
            </a:r>
            <a:r>
              <a:rPr sz="1200" b="1" spc="-5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300" b="1" spc="-35" dirty="0">
                <a:solidFill>
                  <a:srgbClr val="0052CC"/>
                </a:solidFill>
                <a:latin typeface="Arial"/>
                <a:cs typeface="Arial"/>
              </a:rPr>
              <a:t>41-50</a:t>
            </a:r>
            <a:r>
              <a:rPr sz="1300" b="1" spc="-10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b="1" spc="-80" dirty="0">
                <a:solidFill>
                  <a:srgbClr val="0052CC"/>
                </a:solidFill>
                <a:latin typeface="Arial"/>
                <a:cs typeface="Arial"/>
              </a:rPr>
              <a:t>and</a:t>
            </a:r>
            <a:r>
              <a:rPr sz="1300" b="1" spc="-10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b="1" spc="-50" dirty="0">
                <a:solidFill>
                  <a:srgbClr val="0052CC"/>
                </a:solidFill>
                <a:latin typeface="Arial"/>
                <a:cs typeface="Arial"/>
              </a:rPr>
              <a:t>50+</a:t>
            </a:r>
            <a:r>
              <a:rPr sz="1300" b="1" spc="-11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A3C7B"/>
                </a:solidFill>
                <a:latin typeface="Lato"/>
                <a:cs typeface="Lato"/>
              </a:rPr>
              <a:t>are</a:t>
            </a:r>
            <a:r>
              <a:rPr sz="1200" b="1" spc="-5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b="1" spc="-10" dirty="0">
                <a:solidFill>
                  <a:srgbClr val="0A3C7B"/>
                </a:solidFill>
                <a:latin typeface="Lato"/>
                <a:cs typeface="Lato"/>
              </a:rPr>
              <a:t>most</a:t>
            </a:r>
            <a:r>
              <a:rPr sz="1200" b="1" spc="-5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b="1" spc="-10" dirty="0">
                <a:solidFill>
                  <a:srgbClr val="0A3C7B"/>
                </a:solidFill>
                <a:latin typeface="Lato"/>
                <a:cs typeface="Lato"/>
              </a:rPr>
              <a:t>efficient</a:t>
            </a:r>
            <a:r>
              <a:rPr sz="1200" b="1" spc="-6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b="1" dirty="0">
                <a:solidFill>
                  <a:srgbClr val="0A3C7B"/>
                </a:solidFill>
                <a:latin typeface="Lato"/>
                <a:cs typeface="Lato"/>
              </a:rPr>
              <a:t>with</a:t>
            </a:r>
            <a:r>
              <a:rPr sz="1200" b="1" spc="-5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b="1" dirty="0">
                <a:solidFill>
                  <a:srgbClr val="0A3C7B"/>
                </a:solidFill>
                <a:latin typeface="Lato"/>
                <a:cs typeface="Lato"/>
              </a:rPr>
              <a:t>fastest</a:t>
            </a:r>
            <a:r>
              <a:rPr sz="1200" b="1" spc="-5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b="1" dirty="0">
                <a:solidFill>
                  <a:srgbClr val="0A3C7B"/>
                </a:solidFill>
                <a:latin typeface="Lato"/>
                <a:cs typeface="Lato"/>
              </a:rPr>
              <a:t>resolution</a:t>
            </a:r>
            <a:r>
              <a:rPr sz="1200" b="1" spc="-6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b="1" dirty="0">
                <a:solidFill>
                  <a:srgbClr val="0A3C7B"/>
                </a:solidFill>
                <a:latin typeface="Lato"/>
                <a:cs typeface="Lato"/>
              </a:rPr>
              <a:t>times</a:t>
            </a:r>
            <a:r>
              <a:rPr sz="1200" b="1" spc="-5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b="1" spc="-25" dirty="0">
                <a:solidFill>
                  <a:srgbClr val="0A3C7B"/>
                </a:solidFill>
                <a:latin typeface="Lato"/>
                <a:cs typeface="Lato"/>
              </a:rPr>
              <a:t>and </a:t>
            </a:r>
            <a:r>
              <a:rPr sz="1200" b="1" spc="-10" dirty="0">
                <a:solidFill>
                  <a:srgbClr val="0A3C7B"/>
                </a:solidFill>
                <a:latin typeface="Lato"/>
                <a:cs typeface="Lato"/>
              </a:rPr>
              <a:t>highest</a:t>
            </a:r>
            <a:r>
              <a:rPr sz="1200" b="1" spc="-5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b="1" dirty="0">
                <a:solidFill>
                  <a:srgbClr val="0A3C7B"/>
                </a:solidFill>
                <a:latin typeface="Lato"/>
                <a:cs typeface="Lato"/>
              </a:rPr>
              <a:t>satisfaction</a:t>
            </a:r>
            <a:r>
              <a:rPr sz="1200" b="1" spc="-5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b="1" spc="-10" dirty="0">
                <a:solidFill>
                  <a:srgbClr val="0A3C7B"/>
                </a:solidFill>
                <a:latin typeface="Lato"/>
                <a:cs typeface="Lato"/>
              </a:rPr>
              <a:t>ratings</a:t>
            </a:r>
            <a:endParaRPr sz="1200" b="1" dirty="0">
              <a:latin typeface="Lato"/>
              <a:cs typeface="Lato"/>
            </a:endParaRPr>
          </a:p>
          <a:p>
            <a:pPr marL="184150" marR="5080" indent="-171450">
              <a:lnSpc>
                <a:spcPct val="121800"/>
              </a:lnSpc>
              <a:spcBef>
                <a:spcPts val="520"/>
              </a:spcBef>
              <a:buFont typeface="Arial" panose="020B0604020202020204" pitchFamily="34" charset="0"/>
              <a:buChar char="•"/>
            </a:pPr>
            <a:r>
              <a:rPr sz="1200" b="1" spc="-10" dirty="0">
                <a:solidFill>
                  <a:srgbClr val="0A3C7B"/>
                </a:solidFill>
                <a:latin typeface="Lato"/>
                <a:cs typeface="Lato"/>
              </a:rPr>
              <a:t>Agents</a:t>
            </a:r>
            <a:r>
              <a:rPr sz="1200" b="1" spc="-4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300" b="1" spc="-35" dirty="0">
                <a:solidFill>
                  <a:srgbClr val="0052CC"/>
                </a:solidFill>
                <a:latin typeface="Arial"/>
                <a:cs typeface="Arial"/>
              </a:rPr>
              <a:t>30-41</a:t>
            </a:r>
            <a:r>
              <a:rPr sz="1300" b="1" spc="-10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0A3C7B"/>
                </a:solidFill>
                <a:latin typeface="Lato"/>
                <a:cs typeface="Lato"/>
              </a:rPr>
              <a:t>show</a:t>
            </a:r>
            <a:r>
              <a:rPr sz="1200" b="1" spc="-5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b="1" spc="-10" dirty="0">
                <a:solidFill>
                  <a:srgbClr val="0A3C7B"/>
                </a:solidFill>
                <a:latin typeface="Lato"/>
                <a:cs typeface="Lato"/>
              </a:rPr>
              <a:t>slowest</a:t>
            </a:r>
            <a:r>
              <a:rPr sz="1200" b="1" spc="-5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b="1" dirty="0">
                <a:solidFill>
                  <a:srgbClr val="0A3C7B"/>
                </a:solidFill>
                <a:latin typeface="Lato"/>
                <a:cs typeface="Lato"/>
              </a:rPr>
              <a:t>resolution</a:t>
            </a:r>
            <a:r>
              <a:rPr sz="1200" b="1" spc="-5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b="1" dirty="0">
                <a:solidFill>
                  <a:srgbClr val="0A3C7B"/>
                </a:solidFill>
                <a:latin typeface="Lato"/>
                <a:cs typeface="Lato"/>
              </a:rPr>
              <a:t>times</a:t>
            </a:r>
            <a:r>
              <a:rPr sz="1200" b="1" spc="-5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b="1" spc="-10" dirty="0">
                <a:solidFill>
                  <a:srgbClr val="0A3C7B"/>
                </a:solidFill>
                <a:latin typeface="Lato"/>
                <a:cs typeface="Lato"/>
              </a:rPr>
              <a:t>and</a:t>
            </a:r>
            <a:r>
              <a:rPr sz="1200" b="1" spc="-5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b="1" spc="-10" dirty="0">
                <a:solidFill>
                  <a:srgbClr val="0A3C7B"/>
                </a:solidFill>
                <a:latin typeface="Lato"/>
                <a:cs typeface="Lato"/>
              </a:rPr>
              <a:t>lowest</a:t>
            </a:r>
            <a:r>
              <a:rPr sz="1200" b="1" spc="-4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b="1" dirty="0">
                <a:solidFill>
                  <a:srgbClr val="0A3C7B"/>
                </a:solidFill>
                <a:latin typeface="Lato"/>
                <a:cs typeface="Lato"/>
              </a:rPr>
              <a:t>satisfaction</a:t>
            </a:r>
            <a:r>
              <a:rPr sz="1200" b="1" spc="-5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b="1" spc="-10" dirty="0">
                <a:solidFill>
                  <a:srgbClr val="0A3C7B"/>
                </a:solidFill>
                <a:latin typeface="Lato"/>
                <a:cs typeface="Lato"/>
              </a:rPr>
              <a:t>ratings despite</a:t>
            </a:r>
            <a:r>
              <a:rPr sz="1200" b="1" spc="-1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b="1" spc="-10" dirty="0">
                <a:solidFill>
                  <a:srgbClr val="0A3C7B"/>
                </a:solidFill>
                <a:latin typeface="Lato"/>
                <a:cs typeface="Lato"/>
              </a:rPr>
              <a:t>handling</a:t>
            </a:r>
            <a:r>
              <a:rPr sz="1200" b="1" spc="-1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b="1" spc="-10" dirty="0">
                <a:solidFill>
                  <a:srgbClr val="0A3C7B"/>
                </a:solidFill>
                <a:latin typeface="Lato"/>
                <a:cs typeface="Lato"/>
              </a:rPr>
              <a:t>significant</a:t>
            </a:r>
            <a:r>
              <a:rPr sz="1200" b="1" spc="-1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b="1" spc="-10" dirty="0">
                <a:solidFill>
                  <a:srgbClr val="0A3C7B"/>
                </a:solidFill>
                <a:latin typeface="Lato"/>
                <a:cs typeface="Lato"/>
              </a:rPr>
              <a:t>volume</a:t>
            </a:r>
            <a:endParaRPr sz="1200" b="1" dirty="0">
              <a:latin typeface="Lato"/>
              <a:cs typeface="Lato"/>
            </a:endParaRPr>
          </a:p>
          <a:p>
            <a:pPr marL="184150" marR="485775" indent="-17145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2D4B71"/>
                </a:solidFill>
              </a:rPr>
              <a:t>Older agents excel; younger need guidance</a:t>
            </a:r>
            <a:endParaRPr sz="1200" b="1" dirty="0">
              <a:solidFill>
                <a:srgbClr val="2D4B71"/>
              </a:solidFill>
              <a:latin typeface="Lato"/>
              <a:cs typeface="La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58188" y="5078354"/>
            <a:ext cx="1521961" cy="21736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b="1" spc="-20" dirty="0">
                <a:solidFill>
                  <a:srgbClr val="0052CC"/>
                </a:solidFill>
                <a:latin typeface="Arial"/>
                <a:cs typeface="Arial"/>
              </a:rPr>
              <a:t>Interpretation</a:t>
            </a:r>
            <a:r>
              <a:rPr sz="1300" spc="-20" dirty="0">
                <a:solidFill>
                  <a:srgbClr val="0052CC"/>
                </a:solidFill>
                <a:latin typeface="Arial"/>
                <a:cs typeface="Arial"/>
              </a:rPr>
              <a:t>: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39799" y="5453371"/>
            <a:ext cx="34473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2D4B7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Experience boosts efficiency &amp; handling.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2D4B7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Mid-career need support; senior guide juniors.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011519" y="1029057"/>
            <a:ext cx="4562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75" dirty="0">
                <a:solidFill>
                  <a:srgbClr val="0052CC"/>
                </a:solidFill>
                <a:latin typeface="Calibri"/>
                <a:cs typeface="Calibri"/>
              </a:rPr>
              <a:t>AGE</a:t>
            </a:r>
            <a:r>
              <a:rPr sz="1800" b="1" spc="105" dirty="0">
                <a:solidFill>
                  <a:srgbClr val="0052CC"/>
                </a:solidFill>
                <a:latin typeface="Calibri"/>
                <a:cs typeface="Calibri"/>
              </a:rPr>
              <a:t> </a:t>
            </a:r>
            <a:r>
              <a:rPr sz="1800" b="1" spc="280" dirty="0">
                <a:solidFill>
                  <a:srgbClr val="0052CC"/>
                </a:solidFill>
                <a:latin typeface="Calibri"/>
                <a:cs typeface="Calibri"/>
              </a:rPr>
              <a:t>GROUP</a:t>
            </a:r>
            <a:r>
              <a:rPr sz="1800" b="1" spc="105" dirty="0">
                <a:solidFill>
                  <a:srgbClr val="0052CC"/>
                </a:solidFill>
                <a:latin typeface="Calibri"/>
                <a:cs typeface="Calibri"/>
              </a:rPr>
              <a:t> </a:t>
            </a:r>
            <a:r>
              <a:rPr sz="1800" b="1" spc="295" dirty="0">
                <a:solidFill>
                  <a:srgbClr val="0052CC"/>
                </a:solidFill>
                <a:latin typeface="Calibri"/>
                <a:cs typeface="Calibri"/>
              </a:rPr>
              <a:t>PERFORMANCE</a:t>
            </a:r>
            <a:r>
              <a:rPr sz="1800" b="1" spc="105" dirty="0">
                <a:solidFill>
                  <a:srgbClr val="0052CC"/>
                </a:solidFill>
                <a:latin typeface="Calibri"/>
                <a:cs typeface="Calibri"/>
              </a:rPr>
              <a:t> </a:t>
            </a:r>
            <a:r>
              <a:rPr sz="1800" b="1" spc="240" dirty="0">
                <a:solidFill>
                  <a:srgbClr val="0052CC"/>
                </a:solidFill>
                <a:latin typeface="Calibri"/>
                <a:cs typeface="Calibri"/>
              </a:rPr>
              <a:t>METRICS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1944187" y="6604697"/>
            <a:ext cx="202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52CC"/>
                </a:solidFill>
                <a:latin typeface="Lato"/>
                <a:cs typeface="Lato"/>
              </a:rPr>
              <a:t>10</a:t>
            </a:r>
            <a:endParaRPr sz="1200" dirty="0">
              <a:latin typeface="Lato"/>
              <a:cs typeface="Lato"/>
            </a:endParaRPr>
          </a:p>
        </p:txBody>
      </p:sp>
      <p:graphicFrame>
        <p:nvGraphicFramePr>
          <p:cNvPr id="55" name="Chart 54">
            <a:extLst>
              <a:ext uri="{FF2B5EF4-FFF2-40B4-BE49-F238E27FC236}">
                <a16:creationId xmlns:a16="http://schemas.microsoft.com/office/drawing/2014/main" id="{2765AAA5-83C8-4CE9-9C57-5C7C31F07F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790345"/>
              </p:ext>
            </p:extLst>
          </p:nvPr>
        </p:nvGraphicFramePr>
        <p:xfrm>
          <a:off x="6011519" y="1523206"/>
          <a:ext cx="6103949" cy="23359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89645172-C84A-433A-A51A-AD91D54045D5}"/>
              </a:ext>
            </a:extLst>
          </p:cNvPr>
          <p:cNvCxnSpPr>
            <a:cxnSpLocks/>
            <a:stCxn id="55" idx="2"/>
            <a:endCxn id="12" idx="2"/>
          </p:cNvCxnSpPr>
          <p:nvPr/>
        </p:nvCxnSpPr>
        <p:spPr>
          <a:xfrm rot="5400000">
            <a:off x="7278209" y="2404923"/>
            <a:ext cx="331006" cy="32395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3235" y="248902"/>
            <a:ext cx="11361565" cy="413768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35"/>
              </a:spcBef>
            </a:pPr>
            <a:r>
              <a:rPr spc="409" dirty="0">
                <a:solidFill>
                  <a:srgbClr val="0A3C7B"/>
                </a:solidFill>
              </a:rPr>
              <a:t>TARGETED</a:t>
            </a:r>
            <a:r>
              <a:rPr spc="160" dirty="0">
                <a:solidFill>
                  <a:srgbClr val="0A3C7B"/>
                </a:solidFill>
              </a:rPr>
              <a:t> </a:t>
            </a:r>
            <a:r>
              <a:rPr lang="en-US" spc="160" dirty="0">
                <a:solidFill>
                  <a:srgbClr val="0A3C7B"/>
                </a:solidFill>
              </a:rPr>
              <a:t> </a:t>
            </a:r>
            <a:r>
              <a:rPr spc="330" dirty="0">
                <a:solidFill>
                  <a:srgbClr val="0A3C7B"/>
                </a:solidFill>
              </a:rPr>
              <a:t>TRAINING</a:t>
            </a:r>
            <a:r>
              <a:rPr spc="165" dirty="0">
                <a:solidFill>
                  <a:srgbClr val="0A3C7B"/>
                </a:solidFill>
              </a:rPr>
              <a:t> </a:t>
            </a:r>
            <a:r>
              <a:rPr lang="en-US" spc="165" dirty="0">
                <a:solidFill>
                  <a:srgbClr val="0A3C7B"/>
                </a:solidFill>
              </a:rPr>
              <a:t> </a:t>
            </a:r>
            <a:r>
              <a:rPr spc="425" dirty="0">
                <a:solidFill>
                  <a:srgbClr val="0A3C7B"/>
                </a:solidFill>
              </a:rPr>
              <a:t>FOR </a:t>
            </a:r>
            <a:r>
              <a:rPr spc="409" dirty="0">
                <a:solidFill>
                  <a:srgbClr val="0A3C7B"/>
                </a:solidFill>
              </a:rPr>
              <a:t>UNDERPERFORMING</a:t>
            </a:r>
            <a:r>
              <a:rPr lang="en-US" spc="409" dirty="0">
                <a:solidFill>
                  <a:srgbClr val="0A3C7B"/>
                </a:solidFill>
              </a:rPr>
              <a:t> </a:t>
            </a:r>
            <a:r>
              <a:rPr spc="150" dirty="0">
                <a:solidFill>
                  <a:srgbClr val="0A3C7B"/>
                </a:solidFill>
              </a:rPr>
              <a:t> </a:t>
            </a:r>
            <a:r>
              <a:rPr spc="385" dirty="0">
                <a:solidFill>
                  <a:srgbClr val="0A3C7B"/>
                </a:solidFill>
              </a:rPr>
              <a:t>AGENTS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3235" y="699752"/>
            <a:ext cx="5206365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80" dirty="0">
                <a:solidFill>
                  <a:srgbClr val="0052CC"/>
                </a:solidFill>
                <a:latin typeface="Segoe UI Symbol"/>
                <a:cs typeface="Segoe UI Symbol"/>
              </a:rPr>
              <a:t>🎯</a:t>
            </a:r>
            <a:r>
              <a:rPr sz="1400" spc="-125" dirty="0">
                <a:solidFill>
                  <a:srgbClr val="0052CC"/>
                </a:solidFill>
                <a:latin typeface="Segoe UI Symbol"/>
                <a:cs typeface="Segoe UI Symbol"/>
              </a:rPr>
              <a:t> </a:t>
            </a:r>
            <a:r>
              <a:rPr sz="1300" spc="-45" dirty="0">
                <a:solidFill>
                  <a:srgbClr val="0052CC"/>
                </a:solidFill>
                <a:latin typeface="Arial"/>
                <a:cs typeface="Arial"/>
              </a:rPr>
              <a:t>Objective:</a:t>
            </a:r>
            <a:r>
              <a:rPr sz="1300" spc="-10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A3C7B"/>
                </a:solidFill>
                <a:latin typeface="Lato"/>
                <a:cs typeface="Lato"/>
              </a:rPr>
              <a:t>Identify</a:t>
            </a:r>
            <a:r>
              <a:rPr sz="1200" spc="-5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agents</a:t>
            </a:r>
            <a:r>
              <a:rPr sz="1200" spc="-5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needing</a:t>
            </a:r>
            <a:r>
              <a:rPr sz="1200" spc="-5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improvement</a:t>
            </a:r>
            <a:r>
              <a:rPr sz="1200" spc="-5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and</a:t>
            </a:r>
            <a:r>
              <a:rPr sz="1200" spc="-5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recommend</a:t>
            </a:r>
            <a:r>
              <a:rPr sz="1200" spc="-5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upskilling</a:t>
            </a:r>
            <a:endParaRPr sz="1200" dirty="0">
              <a:latin typeface="Lato"/>
              <a:cs typeface="La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53435" y="6156661"/>
            <a:ext cx="2798445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80" dirty="0">
                <a:solidFill>
                  <a:srgbClr val="0052CC"/>
                </a:solidFill>
                <a:latin typeface="Segoe UI Symbol"/>
                <a:cs typeface="Segoe UI Symbol"/>
              </a:rPr>
              <a:t>🚨</a:t>
            </a:r>
            <a:r>
              <a:rPr sz="1400" spc="-130" dirty="0">
                <a:solidFill>
                  <a:srgbClr val="0052CC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0052CC"/>
                </a:solidFill>
                <a:latin typeface="Arial"/>
                <a:cs typeface="Arial"/>
              </a:rPr>
              <a:t>Critical</a:t>
            </a:r>
            <a:r>
              <a:rPr sz="1300" spc="-10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125" dirty="0">
                <a:solidFill>
                  <a:srgbClr val="0052CC"/>
                </a:solidFill>
                <a:latin typeface="Arial"/>
                <a:cs typeface="Arial"/>
              </a:rPr>
              <a:t>Cases</a:t>
            </a:r>
            <a:r>
              <a:rPr sz="1300" spc="-10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A3C7B"/>
                </a:solidFill>
                <a:latin typeface="Lato"/>
                <a:cs typeface="Lato"/>
              </a:rPr>
              <a:t>(Appearing</a:t>
            </a:r>
            <a:r>
              <a:rPr sz="1200" spc="-5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A3C7B"/>
                </a:solidFill>
                <a:latin typeface="Lato"/>
                <a:cs typeface="Lato"/>
              </a:rPr>
              <a:t>in</a:t>
            </a:r>
            <a:r>
              <a:rPr sz="1200" spc="-5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both</a:t>
            </a:r>
            <a:r>
              <a:rPr sz="1200" spc="-5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lists):</a:t>
            </a:r>
            <a:endParaRPr sz="1200" dirty="0">
              <a:latin typeface="Lato"/>
              <a:cs typeface="La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80329" y="6399231"/>
            <a:ext cx="48126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Agents</a:t>
            </a:r>
            <a:r>
              <a:rPr sz="1200" spc="-6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20" dirty="0">
                <a:solidFill>
                  <a:srgbClr val="0A3C7B"/>
                </a:solidFill>
                <a:latin typeface="Lato"/>
                <a:cs typeface="Lato"/>
              </a:rPr>
              <a:t>3,</a:t>
            </a:r>
            <a:r>
              <a:rPr sz="1200" spc="-5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20" dirty="0">
                <a:solidFill>
                  <a:srgbClr val="0A3C7B"/>
                </a:solidFill>
                <a:latin typeface="Lato"/>
                <a:cs typeface="Lato"/>
              </a:rPr>
              <a:t>6,</a:t>
            </a:r>
            <a:r>
              <a:rPr sz="1200" spc="-6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20" dirty="0">
                <a:solidFill>
                  <a:srgbClr val="0A3C7B"/>
                </a:solidFill>
                <a:latin typeface="Lato"/>
                <a:cs typeface="Lato"/>
              </a:rPr>
              <a:t>22,</a:t>
            </a:r>
            <a:r>
              <a:rPr sz="1200" spc="-5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28</a:t>
            </a:r>
            <a:r>
              <a:rPr sz="1200" spc="-6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A3C7B"/>
                </a:solidFill>
                <a:latin typeface="Lato"/>
                <a:cs typeface="Lato"/>
              </a:rPr>
              <a:t>are</a:t>
            </a:r>
            <a:r>
              <a:rPr sz="1200" spc="-5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lagging</a:t>
            </a:r>
            <a:r>
              <a:rPr sz="1200" spc="-6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A3C7B"/>
                </a:solidFill>
                <a:latin typeface="Lato"/>
                <a:cs typeface="Lato"/>
              </a:rPr>
              <a:t>in</a:t>
            </a:r>
            <a:r>
              <a:rPr sz="1200" spc="-5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both</a:t>
            </a:r>
            <a:r>
              <a:rPr sz="1200" spc="-6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A3C7B"/>
                </a:solidFill>
                <a:latin typeface="Lato"/>
                <a:cs typeface="Lato"/>
              </a:rPr>
              <a:t>service</a:t>
            </a:r>
            <a:r>
              <a:rPr sz="1200" spc="-5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20" dirty="0">
                <a:solidFill>
                  <a:srgbClr val="0A3C7B"/>
                </a:solidFill>
                <a:latin typeface="Lato"/>
                <a:cs typeface="Lato"/>
              </a:rPr>
              <a:t>speed</a:t>
            </a:r>
            <a:r>
              <a:rPr sz="1200" spc="-6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and</a:t>
            </a:r>
            <a:r>
              <a:rPr sz="1200" spc="-55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A3C7B"/>
                </a:solidFill>
                <a:latin typeface="Lato"/>
                <a:cs typeface="Lato"/>
              </a:rPr>
              <a:t>user</a:t>
            </a:r>
            <a:r>
              <a:rPr sz="1200" spc="-60" dirty="0">
                <a:solidFill>
                  <a:srgbClr val="0A3C7B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A3C7B"/>
                </a:solidFill>
                <a:latin typeface="Lato"/>
                <a:cs typeface="Lato"/>
              </a:rPr>
              <a:t>satisfaction</a:t>
            </a:r>
            <a:endParaRPr sz="1200" dirty="0">
              <a:latin typeface="Lato"/>
              <a:cs typeface="La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91000" y="1465767"/>
            <a:ext cx="3045460" cy="2997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95" dirty="0">
                <a:solidFill>
                  <a:srgbClr val="0052CC"/>
                </a:solidFill>
                <a:latin typeface="Calibri"/>
                <a:cs typeface="Calibri"/>
              </a:rPr>
              <a:t>PERFORMANCE</a:t>
            </a:r>
            <a:r>
              <a:rPr sz="1800" b="1" spc="100" dirty="0">
                <a:solidFill>
                  <a:srgbClr val="0052CC"/>
                </a:solidFill>
                <a:latin typeface="Calibri"/>
                <a:cs typeface="Calibri"/>
              </a:rPr>
              <a:t> </a:t>
            </a:r>
            <a:r>
              <a:rPr sz="1800" b="1" spc="240" dirty="0">
                <a:solidFill>
                  <a:srgbClr val="0052CC"/>
                </a:solidFill>
                <a:latin typeface="Calibri"/>
                <a:cs typeface="Calibri"/>
              </a:rPr>
              <a:t>METRICS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982365" y="6621416"/>
            <a:ext cx="202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52CC"/>
                </a:solidFill>
                <a:latin typeface="Lato"/>
                <a:cs typeface="Lato"/>
              </a:rPr>
              <a:t>11</a:t>
            </a:r>
            <a:endParaRPr sz="1200" dirty="0">
              <a:latin typeface="Lato"/>
              <a:cs typeface="Lato"/>
            </a:endParaRPr>
          </a:p>
        </p:txBody>
      </p:sp>
      <p:graphicFrame>
        <p:nvGraphicFramePr>
          <p:cNvPr id="33" name="Chart 32">
            <a:extLst>
              <a:ext uri="{FF2B5EF4-FFF2-40B4-BE49-F238E27FC236}">
                <a16:creationId xmlns:a16="http://schemas.microsoft.com/office/drawing/2014/main" id="{A43C801A-2B46-4ED1-8F08-D0EB05CE08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0525409"/>
              </p:ext>
            </p:extLst>
          </p:nvPr>
        </p:nvGraphicFramePr>
        <p:xfrm>
          <a:off x="6043807" y="2094400"/>
          <a:ext cx="5925111" cy="1590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CD9FE795-4867-4B69-AC27-69E7988FC6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9604704"/>
              </p:ext>
            </p:extLst>
          </p:nvPr>
        </p:nvGraphicFramePr>
        <p:xfrm>
          <a:off x="118696" y="2094400"/>
          <a:ext cx="5925111" cy="1590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B7CCC28A-B10E-47F8-9CB1-CF8EC754B0D8}"/>
              </a:ext>
            </a:extLst>
          </p:cNvPr>
          <p:cNvSpPr txBox="1"/>
          <p:nvPr/>
        </p:nvSpPr>
        <p:spPr>
          <a:xfrm>
            <a:off x="6043807" y="4303012"/>
            <a:ext cx="5938558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52CC"/>
                </a:solidFill>
              </a:rPr>
              <a:t>Bottom 10 Agents – Lowest Satisfaction Rate:</a:t>
            </a:r>
          </a:p>
          <a:p>
            <a:endParaRPr lang="en-US" sz="1200" b="1" dirty="0"/>
          </a:p>
          <a:p>
            <a:pPr>
              <a:buFont typeface="+mj-lt"/>
              <a:buAutoNum type="arabicPeriod"/>
            </a:pPr>
            <a:r>
              <a:rPr lang="en-US" sz="1200" dirty="0">
                <a:solidFill>
                  <a:srgbClr val="406799"/>
                </a:solidFill>
              </a:rPr>
              <a:t>Satisfaction scores are </a:t>
            </a:r>
            <a:r>
              <a:rPr lang="en-US" sz="1200" b="1" dirty="0">
                <a:solidFill>
                  <a:srgbClr val="406799"/>
                </a:solidFill>
              </a:rPr>
              <a:t>below 3.9</a:t>
            </a:r>
            <a:r>
              <a:rPr lang="en-US" sz="1200" dirty="0">
                <a:solidFill>
                  <a:srgbClr val="406799"/>
                </a:solidFill>
              </a:rPr>
              <a:t>, with Agent 19 performing the worst (3.04).</a:t>
            </a:r>
          </a:p>
          <a:p>
            <a:endParaRPr lang="en-US" sz="1200" dirty="0">
              <a:solidFill>
                <a:srgbClr val="406799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200" dirty="0">
                <a:solidFill>
                  <a:srgbClr val="406799"/>
                </a:solidFill>
              </a:rPr>
              <a:t>Multiple agents (3, 6, 22, 28) consistently show </a:t>
            </a:r>
            <a:r>
              <a:rPr lang="en-US" sz="1200" b="1" dirty="0">
                <a:solidFill>
                  <a:srgbClr val="406799"/>
                </a:solidFill>
              </a:rPr>
              <a:t>low user satisfaction</a:t>
            </a:r>
            <a:r>
              <a:rPr lang="en-US" sz="1200" dirty="0">
                <a:solidFill>
                  <a:srgbClr val="406799"/>
                </a:solidFill>
              </a:rPr>
              <a:t>, signaling training needs.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6B06FC1-1E70-4BDE-AED5-52EC1A0C6B25}"/>
              </a:ext>
            </a:extLst>
          </p:cNvPr>
          <p:cNvSpPr txBox="1"/>
          <p:nvPr/>
        </p:nvSpPr>
        <p:spPr>
          <a:xfrm>
            <a:off x="73873" y="4303011"/>
            <a:ext cx="5969934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52CC"/>
                </a:solidFill>
              </a:rPr>
              <a:t>Bottom 10 Agents – Longest Resolution Time:</a:t>
            </a:r>
          </a:p>
          <a:p>
            <a:endParaRPr lang="en-US" sz="1200" b="1" dirty="0"/>
          </a:p>
          <a:p>
            <a:pPr>
              <a:buFont typeface="+mj-lt"/>
              <a:buAutoNum type="arabicPeriod"/>
            </a:pPr>
            <a:r>
              <a:rPr lang="en-US" sz="1200" dirty="0">
                <a:solidFill>
                  <a:srgbClr val="406799"/>
                </a:solidFill>
              </a:rPr>
              <a:t>Resolution time is </a:t>
            </a:r>
            <a:r>
              <a:rPr lang="en-US" sz="1200" b="1" dirty="0">
                <a:solidFill>
                  <a:srgbClr val="406799"/>
                </a:solidFill>
              </a:rPr>
              <a:t>above 5.2 days</a:t>
            </a:r>
            <a:r>
              <a:rPr lang="en-US" sz="1200" dirty="0">
                <a:solidFill>
                  <a:srgbClr val="406799"/>
                </a:solidFill>
              </a:rPr>
              <a:t>, with Agent 39 being the slowest (5.55 days).</a:t>
            </a:r>
          </a:p>
          <a:p>
            <a:pPr>
              <a:buFont typeface="+mj-lt"/>
              <a:buAutoNum type="arabicPeriod"/>
            </a:pPr>
            <a:endParaRPr lang="en-US" sz="1200" dirty="0">
              <a:solidFill>
                <a:srgbClr val="406799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200" dirty="0">
                <a:solidFill>
                  <a:srgbClr val="406799"/>
                </a:solidFill>
              </a:rPr>
              <a:t>Agents 3, 6, 22, and 28 again appear here, showing </a:t>
            </a:r>
            <a:r>
              <a:rPr lang="en-US" sz="1200" b="1" dirty="0">
                <a:solidFill>
                  <a:srgbClr val="406799"/>
                </a:solidFill>
              </a:rPr>
              <a:t>critical inefficiency in both speed and satisfaction</a:t>
            </a:r>
            <a:r>
              <a:rPr lang="en-US" sz="1200" dirty="0">
                <a:solidFill>
                  <a:srgbClr val="406799"/>
                </a:solidFill>
              </a:rPr>
              <a:t>.</a:t>
            </a:r>
          </a:p>
        </p:txBody>
      </p:sp>
      <p:sp>
        <p:nvSpPr>
          <p:cNvPr id="16" name="Arrow: Notched Right 15">
            <a:extLst>
              <a:ext uri="{FF2B5EF4-FFF2-40B4-BE49-F238E27FC236}">
                <a16:creationId xmlns:a16="http://schemas.microsoft.com/office/drawing/2014/main" id="{0A0DC050-2D21-4558-8A07-5CA3C695F6ED}"/>
              </a:ext>
            </a:extLst>
          </p:cNvPr>
          <p:cNvSpPr/>
          <p:nvPr/>
        </p:nvSpPr>
        <p:spPr>
          <a:xfrm rot="5400000">
            <a:off x="2404362" y="3905843"/>
            <a:ext cx="449079" cy="228600"/>
          </a:xfrm>
          <a:prstGeom prst="notchedRightArrow">
            <a:avLst/>
          </a:prstGeom>
          <a:ln>
            <a:solidFill>
              <a:srgbClr val="0052CC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Arrow: Notched Right 38">
            <a:extLst>
              <a:ext uri="{FF2B5EF4-FFF2-40B4-BE49-F238E27FC236}">
                <a16:creationId xmlns:a16="http://schemas.microsoft.com/office/drawing/2014/main" id="{537B2A24-D4DF-4F2D-952A-C9120FFD5628}"/>
              </a:ext>
            </a:extLst>
          </p:cNvPr>
          <p:cNvSpPr/>
          <p:nvPr/>
        </p:nvSpPr>
        <p:spPr>
          <a:xfrm rot="5400000">
            <a:off x="8781823" y="3879743"/>
            <a:ext cx="449079" cy="228600"/>
          </a:xfrm>
          <a:prstGeom prst="notchedRightArrow">
            <a:avLst/>
          </a:prstGeom>
          <a:ln>
            <a:solidFill>
              <a:srgbClr val="0052CC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173209"/>
            <a:ext cx="1088834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30" dirty="0"/>
              <a:t>IMPACT</a:t>
            </a:r>
            <a:r>
              <a:rPr spc="160" dirty="0"/>
              <a:t> </a:t>
            </a:r>
            <a:r>
              <a:rPr spc="459" dirty="0"/>
              <a:t>OF</a:t>
            </a:r>
            <a:r>
              <a:rPr spc="165" dirty="0"/>
              <a:t> </a:t>
            </a:r>
            <a:r>
              <a:rPr spc="430" dirty="0"/>
              <a:t>TECHNOLOGY</a:t>
            </a:r>
            <a:r>
              <a:rPr spc="160" dirty="0"/>
              <a:t> </a:t>
            </a:r>
            <a:r>
              <a:rPr spc="355" dirty="0"/>
              <a:t>INVESTMENTS</a:t>
            </a:r>
            <a:r>
              <a:rPr spc="165" dirty="0"/>
              <a:t> </a:t>
            </a:r>
            <a:r>
              <a:rPr spc="409" dirty="0"/>
              <a:t>ON</a:t>
            </a:r>
            <a:r>
              <a:rPr spc="165" dirty="0"/>
              <a:t> </a:t>
            </a:r>
            <a:r>
              <a:rPr spc="430" dirty="0"/>
              <a:t>PERFORMANCE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21952" y="786209"/>
            <a:ext cx="45637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60" dirty="0">
                <a:solidFill>
                  <a:srgbClr val="0052CC"/>
                </a:solidFill>
                <a:latin typeface="Calibri"/>
                <a:cs typeface="Calibri"/>
              </a:rPr>
              <a:t>RESOLUTION</a:t>
            </a:r>
            <a:r>
              <a:rPr sz="1800" b="1" spc="125" dirty="0">
                <a:solidFill>
                  <a:srgbClr val="0052CC"/>
                </a:solidFill>
                <a:latin typeface="Calibri"/>
                <a:cs typeface="Calibri"/>
              </a:rPr>
              <a:t> </a:t>
            </a:r>
            <a:r>
              <a:rPr sz="1800" b="1" spc="200" dirty="0">
                <a:solidFill>
                  <a:srgbClr val="0052CC"/>
                </a:solidFill>
                <a:latin typeface="Calibri"/>
                <a:cs typeface="Calibri"/>
              </a:rPr>
              <a:t>TIME</a:t>
            </a:r>
            <a:r>
              <a:rPr sz="1800" b="1" spc="130" dirty="0">
                <a:solidFill>
                  <a:srgbClr val="0052CC"/>
                </a:solidFill>
                <a:latin typeface="Calibri"/>
                <a:cs typeface="Calibri"/>
              </a:rPr>
              <a:t> </a:t>
            </a:r>
            <a:r>
              <a:rPr sz="1800" b="1" spc="290" dirty="0">
                <a:solidFill>
                  <a:srgbClr val="0052CC"/>
                </a:solidFill>
                <a:latin typeface="Calibri"/>
                <a:cs typeface="Calibri"/>
              </a:rPr>
              <a:t>TREND</a:t>
            </a:r>
            <a:r>
              <a:rPr sz="1800" b="1" spc="130" dirty="0">
                <a:solidFill>
                  <a:srgbClr val="0052CC"/>
                </a:solidFill>
                <a:latin typeface="Calibri"/>
                <a:cs typeface="Calibri"/>
              </a:rPr>
              <a:t> </a:t>
            </a:r>
            <a:r>
              <a:rPr sz="1800" b="1" spc="105" dirty="0">
                <a:solidFill>
                  <a:srgbClr val="0052CC"/>
                </a:solidFill>
                <a:latin typeface="Calibri"/>
                <a:cs typeface="Calibri"/>
              </a:rPr>
              <a:t>(2016-</a:t>
            </a:r>
            <a:r>
              <a:rPr sz="1800" b="1" spc="170" dirty="0">
                <a:solidFill>
                  <a:srgbClr val="0052CC"/>
                </a:solidFill>
                <a:latin typeface="Calibri"/>
                <a:cs typeface="Calibri"/>
              </a:rPr>
              <a:t>2020)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6197" y="4209427"/>
            <a:ext cx="1693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305" dirty="0">
                <a:solidFill>
                  <a:srgbClr val="0052CC"/>
                </a:solidFill>
                <a:latin typeface="Calibri"/>
                <a:cs typeface="Calibri"/>
              </a:rPr>
              <a:t>KEY</a:t>
            </a:r>
            <a:r>
              <a:rPr sz="1800" b="1" spc="110" dirty="0">
                <a:solidFill>
                  <a:srgbClr val="0052CC"/>
                </a:solidFill>
                <a:latin typeface="Calibri"/>
                <a:cs typeface="Calibri"/>
              </a:rPr>
              <a:t> </a:t>
            </a:r>
            <a:r>
              <a:rPr sz="1800" b="1" spc="215" dirty="0">
                <a:solidFill>
                  <a:srgbClr val="0052CC"/>
                </a:solidFill>
                <a:latin typeface="Calibri"/>
                <a:cs typeface="Calibri"/>
              </a:rPr>
              <a:t>INSIGHTS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800600" y="4730678"/>
            <a:ext cx="2844000" cy="1108288"/>
            <a:chOff x="8077199" y="1781174"/>
            <a:chExt cx="3733800" cy="1276350"/>
          </a:xfrm>
        </p:grpSpPr>
        <p:sp>
          <p:nvSpPr>
            <p:cNvPr id="10" name="object 10"/>
            <p:cNvSpPr/>
            <p:nvPr/>
          </p:nvSpPr>
          <p:spPr>
            <a:xfrm>
              <a:off x="8077187" y="1781174"/>
              <a:ext cx="3733800" cy="1276350"/>
            </a:xfrm>
            <a:custGeom>
              <a:avLst/>
              <a:gdLst/>
              <a:ahLst/>
              <a:cxnLst/>
              <a:rect l="l" t="t" r="r" b="b"/>
              <a:pathLst>
                <a:path w="3733800" h="1276350">
                  <a:moveTo>
                    <a:pt x="3733800" y="0"/>
                  </a:moveTo>
                  <a:lnTo>
                    <a:pt x="37242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3724275" y="9525"/>
                  </a:lnTo>
                  <a:lnTo>
                    <a:pt x="3724275" y="1266825"/>
                  </a:lnTo>
                  <a:lnTo>
                    <a:pt x="0" y="1266825"/>
                  </a:lnTo>
                  <a:lnTo>
                    <a:pt x="0" y="1276350"/>
                  </a:lnTo>
                  <a:lnTo>
                    <a:pt x="3724275" y="1276350"/>
                  </a:lnTo>
                  <a:lnTo>
                    <a:pt x="3733800" y="1276350"/>
                  </a:lnTo>
                  <a:lnTo>
                    <a:pt x="3733800" y="1266825"/>
                  </a:lnTo>
                  <a:lnTo>
                    <a:pt x="3733800" y="9525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E6F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77199" y="1781174"/>
              <a:ext cx="38100" cy="1276350"/>
            </a:xfrm>
            <a:custGeom>
              <a:avLst/>
              <a:gdLst/>
              <a:ahLst/>
              <a:cxnLst/>
              <a:rect l="l" t="t" r="r" b="b"/>
              <a:pathLst>
                <a:path w="38100" h="1276350">
                  <a:moveTo>
                    <a:pt x="0" y="1276349"/>
                  </a:moveTo>
                  <a:lnTo>
                    <a:pt x="0" y="0"/>
                  </a:lnTo>
                  <a:lnTo>
                    <a:pt x="38099" y="9524"/>
                  </a:lnTo>
                  <a:lnTo>
                    <a:pt x="38099" y="1266824"/>
                  </a:lnTo>
                  <a:lnTo>
                    <a:pt x="0" y="1276349"/>
                  </a:lnTo>
                  <a:close/>
                </a:path>
              </a:pathLst>
            </a:custGeom>
            <a:solidFill>
              <a:srgbClr val="0052C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8787558" y="4712422"/>
            <a:ext cx="2844000" cy="1126544"/>
            <a:chOff x="8077199" y="3152774"/>
            <a:chExt cx="3733800" cy="1276350"/>
          </a:xfrm>
        </p:grpSpPr>
        <p:sp>
          <p:nvSpPr>
            <p:cNvPr id="13" name="object 13"/>
            <p:cNvSpPr/>
            <p:nvPr/>
          </p:nvSpPr>
          <p:spPr>
            <a:xfrm>
              <a:off x="8077187" y="3152774"/>
              <a:ext cx="3733800" cy="1276350"/>
            </a:xfrm>
            <a:custGeom>
              <a:avLst/>
              <a:gdLst/>
              <a:ahLst/>
              <a:cxnLst/>
              <a:rect l="l" t="t" r="r" b="b"/>
              <a:pathLst>
                <a:path w="3733800" h="1276350">
                  <a:moveTo>
                    <a:pt x="3733800" y="0"/>
                  </a:moveTo>
                  <a:lnTo>
                    <a:pt x="37242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3724275" y="9525"/>
                  </a:lnTo>
                  <a:lnTo>
                    <a:pt x="3724275" y="1266825"/>
                  </a:lnTo>
                  <a:lnTo>
                    <a:pt x="0" y="1266825"/>
                  </a:lnTo>
                  <a:lnTo>
                    <a:pt x="0" y="1276350"/>
                  </a:lnTo>
                  <a:lnTo>
                    <a:pt x="3724275" y="1276350"/>
                  </a:lnTo>
                  <a:lnTo>
                    <a:pt x="3733800" y="1276350"/>
                  </a:lnTo>
                  <a:lnTo>
                    <a:pt x="3733800" y="1266825"/>
                  </a:lnTo>
                  <a:lnTo>
                    <a:pt x="3733800" y="9525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E6F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77199" y="3152774"/>
              <a:ext cx="38100" cy="1276350"/>
            </a:xfrm>
            <a:custGeom>
              <a:avLst/>
              <a:gdLst/>
              <a:ahLst/>
              <a:cxnLst/>
              <a:rect l="l" t="t" r="r" b="b"/>
              <a:pathLst>
                <a:path w="38100" h="1276350">
                  <a:moveTo>
                    <a:pt x="0" y="1276349"/>
                  </a:moveTo>
                  <a:lnTo>
                    <a:pt x="0" y="0"/>
                  </a:lnTo>
                  <a:lnTo>
                    <a:pt x="38099" y="9524"/>
                  </a:lnTo>
                  <a:lnTo>
                    <a:pt x="38099" y="1266824"/>
                  </a:lnTo>
                  <a:lnTo>
                    <a:pt x="0" y="1276349"/>
                  </a:lnTo>
                  <a:close/>
                </a:path>
              </a:pathLst>
            </a:custGeom>
            <a:solidFill>
              <a:srgbClr val="005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44533" y="4786330"/>
            <a:ext cx="2718943" cy="130997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675"/>
              </a:spcBef>
            </a:pPr>
            <a:r>
              <a:rPr sz="1300" spc="-30" dirty="0">
                <a:solidFill>
                  <a:srgbClr val="0052CC"/>
                </a:solidFill>
                <a:latin typeface="Tahoma"/>
                <a:cs typeface="Tahoma"/>
              </a:rPr>
              <a:t>2016-</a:t>
            </a:r>
            <a:r>
              <a:rPr sz="1300" spc="-20" dirty="0">
                <a:solidFill>
                  <a:srgbClr val="0052CC"/>
                </a:solidFill>
                <a:latin typeface="Tahoma"/>
                <a:cs typeface="Tahoma"/>
              </a:rPr>
              <a:t>2018</a:t>
            </a:r>
            <a:r>
              <a:rPr sz="1300" spc="-125" dirty="0">
                <a:solidFill>
                  <a:srgbClr val="0052CC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0052CC"/>
                </a:solidFill>
                <a:latin typeface="Tahoma"/>
                <a:cs typeface="Tahoma"/>
              </a:rPr>
              <a:t>Period:</a:t>
            </a:r>
            <a:endParaRPr lang="en-IN" sz="1300" spc="-10" dirty="0">
              <a:solidFill>
                <a:srgbClr val="0052CC"/>
              </a:solidFill>
              <a:latin typeface="Tahoma"/>
              <a:cs typeface="Tahoma"/>
            </a:endParaRPr>
          </a:p>
          <a:p>
            <a:pPr marL="114300">
              <a:lnSpc>
                <a:spcPct val="100000"/>
              </a:lnSpc>
              <a:spcBef>
                <a:spcPts val="675"/>
              </a:spcBef>
            </a:pPr>
            <a:endParaRPr sz="1300" dirty="0">
              <a:latin typeface="Tahoma"/>
              <a:cs typeface="Tahoma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Fluctuating res. time (4.55–4.65)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Processes inconsistent, tools weak</a:t>
            </a:r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sz="1200" dirty="0">
              <a:latin typeface="Lato"/>
              <a:cs typeface="La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58820" y="4753116"/>
            <a:ext cx="2844000" cy="1085850"/>
            <a:chOff x="8077199" y="4524374"/>
            <a:chExt cx="3733800" cy="1085850"/>
          </a:xfrm>
        </p:grpSpPr>
        <p:sp>
          <p:nvSpPr>
            <p:cNvPr id="17" name="object 17"/>
            <p:cNvSpPr/>
            <p:nvPr/>
          </p:nvSpPr>
          <p:spPr>
            <a:xfrm>
              <a:off x="8077187" y="4524374"/>
              <a:ext cx="3733800" cy="1085850"/>
            </a:xfrm>
            <a:custGeom>
              <a:avLst/>
              <a:gdLst/>
              <a:ahLst/>
              <a:cxnLst/>
              <a:rect l="l" t="t" r="r" b="b"/>
              <a:pathLst>
                <a:path w="3733800" h="1085850">
                  <a:moveTo>
                    <a:pt x="3733800" y="0"/>
                  </a:moveTo>
                  <a:lnTo>
                    <a:pt x="37242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3724275" y="9525"/>
                  </a:lnTo>
                  <a:lnTo>
                    <a:pt x="3724275" y="1076325"/>
                  </a:lnTo>
                  <a:lnTo>
                    <a:pt x="0" y="1076325"/>
                  </a:lnTo>
                  <a:lnTo>
                    <a:pt x="0" y="1085850"/>
                  </a:lnTo>
                  <a:lnTo>
                    <a:pt x="3724275" y="1085850"/>
                  </a:lnTo>
                  <a:lnTo>
                    <a:pt x="3733800" y="1085850"/>
                  </a:lnTo>
                  <a:lnTo>
                    <a:pt x="3733800" y="1076325"/>
                  </a:lnTo>
                  <a:lnTo>
                    <a:pt x="3733800" y="9525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E6F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77199" y="4524374"/>
              <a:ext cx="38100" cy="1085850"/>
            </a:xfrm>
            <a:custGeom>
              <a:avLst/>
              <a:gdLst/>
              <a:ahLst/>
              <a:cxnLst/>
              <a:rect l="l" t="t" r="r" b="b"/>
              <a:pathLst>
                <a:path w="38100" h="1085850">
                  <a:moveTo>
                    <a:pt x="0" y="1085849"/>
                  </a:moveTo>
                  <a:lnTo>
                    <a:pt x="0" y="0"/>
                  </a:lnTo>
                  <a:lnTo>
                    <a:pt x="38099" y="9524"/>
                  </a:lnTo>
                  <a:lnTo>
                    <a:pt x="38099" y="1076324"/>
                  </a:lnTo>
                  <a:lnTo>
                    <a:pt x="0" y="1085849"/>
                  </a:lnTo>
                  <a:close/>
                </a:path>
              </a:pathLst>
            </a:custGeom>
            <a:solidFill>
              <a:srgbClr val="005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844708" y="4730678"/>
            <a:ext cx="1969429" cy="94577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675"/>
              </a:spcBef>
            </a:pPr>
            <a:r>
              <a:rPr sz="1300" spc="-20" dirty="0">
                <a:solidFill>
                  <a:srgbClr val="0052CC"/>
                </a:solidFill>
                <a:latin typeface="Tahoma"/>
                <a:cs typeface="Tahoma"/>
              </a:rPr>
              <a:t>2020</a:t>
            </a:r>
            <a:r>
              <a:rPr sz="1300" spc="-155" dirty="0">
                <a:solidFill>
                  <a:srgbClr val="0052CC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0052CC"/>
                </a:solidFill>
                <a:latin typeface="Tahoma"/>
                <a:cs typeface="Tahoma"/>
              </a:rPr>
              <a:t>Stabilization:</a:t>
            </a:r>
            <a:endParaRPr lang="en-IN" sz="1300" spc="-10" dirty="0">
              <a:solidFill>
                <a:srgbClr val="0052CC"/>
              </a:solidFill>
              <a:latin typeface="Tahoma"/>
              <a:cs typeface="Tahoma"/>
            </a:endParaRPr>
          </a:p>
          <a:p>
            <a:pPr marL="114300">
              <a:lnSpc>
                <a:spcPct val="100000"/>
              </a:lnSpc>
              <a:spcBef>
                <a:spcPts val="675"/>
              </a:spcBef>
            </a:pPr>
            <a:endParaRPr sz="1300" dirty="0">
              <a:latin typeface="Tahoma"/>
              <a:cs typeface="Tahoma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Consistent &lt;4.55 days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Tech adoption = maturity</a:t>
            </a:r>
          </a:p>
        </p:txBody>
      </p:sp>
      <p:sp>
        <p:nvSpPr>
          <p:cNvPr id="46" name="object 46"/>
          <p:cNvSpPr/>
          <p:nvPr/>
        </p:nvSpPr>
        <p:spPr>
          <a:xfrm rot="10800000">
            <a:off x="5698" y="4342687"/>
            <a:ext cx="2973070" cy="2496820"/>
          </a:xfrm>
          <a:custGeom>
            <a:avLst/>
            <a:gdLst/>
            <a:ahLst/>
            <a:cxnLst/>
            <a:rect l="l" t="t" r="r" b="b"/>
            <a:pathLst>
              <a:path w="2973070" h="2496820">
                <a:moveTo>
                  <a:pt x="2020557" y="2496807"/>
                </a:moveTo>
                <a:lnTo>
                  <a:pt x="0" y="476250"/>
                </a:lnTo>
                <a:lnTo>
                  <a:pt x="476250" y="0"/>
                </a:lnTo>
                <a:lnTo>
                  <a:pt x="2973057" y="0"/>
                </a:lnTo>
                <a:lnTo>
                  <a:pt x="2973057" y="1544307"/>
                </a:lnTo>
                <a:lnTo>
                  <a:pt x="2020557" y="2496807"/>
                </a:lnTo>
                <a:close/>
              </a:path>
            </a:pathLst>
          </a:custGeom>
          <a:solidFill>
            <a:srgbClr val="4A8FE2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11962662" y="6613433"/>
            <a:ext cx="202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3366"/>
                </a:solidFill>
                <a:latin typeface="Lato"/>
                <a:cs typeface="Lato"/>
              </a:rPr>
              <a:t>12</a:t>
            </a:r>
            <a:endParaRPr sz="1200" dirty="0">
              <a:latin typeface="Lato"/>
              <a:cs typeface="Lato"/>
            </a:endParaRPr>
          </a:p>
        </p:txBody>
      </p:sp>
      <p:graphicFrame>
        <p:nvGraphicFramePr>
          <p:cNvPr id="53" name="Chart 52">
            <a:extLst>
              <a:ext uri="{FF2B5EF4-FFF2-40B4-BE49-F238E27FC236}">
                <a16:creationId xmlns:a16="http://schemas.microsoft.com/office/drawing/2014/main" id="{4BDB2E4B-2403-446F-A13E-419B9BB574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9107179"/>
              </p:ext>
            </p:extLst>
          </p:nvPr>
        </p:nvGraphicFramePr>
        <p:xfrm>
          <a:off x="2064795" y="1209517"/>
          <a:ext cx="7620838" cy="2789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4" name="object 15">
            <a:extLst>
              <a:ext uri="{FF2B5EF4-FFF2-40B4-BE49-F238E27FC236}">
                <a16:creationId xmlns:a16="http://schemas.microsoft.com/office/drawing/2014/main" id="{6C1326B6-2B61-4327-B6B8-D685FB2B2A71}"/>
              </a:ext>
            </a:extLst>
          </p:cNvPr>
          <p:cNvSpPr txBox="1"/>
          <p:nvPr/>
        </p:nvSpPr>
        <p:spPr>
          <a:xfrm>
            <a:off x="4838700" y="4506237"/>
            <a:ext cx="2453685" cy="10406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70"/>
              </a:spcBef>
            </a:pPr>
            <a:endParaRPr sz="1200" dirty="0">
              <a:latin typeface="Lato"/>
              <a:cs typeface="Lato"/>
            </a:endParaRPr>
          </a:p>
          <a:p>
            <a:pPr marL="114300">
              <a:lnSpc>
                <a:spcPct val="100000"/>
              </a:lnSpc>
            </a:pPr>
            <a:r>
              <a:rPr sz="1300" spc="-20" dirty="0">
                <a:solidFill>
                  <a:srgbClr val="0052CC"/>
                </a:solidFill>
                <a:latin typeface="Tahoma"/>
                <a:cs typeface="Tahoma"/>
              </a:rPr>
              <a:t>2019</a:t>
            </a:r>
            <a:r>
              <a:rPr sz="1300" spc="-155" dirty="0">
                <a:solidFill>
                  <a:srgbClr val="0052CC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0052CC"/>
                </a:solidFill>
                <a:latin typeface="Tahoma"/>
                <a:cs typeface="Tahoma"/>
              </a:rPr>
              <a:t>Improvement:</a:t>
            </a:r>
            <a:endParaRPr lang="en-IN" sz="1300" spc="-10" dirty="0">
              <a:solidFill>
                <a:srgbClr val="0052CC"/>
              </a:solidFill>
              <a:latin typeface="Tahoma"/>
              <a:cs typeface="Tahoma"/>
            </a:endParaRPr>
          </a:p>
          <a:p>
            <a:pPr marL="114300">
              <a:lnSpc>
                <a:spcPct val="100000"/>
              </a:lnSpc>
            </a:pPr>
            <a:endParaRPr lang="en-US" sz="1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New system &amp; routing boost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 dashboards improved flow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54417" y="5195727"/>
            <a:ext cx="3497419" cy="1262674"/>
            <a:chOff x="380999" y="4476749"/>
            <a:chExt cx="3657600" cy="1466850"/>
          </a:xfrm>
        </p:grpSpPr>
        <p:sp>
          <p:nvSpPr>
            <p:cNvPr id="4" name="object 4"/>
            <p:cNvSpPr/>
            <p:nvPr/>
          </p:nvSpPr>
          <p:spPr>
            <a:xfrm>
              <a:off x="380987" y="4476749"/>
              <a:ext cx="3657600" cy="1466850"/>
            </a:xfrm>
            <a:custGeom>
              <a:avLst/>
              <a:gdLst/>
              <a:ahLst/>
              <a:cxnLst/>
              <a:rect l="l" t="t" r="r" b="b"/>
              <a:pathLst>
                <a:path w="3657600" h="1466850">
                  <a:moveTo>
                    <a:pt x="3657600" y="0"/>
                  </a:moveTo>
                  <a:lnTo>
                    <a:pt x="36480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3648075" y="9525"/>
                  </a:lnTo>
                  <a:lnTo>
                    <a:pt x="3648075" y="1457325"/>
                  </a:lnTo>
                  <a:lnTo>
                    <a:pt x="0" y="1457325"/>
                  </a:lnTo>
                  <a:lnTo>
                    <a:pt x="0" y="1466850"/>
                  </a:lnTo>
                  <a:lnTo>
                    <a:pt x="3648075" y="1466850"/>
                  </a:lnTo>
                  <a:lnTo>
                    <a:pt x="3657600" y="1466850"/>
                  </a:lnTo>
                  <a:lnTo>
                    <a:pt x="3657600" y="1457325"/>
                  </a:lnTo>
                  <a:lnTo>
                    <a:pt x="3657600" y="9525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E6F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0999" y="4476749"/>
              <a:ext cx="38100" cy="1466850"/>
            </a:xfrm>
            <a:custGeom>
              <a:avLst/>
              <a:gdLst/>
              <a:ahLst/>
              <a:cxnLst/>
              <a:rect l="l" t="t" r="r" b="b"/>
              <a:pathLst>
                <a:path w="38100" h="1466850">
                  <a:moveTo>
                    <a:pt x="0" y="1466849"/>
                  </a:moveTo>
                  <a:lnTo>
                    <a:pt x="0" y="0"/>
                  </a:lnTo>
                  <a:lnTo>
                    <a:pt x="38099" y="9524"/>
                  </a:lnTo>
                  <a:lnTo>
                    <a:pt x="38099" y="1457324"/>
                  </a:lnTo>
                  <a:lnTo>
                    <a:pt x="0" y="1466849"/>
                  </a:lnTo>
                  <a:close/>
                </a:path>
              </a:pathLst>
            </a:custGeom>
            <a:solidFill>
              <a:srgbClr val="0052C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92492" y="5246582"/>
            <a:ext cx="3386310" cy="1079783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480"/>
              </a:spcBef>
            </a:pPr>
            <a:r>
              <a:rPr sz="1300" spc="-70" dirty="0">
                <a:solidFill>
                  <a:srgbClr val="0052CC"/>
                </a:solidFill>
                <a:latin typeface="Tahoma"/>
                <a:cs typeface="Tahoma"/>
              </a:rPr>
              <a:t>Trend</a:t>
            </a:r>
            <a:r>
              <a:rPr sz="1300" spc="-150" dirty="0">
                <a:solidFill>
                  <a:srgbClr val="0052CC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0052CC"/>
                </a:solidFill>
                <a:latin typeface="Tahoma"/>
                <a:cs typeface="Tahoma"/>
              </a:rPr>
              <a:t>Analysis:</a:t>
            </a:r>
            <a:endParaRPr lang="en-IN" sz="1300" spc="-10" dirty="0">
              <a:solidFill>
                <a:srgbClr val="0052CC"/>
              </a:solidFill>
              <a:latin typeface="Tahoma"/>
              <a:cs typeface="Tahoma"/>
            </a:endParaRPr>
          </a:p>
          <a:p>
            <a:pPr marL="114300">
              <a:lnSpc>
                <a:spcPct val="100000"/>
              </a:lnSpc>
              <a:spcBef>
                <a:spcPts val="480"/>
              </a:spcBef>
            </a:pPr>
            <a:endParaRPr sz="1300" dirty="0">
              <a:latin typeface="Tahoma"/>
              <a:cs typeface="Tahoma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Ticket volume doubled (2016–2020) with only 50 agents.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Peak load in Q3–Q4 2020, esp. July &amp; Sept.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363394" y="4295450"/>
            <a:ext cx="3512994" cy="1262674"/>
            <a:chOff x="4267199" y="4476749"/>
            <a:chExt cx="3657600" cy="1466850"/>
          </a:xfrm>
        </p:grpSpPr>
        <p:sp>
          <p:nvSpPr>
            <p:cNvPr id="8" name="object 8"/>
            <p:cNvSpPr/>
            <p:nvPr/>
          </p:nvSpPr>
          <p:spPr>
            <a:xfrm>
              <a:off x="4267187" y="4476749"/>
              <a:ext cx="3657600" cy="1466850"/>
            </a:xfrm>
            <a:custGeom>
              <a:avLst/>
              <a:gdLst/>
              <a:ahLst/>
              <a:cxnLst/>
              <a:rect l="l" t="t" r="r" b="b"/>
              <a:pathLst>
                <a:path w="3657600" h="1466850">
                  <a:moveTo>
                    <a:pt x="3657600" y="0"/>
                  </a:moveTo>
                  <a:lnTo>
                    <a:pt x="36480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3648075" y="9525"/>
                  </a:lnTo>
                  <a:lnTo>
                    <a:pt x="3648075" y="1457325"/>
                  </a:lnTo>
                  <a:lnTo>
                    <a:pt x="0" y="1457325"/>
                  </a:lnTo>
                  <a:lnTo>
                    <a:pt x="0" y="1466850"/>
                  </a:lnTo>
                  <a:lnTo>
                    <a:pt x="3648075" y="1466850"/>
                  </a:lnTo>
                  <a:lnTo>
                    <a:pt x="3657600" y="1466850"/>
                  </a:lnTo>
                  <a:lnTo>
                    <a:pt x="3657600" y="1457325"/>
                  </a:lnTo>
                  <a:lnTo>
                    <a:pt x="3657600" y="9525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E6F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67199" y="4476749"/>
              <a:ext cx="38100" cy="1466850"/>
            </a:xfrm>
            <a:custGeom>
              <a:avLst/>
              <a:gdLst/>
              <a:ahLst/>
              <a:cxnLst/>
              <a:rect l="l" t="t" r="r" b="b"/>
              <a:pathLst>
                <a:path w="38100" h="1466850">
                  <a:moveTo>
                    <a:pt x="0" y="1466849"/>
                  </a:moveTo>
                  <a:lnTo>
                    <a:pt x="0" y="0"/>
                  </a:lnTo>
                  <a:lnTo>
                    <a:pt x="38099" y="9524"/>
                  </a:lnTo>
                  <a:lnTo>
                    <a:pt x="38099" y="1457324"/>
                  </a:lnTo>
                  <a:lnTo>
                    <a:pt x="0" y="1466849"/>
                  </a:lnTo>
                  <a:close/>
                </a:path>
              </a:pathLst>
            </a:custGeom>
            <a:solidFill>
              <a:srgbClr val="005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415411" y="4395420"/>
            <a:ext cx="3609975" cy="94577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675"/>
              </a:spcBef>
            </a:pPr>
            <a:r>
              <a:rPr sz="1300" spc="-40" dirty="0">
                <a:solidFill>
                  <a:srgbClr val="0052CC"/>
                </a:solidFill>
                <a:latin typeface="Tahoma"/>
                <a:cs typeface="Tahoma"/>
              </a:rPr>
              <a:t>Risk</a:t>
            </a:r>
            <a:r>
              <a:rPr sz="1300" spc="-140" dirty="0">
                <a:solidFill>
                  <a:srgbClr val="0052CC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0052CC"/>
                </a:solidFill>
                <a:latin typeface="Tahoma"/>
                <a:cs typeface="Tahoma"/>
              </a:rPr>
              <a:t>Assessment:</a:t>
            </a:r>
            <a:endParaRPr lang="en-IN" sz="1300" spc="-10" dirty="0">
              <a:solidFill>
                <a:srgbClr val="0052CC"/>
              </a:solidFill>
              <a:latin typeface="Tahoma"/>
              <a:cs typeface="Tahoma"/>
            </a:endParaRPr>
          </a:p>
          <a:p>
            <a:pPr marL="114300">
              <a:lnSpc>
                <a:spcPct val="100000"/>
              </a:lnSpc>
              <a:spcBef>
                <a:spcPts val="675"/>
              </a:spcBef>
            </a:pPr>
            <a:endParaRPr sz="1300" dirty="0">
              <a:latin typeface="Tahoma"/>
              <a:cs typeface="Tahoma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Rising load handled with no staff increase.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Ongoing growth risks burnout &amp; service drop.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8345214" y="3737608"/>
            <a:ext cx="3383611" cy="1466850"/>
            <a:chOff x="8153399" y="4476749"/>
            <a:chExt cx="3657600" cy="1466850"/>
          </a:xfrm>
        </p:grpSpPr>
        <p:sp>
          <p:nvSpPr>
            <p:cNvPr id="12" name="object 12"/>
            <p:cNvSpPr/>
            <p:nvPr/>
          </p:nvSpPr>
          <p:spPr>
            <a:xfrm>
              <a:off x="8153387" y="4476749"/>
              <a:ext cx="3657600" cy="1466850"/>
            </a:xfrm>
            <a:custGeom>
              <a:avLst/>
              <a:gdLst/>
              <a:ahLst/>
              <a:cxnLst/>
              <a:rect l="l" t="t" r="r" b="b"/>
              <a:pathLst>
                <a:path w="3657600" h="1466850">
                  <a:moveTo>
                    <a:pt x="3657600" y="0"/>
                  </a:moveTo>
                  <a:lnTo>
                    <a:pt x="36480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3648075" y="9525"/>
                  </a:lnTo>
                  <a:lnTo>
                    <a:pt x="3648075" y="1457325"/>
                  </a:lnTo>
                  <a:lnTo>
                    <a:pt x="0" y="1457325"/>
                  </a:lnTo>
                  <a:lnTo>
                    <a:pt x="0" y="1466850"/>
                  </a:lnTo>
                  <a:lnTo>
                    <a:pt x="3648075" y="1466850"/>
                  </a:lnTo>
                  <a:lnTo>
                    <a:pt x="3657600" y="1466850"/>
                  </a:lnTo>
                  <a:lnTo>
                    <a:pt x="3657600" y="1457325"/>
                  </a:lnTo>
                  <a:lnTo>
                    <a:pt x="3657600" y="9525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E6F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53399" y="4476749"/>
              <a:ext cx="38100" cy="1466850"/>
            </a:xfrm>
            <a:custGeom>
              <a:avLst/>
              <a:gdLst/>
              <a:ahLst/>
              <a:cxnLst/>
              <a:rect l="l" t="t" r="r" b="b"/>
              <a:pathLst>
                <a:path w="38100" h="1466850">
                  <a:moveTo>
                    <a:pt x="0" y="1466849"/>
                  </a:moveTo>
                  <a:lnTo>
                    <a:pt x="0" y="0"/>
                  </a:lnTo>
                  <a:lnTo>
                    <a:pt x="38099" y="9524"/>
                  </a:lnTo>
                  <a:lnTo>
                    <a:pt x="38099" y="1457324"/>
                  </a:lnTo>
                  <a:lnTo>
                    <a:pt x="0" y="1466849"/>
                  </a:lnTo>
                  <a:close/>
                </a:path>
              </a:pathLst>
            </a:custGeom>
            <a:solidFill>
              <a:srgbClr val="005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431369" y="3768958"/>
            <a:ext cx="3609975" cy="1264449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480"/>
              </a:spcBef>
            </a:pPr>
            <a:r>
              <a:rPr sz="1300" spc="-10" dirty="0">
                <a:solidFill>
                  <a:srgbClr val="0052CC"/>
                </a:solidFill>
                <a:latin typeface="Tahoma"/>
                <a:cs typeface="Tahoma"/>
              </a:rPr>
              <a:t>Recommendations:</a:t>
            </a:r>
            <a:endParaRPr lang="en-IN" sz="1300" spc="-10" dirty="0">
              <a:solidFill>
                <a:srgbClr val="0052CC"/>
              </a:solidFill>
              <a:latin typeface="Tahoma"/>
              <a:cs typeface="Tahoma"/>
            </a:endParaRPr>
          </a:p>
          <a:p>
            <a:pPr marL="114300">
              <a:lnSpc>
                <a:spcPct val="100000"/>
              </a:lnSpc>
              <a:spcBef>
                <a:spcPts val="480"/>
              </a:spcBef>
            </a:pPr>
            <a:endParaRPr sz="1300" dirty="0">
              <a:latin typeface="Tahoma"/>
              <a:cs typeface="Tahom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Short-term:</a:t>
            </a: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Reallocate staff to Oct/Aug peaks.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Long-term:</a:t>
            </a: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Add 5–10 agents if trend persists.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Automation:</a:t>
            </a: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Use AI triaging for high-volume requests.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11962944" y="6625271"/>
            <a:ext cx="202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3366"/>
                </a:solidFill>
                <a:latin typeface="Lato"/>
                <a:cs typeface="Lato"/>
              </a:rPr>
              <a:t>13</a:t>
            </a:r>
            <a:endParaRPr sz="1200" dirty="0">
              <a:latin typeface="Lato"/>
              <a:cs typeface="Lato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4275" y="221531"/>
            <a:ext cx="1088834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80" dirty="0"/>
              <a:t>WORKLOAD</a:t>
            </a:r>
            <a:r>
              <a:rPr spc="160" dirty="0"/>
              <a:t> </a:t>
            </a:r>
            <a:r>
              <a:rPr spc="434" dirty="0"/>
              <a:t>FORECAST</a:t>
            </a:r>
            <a:r>
              <a:rPr spc="160" dirty="0"/>
              <a:t> </a:t>
            </a:r>
            <a:r>
              <a:rPr spc="55" dirty="0"/>
              <a:t>&amp;</a:t>
            </a:r>
            <a:r>
              <a:rPr spc="165" dirty="0"/>
              <a:t> </a:t>
            </a:r>
            <a:r>
              <a:rPr spc="395" dirty="0"/>
              <a:t>FUTURE</a:t>
            </a:r>
            <a:r>
              <a:rPr spc="160" dirty="0"/>
              <a:t> </a:t>
            </a:r>
            <a:r>
              <a:rPr spc="365" dirty="0"/>
              <a:t>STAFFING</a:t>
            </a:r>
            <a:r>
              <a:rPr spc="160" dirty="0"/>
              <a:t> </a:t>
            </a:r>
            <a:r>
              <a:rPr spc="459" dirty="0"/>
              <a:t>NEEDS</a:t>
            </a:r>
          </a:p>
        </p:txBody>
      </p:sp>
      <p:graphicFrame>
        <p:nvGraphicFramePr>
          <p:cNvPr id="48" name="Chart 47">
            <a:extLst>
              <a:ext uri="{FF2B5EF4-FFF2-40B4-BE49-F238E27FC236}">
                <a16:creationId xmlns:a16="http://schemas.microsoft.com/office/drawing/2014/main" id="{7187602A-BB7F-4EA7-8308-DD6C3A07AE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507880"/>
              </p:ext>
            </p:extLst>
          </p:nvPr>
        </p:nvGraphicFramePr>
        <p:xfrm>
          <a:off x="684275" y="924820"/>
          <a:ext cx="10823450" cy="26050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 shadeToTitle="1"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object 73"/>
          <p:cNvSpPr txBox="1"/>
          <p:nvPr/>
        </p:nvSpPr>
        <p:spPr>
          <a:xfrm>
            <a:off x="13182600" y="3580606"/>
            <a:ext cx="20256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chemeClr val="bg1"/>
                </a:solidFill>
                <a:latin typeface="Lato"/>
                <a:cs typeface="Lato"/>
              </a:rPr>
              <a:t>14</a:t>
            </a:r>
            <a:endParaRPr sz="1200" dirty="0">
              <a:solidFill>
                <a:schemeClr val="bg1"/>
              </a:solidFill>
              <a:latin typeface="Lato"/>
              <a:cs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 21">
            <a:extLst>
              <a:ext uri="{FF2B5EF4-FFF2-40B4-BE49-F238E27FC236}">
                <a16:creationId xmlns:a16="http://schemas.microsoft.com/office/drawing/2014/main" id="{14753802-9A8A-4F41-91F6-49183BB4AD70}"/>
              </a:ext>
            </a:extLst>
          </p:cNvPr>
          <p:cNvSpPr/>
          <p:nvPr/>
        </p:nvSpPr>
        <p:spPr>
          <a:xfrm rot="10800000">
            <a:off x="0" y="4359593"/>
            <a:ext cx="2973070" cy="2496820"/>
          </a:xfrm>
          <a:custGeom>
            <a:avLst/>
            <a:gdLst/>
            <a:ahLst/>
            <a:cxnLst/>
            <a:rect l="l" t="t" r="r" b="b"/>
            <a:pathLst>
              <a:path w="2973070" h="2496820">
                <a:moveTo>
                  <a:pt x="2020557" y="2496807"/>
                </a:moveTo>
                <a:lnTo>
                  <a:pt x="0" y="476250"/>
                </a:lnTo>
                <a:lnTo>
                  <a:pt x="476250" y="0"/>
                </a:lnTo>
                <a:lnTo>
                  <a:pt x="2973057" y="0"/>
                </a:lnTo>
                <a:lnTo>
                  <a:pt x="2973057" y="1544307"/>
                </a:lnTo>
                <a:lnTo>
                  <a:pt x="2020557" y="2496807"/>
                </a:lnTo>
                <a:close/>
              </a:path>
            </a:pathLst>
          </a:custGeom>
          <a:solidFill>
            <a:srgbClr val="4A8FE2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/>
          <p:nvPr/>
        </p:nvSpPr>
        <p:spPr>
          <a:xfrm>
            <a:off x="295035" y="356863"/>
            <a:ext cx="275590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390" dirty="0">
                <a:solidFill>
                  <a:srgbClr val="003366"/>
                </a:solidFill>
                <a:latin typeface="Calibri"/>
                <a:cs typeface="Calibri"/>
              </a:rPr>
              <a:t>CONCLUSION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003733" y="1244288"/>
            <a:ext cx="5715000" cy="2343150"/>
            <a:chOff x="6095999" y="876299"/>
            <a:chExt cx="5715000" cy="2343150"/>
          </a:xfrm>
        </p:grpSpPr>
        <p:sp>
          <p:nvSpPr>
            <p:cNvPr id="9" name="object 9"/>
            <p:cNvSpPr/>
            <p:nvPr/>
          </p:nvSpPr>
          <p:spPr>
            <a:xfrm>
              <a:off x="6095999" y="876299"/>
              <a:ext cx="5715000" cy="2343150"/>
            </a:xfrm>
            <a:custGeom>
              <a:avLst/>
              <a:gdLst/>
              <a:ahLst/>
              <a:cxnLst/>
              <a:rect l="l" t="t" r="r" b="b"/>
              <a:pathLst>
                <a:path w="5715000" h="2343150">
                  <a:moveTo>
                    <a:pt x="5676899" y="2343149"/>
                  </a:moveTo>
                  <a:lnTo>
                    <a:pt x="38099" y="2343149"/>
                  </a:lnTo>
                  <a:lnTo>
                    <a:pt x="30497" y="2342452"/>
                  </a:lnTo>
                  <a:lnTo>
                    <a:pt x="697" y="2312651"/>
                  </a:lnTo>
                  <a:lnTo>
                    <a:pt x="0" y="230504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5676899" y="0"/>
                  </a:lnTo>
                  <a:lnTo>
                    <a:pt x="5712209" y="23474"/>
                  </a:lnTo>
                  <a:lnTo>
                    <a:pt x="5714999" y="38099"/>
                  </a:lnTo>
                  <a:lnTo>
                    <a:pt x="5714999" y="2305049"/>
                  </a:lnTo>
                  <a:lnTo>
                    <a:pt x="5691525" y="2340359"/>
                  </a:lnTo>
                  <a:lnTo>
                    <a:pt x="5676899" y="2343149"/>
                  </a:lnTo>
                  <a:close/>
                </a:path>
              </a:pathLst>
            </a:custGeom>
            <a:solidFill>
              <a:srgbClr val="E3F1FD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95999" y="876299"/>
              <a:ext cx="5715000" cy="2343150"/>
            </a:xfrm>
            <a:custGeom>
              <a:avLst/>
              <a:gdLst/>
              <a:ahLst/>
              <a:cxnLst/>
              <a:rect l="l" t="t" r="r" b="b"/>
              <a:pathLst>
                <a:path w="5715000" h="2343150">
                  <a:moveTo>
                    <a:pt x="5676899" y="2343149"/>
                  </a:moveTo>
                  <a:lnTo>
                    <a:pt x="38099" y="2343149"/>
                  </a:lnTo>
                  <a:lnTo>
                    <a:pt x="30497" y="2342452"/>
                  </a:lnTo>
                  <a:lnTo>
                    <a:pt x="697" y="2312651"/>
                  </a:lnTo>
                  <a:lnTo>
                    <a:pt x="0" y="2305049"/>
                  </a:lnTo>
                  <a:lnTo>
                    <a:pt x="0" y="38099"/>
                  </a:lnTo>
                  <a:lnTo>
                    <a:pt x="681" y="30665"/>
                  </a:lnTo>
                  <a:lnTo>
                    <a:pt x="697" y="30498"/>
                  </a:lnTo>
                  <a:lnTo>
                    <a:pt x="2732" y="23663"/>
                  </a:lnTo>
                  <a:lnTo>
                    <a:pt x="2789" y="23474"/>
                  </a:lnTo>
                  <a:lnTo>
                    <a:pt x="6276" y="17027"/>
                  </a:lnTo>
                  <a:lnTo>
                    <a:pt x="38099" y="0"/>
                  </a:lnTo>
                  <a:lnTo>
                    <a:pt x="5676899" y="0"/>
                  </a:lnTo>
                  <a:lnTo>
                    <a:pt x="5684501" y="697"/>
                  </a:lnTo>
                  <a:lnTo>
                    <a:pt x="5691525" y="2789"/>
                  </a:lnTo>
                  <a:lnTo>
                    <a:pt x="5697971" y="6277"/>
                  </a:lnTo>
                  <a:lnTo>
                    <a:pt x="5701876" y="9524"/>
                  </a:lnTo>
                  <a:lnTo>
                    <a:pt x="34309" y="9524"/>
                  </a:lnTo>
                  <a:lnTo>
                    <a:pt x="30664" y="10249"/>
                  </a:lnTo>
                  <a:lnTo>
                    <a:pt x="23662" y="13150"/>
                  </a:lnTo>
                  <a:lnTo>
                    <a:pt x="20572" y="15214"/>
                  </a:lnTo>
                  <a:lnTo>
                    <a:pt x="15213" y="20573"/>
                  </a:lnTo>
                  <a:lnTo>
                    <a:pt x="13275" y="23474"/>
                  </a:lnTo>
                  <a:lnTo>
                    <a:pt x="13148" y="23663"/>
                  </a:lnTo>
                  <a:lnTo>
                    <a:pt x="10318" y="30498"/>
                  </a:lnTo>
                  <a:lnTo>
                    <a:pt x="10249" y="30665"/>
                  </a:lnTo>
                  <a:lnTo>
                    <a:pt x="9524" y="34310"/>
                  </a:lnTo>
                  <a:lnTo>
                    <a:pt x="9524" y="2308838"/>
                  </a:lnTo>
                  <a:lnTo>
                    <a:pt x="34309" y="2333624"/>
                  </a:lnTo>
                  <a:lnTo>
                    <a:pt x="5701876" y="2333624"/>
                  </a:lnTo>
                  <a:lnTo>
                    <a:pt x="5697971" y="2336872"/>
                  </a:lnTo>
                  <a:lnTo>
                    <a:pt x="5691525" y="2340360"/>
                  </a:lnTo>
                  <a:lnTo>
                    <a:pt x="5684501" y="2342452"/>
                  </a:lnTo>
                  <a:lnTo>
                    <a:pt x="5676899" y="2343149"/>
                  </a:lnTo>
                  <a:close/>
                </a:path>
                <a:path w="5715000" h="2343150">
                  <a:moveTo>
                    <a:pt x="5701876" y="2333624"/>
                  </a:moveTo>
                  <a:lnTo>
                    <a:pt x="5680687" y="2333624"/>
                  </a:lnTo>
                  <a:lnTo>
                    <a:pt x="5684332" y="2332899"/>
                  </a:lnTo>
                  <a:lnTo>
                    <a:pt x="5691334" y="2329999"/>
                  </a:lnTo>
                  <a:lnTo>
                    <a:pt x="5705472" y="2308838"/>
                  </a:lnTo>
                  <a:lnTo>
                    <a:pt x="5705472" y="34310"/>
                  </a:lnTo>
                  <a:lnTo>
                    <a:pt x="5680687" y="9524"/>
                  </a:lnTo>
                  <a:lnTo>
                    <a:pt x="5701876" y="9524"/>
                  </a:lnTo>
                  <a:lnTo>
                    <a:pt x="5714999" y="2305049"/>
                  </a:lnTo>
                  <a:lnTo>
                    <a:pt x="5714317" y="2312483"/>
                  </a:lnTo>
                  <a:lnTo>
                    <a:pt x="5714302" y="2312651"/>
                  </a:lnTo>
                  <a:lnTo>
                    <a:pt x="5712266" y="2319485"/>
                  </a:lnTo>
                  <a:lnTo>
                    <a:pt x="5712209" y="2319675"/>
                  </a:lnTo>
                  <a:lnTo>
                    <a:pt x="5708722" y="2326121"/>
                  </a:lnTo>
                  <a:lnTo>
                    <a:pt x="5703840" y="2331990"/>
                  </a:lnTo>
                  <a:lnTo>
                    <a:pt x="5701876" y="2333624"/>
                  </a:lnTo>
                  <a:close/>
                </a:path>
              </a:pathLst>
            </a:custGeom>
            <a:solidFill>
              <a:srgbClr val="4A8FE2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375333" y="817453"/>
            <a:ext cx="2955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305" dirty="0">
                <a:solidFill>
                  <a:srgbClr val="0052CC"/>
                </a:solidFill>
              </a:rPr>
              <a:t>KEY</a:t>
            </a:r>
            <a:r>
              <a:rPr sz="1800" spc="105" dirty="0">
                <a:solidFill>
                  <a:srgbClr val="0052CC"/>
                </a:solidFill>
              </a:rPr>
              <a:t> </a:t>
            </a:r>
            <a:r>
              <a:rPr sz="1800" spc="250" dirty="0">
                <a:solidFill>
                  <a:srgbClr val="0052CC"/>
                </a:solidFill>
              </a:rPr>
              <a:t>METRICS</a:t>
            </a:r>
            <a:r>
              <a:rPr sz="1800" spc="105" dirty="0">
                <a:solidFill>
                  <a:srgbClr val="0052CC"/>
                </a:solidFill>
              </a:rPr>
              <a:t> </a:t>
            </a:r>
            <a:r>
              <a:rPr sz="1800" spc="225" dirty="0">
                <a:solidFill>
                  <a:srgbClr val="0052CC"/>
                </a:solidFill>
              </a:rPr>
              <a:t>SUMMARY</a:t>
            </a:r>
            <a:endParaRPr sz="1800" dirty="0"/>
          </a:p>
        </p:txBody>
      </p:sp>
      <p:sp>
        <p:nvSpPr>
          <p:cNvPr id="12" name="object 12"/>
          <p:cNvSpPr/>
          <p:nvPr/>
        </p:nvSpPr>
        <p:spPr>
          <a:xfrm>
            <a:off x="6167868" y="1490667"/>
            <a:ext cx="357505" cy="1850389"/>
          </a:xfrm>
          <a:custGeom>
            <a:avLst/>
            <a:gdLst/>
            <a:ahLst/>
            <a:cxnLst/>
            <a:rect l="l" t="t" r="r" b="b"/>
            <a:pathLst>
              <a:path w="357504" h="1850389">
                <a:moveTo>
                  <a:pt x="125018" y="1603209"/>
                </a:moveTo>
                <a:lnTo>
                  <a:pt x="102933" y="1570151"/>
                </a:lnTo>
                <a:lnTo>
                  <a:pt x="86296" y="1564487"/>
                </a:lnTo>
                <a:lnTo>
                  <a:pt x="74447" y="1564487"/>
                </a:lnTo>
                <a:lnTo>
                  <a:pt x="41389" y="1586572"/>
                </a:lnTo>
                <a:lnTo>
                  <a:pt x="35725" y="1603209"/>
                </a:lnTo>
                <a:lnTo>
                  <a:pt x="35725" y="1615046"/>
                </a:lnTo>
                <a:lnTo>
                  <a:pt x="57823" y="1648117"/>
                </a:lnTo>
                <a:lnTo>
                  <a:pt x="74447" y="1653781"/>
                </a:lnTo>
                <a:lnTo>
                  <a:pt x="86296" y="1653781"/>
                </a:lnTo>
                <a:lnTo>
                  <a:pt x="119354" y="1631683"/>
                </a:lnTo>
                <a:lnTo>
                  <a:pt x="125018" y="1615046"/>
                </a:lnTo>
                <a:lnTo>
                  <a:pt x="125018" y="1603209"/>
                </a:lnTo>
                <a:close/>
              </a:path>
              <a:path w="357504" h="1850389">
                <a:moveTo>
                  <a:pt x="131381" y="1743075"/>
                </a:moveTo>
                <a:lnTo>
                  <a:pt x="121323" y="1732089"/>
                </a:lnTo>
                <a:lnTo>
                  <a:pt x="113753" y="1719364"/>
                </a:lnTo>
                <a:lnTo>
                  <a:pt x="108915" y="1705013"/>
                </a:lnTo>
                <a:lnTo>
                  <a:pt x="107213" y="1689493"/>
                </a:lnTo>
                <a:lnTo>
                  <a:pt x="107213" y="1685251"/>
                </a:lnTo>
                <a:lnTo>
                  <a:pt x="107556" y="1681073"/>
                </a:lnTo>
                <a:lnTo>
                  <a:pt x="108280" y="1677047"/>
                </a:lnTo>
                <a:lnTo>
                  <a:pt x="102349" y="1674723"/>
                </a:lnTo>
                <a:lnTo>
                  <a:pt x="96189" y="1673021"/>
                </a:lnTo>
                <a:lnTo>
                  <a:pt x="89814" y="1671993"/>
                </a:lnTo>
                <a:lnTo>
                  <a:pt x="83388" y="1671637"/>
                </a:lnTo>
                <a:lnTo>
                  <a:pt x="59550" y="1671637"/>
                </a:lnTo>
                <a:lnTo>
                  <a:pt x="36385" y="1676323"/>
                </a:lnTo>
                <a:lnTo>
                  <a:pt x="17449" y="1689087"/>
                </a:lnTo>
                <a:lnTo>
                  <a:pt x="4686" y="1708010"/>
                </a:lnTo>
                <a:lnTo>
                  <a:pt x="0" y="1731187"/>
                </a:lnTo>
                <a:lnTo>
                  <a:pt x="0" y="1737652"/>
                </a:lnTo>
                <a:lnTo>
                  <a:pt x="2628" y="1740344"/>
                </a:lnTo>
                <a:lnTo>
                  <a:pt x="5359" y="1743075"/>
                </a:lnTo>
                <a:lnTo>
                  <a:pt x="131381" y="1743075"/>
                </a:lnTo>
                <a:close/>
              </a:path>
              <a:path w="357504" h="1850389">
                <a:moveTo>
                  <a:pt x="232181" y="1693011"/>
                </a:moveTo>
                <a:lnTo>
                  <a:pt x="229336" y="1671993"/>
                </a:lnTo>
                <a:lnTo>
                  <a:pt x="226758" y="1665744"/>
                </a:lnTo>
                <a:lnTo>
                  <a:pt x="195859" y="1638655"/>
                </a:lnTo>
                <a:lnTo>
                  <a:pt x="182118" y="1635925"/>
                </a:lnTo>
                <a:lnTo>
                  <a:pt x="175082" y="1635925"/>
                </a:lnTo>
                <a:lnTo>
                  <a:pt x="138226" y="1654098"/>
                </a:lnTo>
                <a:lnTo>
                  <a:pt x="125018" y="1693011"/>
                </a:lnTo>
                <a:lnTo>
                  <a:pt x="125361" y="1696504"/>
                </a:lnTo>
                <a:lnTo>
                  <a:pt x="145910" y="1732089"/>
                </a:lnTo>
                <a:lnTo>
                  <a:pt x="175082" y="1743075"/>
                </a:lnTo>
                <a:lnTo>
                  <a:pt x="182118" y="1743075"/>
                </a:lnTo>
                <a:lnTo>
                  <a:pt x="218973" y="1724901"/>
                </a:lnTo>
                <a:lnTo>
                  <a:pt x="231838" y="1696504"/>
                </a:lnTo>
                <a:lnTo>
                  <a:pt x="232181" y="1693011"/>
                </a:lnTo>
                <a:close/>
              </a:path>
              <a:path w="357504" h="1850389">
                <a:moveTo>
                  <a:pt x="233959" y="749503"/>
                </a:moveTo>
                <a:lnTo>
                  <a:pt x="142875" y="658418"/>
                </a:lnTo>
                <a:lnTo>
                  <a:pt x="142875" y="520230"/>
                </a:lnTo>
                <a:lnTo>
                  <a:pt x="138531" y="516102"/>
                </a:lnTo>
                <a:lnTo>
                  <a:pt x="87820" y="531799"/>
                </a:lnTo>
                <a:lnTo>
                  <a:pt x="51168" y="561111"/>
                </a:lnTo>
                <a:lnTo>
                  <a:pt x="26746" y="601459"/>
                </a:lnTo>
                <a:lnTo>
                  <a:pt x="17868" y="649490"/>
                </a:lnTo>
                <a:lnTo>
                  <a:pt x="24701" y="691832"/>
                </a:lnTo>
                <a:lnTo>
                  <a:pt x="43713" y="728599"/>
                </a:lnTo>
                <a:lnTo>
                  <a:pt x="72720" y="757593"/>
                </a:lnTo>
                <a:lnTo>
                  <a:pt x="109486" y="776605"/>
                </a:lnTo>
                <a:lnTo>
                  <a:pt x="151815" y="783437"/>
                </a:lnTo>
                <a:lnTo>
                  <a:pt x="173050" y="781761"/>
                </a:lnTo>
                <a:lnTo>
                  <a:pt x="193230" y="776897"/>
                </a:lnTo>
                <a:lnTo>
                  <a:pt x="212102" y="769112"/>
                </a:lnTo>
                <a:lnTo>
                  <a:pt x="229387" y="758647"/>
                </a:lnTo>
                <a:lnTo>
                  <a:pt x="233680" y="755637"/>
                </a:lnTo>
                <a:lnTo>
                  <a:pt x="233959" y="749503"/>
                </a:lnTo>
                <a:close/>
              </a:path>
              <a:path w="357504" h="1850389">
                <a:moveTo>
                  <a:pt x="285572" y="1166812"/>
                </a:moveTo>
                <a:lnTo>
                  <a:pt x="277406" y="1125829"/>
                </a:lnTo>
                <a:lnTo>
                  <a:pt x="257632" y="1088834"/>
                </a:lnTo>
                <a:lnTo>
                  <a:pt x="254368" y="1084656"/>
                </a:lnTo>
                <a:lnTo>
                  <a:pt x="253326" y="1083322"/>
                </a:lnTo>
                <a:lnTo>
                  <a:pt x="222262" y="1055154"/>
                </a:lnTo>
                <a:lnTo>
                  <a:pt x="211747" y="1048816"/>
                </a:lnTo>
                <a:lnTo>
                  <a:pt x="211747" y="1210906"/>
                </a:lnTo>
                <a:lnTo>
                  <a:pt x="203492" y="1223289"/>
                </a:lnTo>
                <a:lnTo>
                  <a:pt x="195173" y="1224965"/>
                </a:lnTo>
                <a:lnTo>
                  <a:pt x="131724" y="1182611"/>
                </a:lnTo>
                <a:lnTo>
                  <a:pt x="129489" y="1178420"/>
                </a:lnTo>
                <a:lnTo>
                  <a:pt x="129489" y="1090625"/>
                </a:lnTo>
                <a:lnTo>
                  <a:pt x="135458" y="1084656"/>
                </a:lnTo>
                <a:lnTo>
                  <a:pt x="150304" y="1084656"/>
                </a:lnTo>
                <a:lnTo>
                  <a:pt x="156273" y="1090625"/>
                </a:lnTo>
                <a:lnTo>
                  <a:pt x="156273" y="1166812"/>
                </a:lnTo>
                <a:lnTo>
                  <a:pt x="210070" y="1202639"/>
                </a:lnTo>
                <a:lnTo>
                  <a:pt x="211747" y="1210906"/>
                </a:lnTo>
                <a:lnTo>
                  <a:pt x="211747" y="1048816"/>
                </a:lnTo>
                <a:lnTo>
                  <a:pt x="170751" y="1033830"/>
                </a:lnTo>
                <a:lnTo>
                  <a:pt x="142875" y="1031087"/>
                </a:lnTo>
                <a:lnTo>
                  <a:pt x="135864" y="1031252"/>
                </a:lnTo>
                <a:lnTo>
                  <a:pt x="94754" y="1039431"/>
                </a:lnTo>
                <a:lnTo>
                  <a:pt x="57759" y="1059205"/>
                </a:lnTo>
                <a:lnTo>
                  <a:pt x="28130" y="1088834"/>
                </a:lnTo>
                <a:lnTo>
                  <a:pt x="8356" y="1125829"/>
                </a:lnTo>
                <a:lnTo>
                  <a:pt x="190" y="1166812"/>
                </a:lnTo>
                <a:lnTo>
                  <a:pt x="0" y="1173962"/>
                </a:lnTo>
                <a:lnTo>
                  <a:pt x="114" y="1178420"/>
                </a:lnTo>
                <a:lnTo>
                  <a:pt x="177" y="1180973"/>
                </a:lnTo>
                <a:lnTo>
                  <a:pt x="8356" y="1222082"/>
                </a:lnTo>
                <a:lnTo>
                  <a:pt x="28130" y="1259078"/>
                </a:lnTo>
                <a:lnTo>
                  <a:pt x="57759" y="1288707"/>
                </a:lnTo>
                <a:lnTo>
                  <a:pt x="94754" y="1308481"/>
                </a:lnTo>
                <a:lnTo>
                  <a:pt x="135864" y="1316659"/>
                </a:lnTo>
                <a:lnTo>
                  <a:pt x="142875" y="1316837"/>
                </a:lnTo>
                <a:lnTo>
                  <a:pt x="149898" y="1316659"/>
                </a:lnTo>
                <a:lnTo>
                  <a:pt x="191008" y="1308481"/>
                </a:lnTo>
                <a:lnTo>
                  <a:pt x="228003" y="1288707"/>
                </a:lnTo>
                <a:lnTo>
                  <a:pt x="257632" y="1259078"/>
                </a:lnTo>
                <a:lnTo>
                  <a:pt x="276288" y="1224965"/>
                </a:lnTo>
                <a:lnTo>
                  <a:pt x="277406" y="1222082"/>
                </a:lnTo>
                <a:lnTo>
                  <a:pt x="285470" y="1182611"/>
                </a:lnTo>
                <a:lnTo>
                  <a:pt x="285572" y="1166812"/>
                </a:lnTo>
                <a:close/>
              </a:path>
              <a:path w="357504" h="1850389">
                <a:moveTo>
                  <a:pt x="285750" y="1835327"/>
                </a:moveTo>
                <a:lnTo>
                  <a:pt x="279908" y="1806371"/>
                </a:lnTo>
                <a:lnTo>
                  <a:pt x="263956" y="1782724"/>
                </a:lnTo>
                <a:lnTo>
                  <a:pt x="240309" y="1766785"/>
                </a:lnTo>
                <a:lnTo>
                  <a:pt x="211366" y="1760931"/>
                </a:lnTo>
                <a:lnTo>
                  <a:pt x="145834" y="1760931"/>
                </a:lnTo>
                <a:lnTo>
                  <a:pt x="116890" y="1766785"/>
                </a:lnTo>
                <a:lnTo>
                  <a:pt x="93243" y="1782724"/>
                </a:lnTo>
                <a:lnTo>
                  <a:pt x="77292" y="1806371"/>
                </a:lnTo>
                <a:lnTo>
                  <a:pt x="71437" y="1835327"/>
                </a:lnTo>
                <a:lnTo>
                  <a:pt x="71437" y="1843532"/>
                </a:lnTo>
                <a:lnTo>
                  <a:pt x="78143" y="1850237"/>
                </a:lnTo>
                <a:lnTo>
                  <a:pt x="279120" y="1850237"/>
                </a:lnTo>
                <a:lnTo>
                  <a:pt x="285750" y="1843532"/>
                </a:lnTo>
                <a:lnTo>
                  <a:pt x="285750" y="1835327"/>
                </a:lnTo>
                <a:close/>
              </a:path>
              <a:path w="357504" h="1850389">
                <a:moveTo>
                  <a:pt x="303618" y="622693"/>
                </a:moveTo>
                <a:lnTo>
                  <a:pt x="293789" y="574040"/>
                </a:lnTo>
                <a:lnTo>
                  <a:pt x="266992" y="534301"/>
                </a:lnTo>
                <a:lnTo>
                  <a:pt x="227253" y="507504"/>
                </a:lnTo>
                <a:lnTo>
                  <a:pt x="178600" y="497687"/>
                </a:lnTo>
                <a:lnTo>
                  <a:pt x="173570" y="497687"/>
                </a:lnTo>
                <a:lnTo>
                  <a:pt x="169672" y="501929"/>
                </a:lnTo>
                <a:lnTo>
                  <a:pt x="169672" y="631621"/>
                </a:lnTo>
                <a:lnTo>
                  <a:pt x="299377" y="631621"/>
                </a:lnTo>
                <a:lnTo>
                  <a:pt x="303618" y="627722"/>
                </a:lnTo>
                <a:lnTo>
                  <a:pt x="303618" y="622693"/>
                </a:lnTo>
                <a:close/>
              </a:path>
              <a:path w="357504" h="1850389">
                <a:moveTo>
                  <a:pt x="320916" y="662774"/>
                </a:moveTo>
                <a:lnTo>
                  <a:pt x="316839" y="658418"/>
                </a:lnTo>
                <a:lnTo>
                  <a:pt x="178600" y="658418"/>
                </a:lnTo>
                <a:lnTo>
                  <a:pt x="267169" y="746937"/>
                </a:lnTo>
                <a:lnTo>
                  <a:pt x="270408" y="750227"/>
                </a:lnTo>
                <a:lnTo>
                  <a:pt x="306235" y="711631"/>
                </a:lnTo>
                <a:lnTo>
                  <a:pt x="320243" y="667905"/>
                </a:lnTo>
                <a:lnTo>
                  <a:pt x="320916" y="662774"/>
                </a:lnTo>
                <a:close/>
              </a:path>
              <a:path w="357504" h="1850389">
                <a:moveTo>
                  <a:pt x="321475" y="35725"/>
                </a:moveTo>
                <a:lnTo>
                  <a:pt x="318668" y="21831"/>
                </a:lnTo>
                <a:lnTo>
                  <a:pt x="310997" y="10477"/>
                </a:lnTo>
                <a:lnTo>
                  <a:pt x="299643" y="2806"/>
                </a:lnTo>
                <a:lnTo>
                  <a:pt x="285750" y="0"/>
                </a:lnTo>
                <a:lnTo>
                  <a:pt x="35725" y="0"/>
                </a:lnTo>
                <a:lnTo>
                  <a:pt x="21831" y="2806"/>
                </a:lnTo>
                <a:lnTo>
                  <a:pt x="10477" y="10477"/>
                </a:lnTo>
                <a:lnTo>
                  <a:pt x="2819" y="21831"/>
                </a:lnTo>
                <a:lnTo>
                  <a:pt x="0" y="35725"/>
                </a:lnTo>
                <a:lnTo>
                  <a:pt x="0" y="76352"/>
                </a:lnTo>
                <a:lnTo>
                  <a:pt x="4140" y="80200"/>
                </a:lnTo>
                <a:lnTo>
                  <a:pt x="8763" y="81813"/>
                </a:lnTo>
                <a:lnTo>
                  <a:pt x="16014" y="85661"/>
                </a:lnTo>
                <a:lnTo>
                  <a:pt x="21717" y="91452"/>
                </a:lnTo>
                <a:lnTo>
                  <a:pt x="25450" y="98767"/>
                </a:lnTo>
                <a:lnTo>
                  <a:pt x="26797" y="107162"/>
                </a:lnTo>
                <a:lnTo>
                  <a:pt x="25450" y="115544"/>
                </a:lnTo>
                <a:lnTo>
                  <a:pt x="21717" y="122859"/>
                </a:lnTo>
                <a:lnTo>
                  <a:pt x="16014" y="128651"/>
                </a:lnTo>
                <a:lnTo>
                  <a:pt x="8763" y="132499"/>
                </a:lnTo>
                <a:lnTo>
                  <a:pt x="4140" y="134112"/>
                </a:lnTo>
                <a:lnTo>
                  <a:pt x="0" y="137960"/>
                </a:lnTo>
                <a:lnTo>
                  <a:pt x="0" y="178600"/>
                </a:lnTo>
                <a:lnTo>
                  <a:pt x="2819" y="192481"/>
                </a:lnTo>
                <a:lnTo>
                  <a:pt x="10477" y="203847"/>
                </a:lnTo>
                <a:lnTo>
                  <a:pt x="21831" y="211505"/>
                </a:lnTo>
                <a:lnTo>
                  <a:pt x="35725" y="214312"/>
                </a:lnTo>
                <a:lnTo>
                  <a:pt x="285750" y="214312"/>
                </a:lnTo>
                <a:lnTo>
                  <a:pt x="299643" y="211505"/>
                </a:lnTo>
                <a:lnTo>
                  <a:pt x="310997" y="203847"/>
                </a:lnTo>
                <a:lnTo>
                  <a:pt x="318668" y="192481"/>
                </a:lnTo>
                <a:lnTo>
                  <a:pt x="321475" y="178600"/>
                </a:lnTo>
                <a:lnTo>
                  <a:pt x="321475" y="137960"/>
                </a:lnTo>
                <a:lnTo>
                  <a:pt x="317347" y="134112"/>
                </a:lnTo>
                <a:lnTo>
                  <a:pt x="312712" y="132499"/>
                </a:lnTo>
                <a:lnTo>
                  <a:pt x="305473" y="128651"/>
                </a:lnTo>
                <a:lnTo>
                  <a:pt x="299770" y="122859"/>
                </a:lnTo>
                <a:lnTo>
                  <a:pt x="296024" y="115544"/>
                </a:lnTo>
                <a:lnTo>
                  <a:pt x="294690" y="107162"/>
                </a:lnTo>
                <a:lnTo>
                  <a:pt x="296024" y="98767"/>
                </a:lnTo>
                <a:lnTo>
                  <a:pt x="299770" y="91452"/>
                </a:lnTo>
                <a:lnTo>
                  <a:pt x="305473" y="85661"/>
                </a:lnTo>
                <a:lnTo>
                  <a:pt x="312712" y="81813"/>
                </a:lnTo>
                <a:lnTo>
                  <a:pt x="317347" y="80200"/>
                </a:lnTo>
                <a:lnTo>
                  <a:pt x="321475" y="76352"/>
                </a:lnTo>
                <a:lnTo>
                  <a:pt x="321475" y="35725"/>
                </a:lnTo>
                <a:close/>
              </a:path>
              <a:path w="357504" h="1850389">
                <a:moveTo>
                  <a:pt x="330403" y="1603209"/>
                </a:moveTo>
                <a:lnTo>
                  <a:pt x="308317" y="1570151"/>
                </a:lnTo>
                <a:lnTo>
                  <a:pt x="291680" y="1564487"/>
                </a:lnTo>
                <a:lnTo>
                  <a:pt x="279831" y="1564487"/>
                </a:lnTo>
                <a:lnTo>
                  <a:pt x="246773" y="1586572"/>
                </a:lnTo>
                <a:lnTo>
                  <a:pt x="241109" y="1603209"/>
                </a:lnTo>
                <a:lnTo>
                  <a:pt x="241109" y="1615046"/>
                </a:lnTo>
                <a:lnTo>
                  <a:pt x="263194" y="1648117"/>
                </a:lnTo>
                <a:lnTo>
                  <a:pt x="279831" y="1653781"/>
                </a:lnTo>
                <a:lnTo>
                  <a:pt x="291680" y="1653781"/>
                </a:lnTo>
                <a:lnTo>
                  <a:pt x="324739" y="1631683"/>
                </a:lnTo>
                <a:lnTo>
                  <a:pt x="330403" y="1615046"/>
                </a:lnTo>
                <a:lnTo>
                  <a:pt x="330403" y="1603209"/>
                </a:lnTo>
                <a:close/>
              </a:path>
              <a:path w="357504" h="1850389">
                <a:moveTo>
                  <a:pt x="357187" y="1731187"/>
                </a:moveTo>
                <a:lnTo>
                  <a:pt x="352513" y="1708010"/>
                </a:lnTo>
                <a:lnTo>
                  <a:pt x="339750" y="1689087"/>
                </a:lnTo>
                <a:lnTo>
                  <a:pt x="320814" y="1676323"/>
                </a:lnTo>
                <a:lnTo>
                  <a:pt x="297649" y="1671637"/>
                </a:lnTo>
                <a:lnTo>
                  <a:pt x="273812" y="1671637"/>
                </a:lnTo>
                <a:lnTo>
                  <a:pt x="267246" y="1671993"/>
                </a:lnTo>
                <a:lnTo>
                  <a:pt x="260883" y="1673021"/>
                </a:lnTo>
                <a:lnTo>
                  <a:pt x="254762" y="1674723"/>
                </a:lnTo>
                <a:lnTo>
                  <a:pt x="248920" y="1677047"/>
                </a:lnTo>
                <a:lnTo>
                  <a:pt x="249580" y="1681073"/>
                </a:lnTo>
                <a:lnTo>
                  <a:pt x="249986" y="1685251"/>
                </a:lnTo>
                <a:lnTo>
                  <a:pt x="249986" y="1689493"/>
                </a:lnTo>
                <a:lnTo>
                  <a:pt x="248297" y="1705013"/>
                </a:lnTo>
                <a:lnTo>
                  <a:pt x="243471" y="1719364"/>
                </a:lnTo>
                <a:lnTo>
                  <a:pt x="235902" y="1732089"/>
                </a:lnTo>
                <a:lnTo>
                  <a:pt x="225818" y="1743075"/>
                </a:lnTo>
                <a:lnTo>
                  <a:pt x="351840" y="1743075"/>
                </a:lnTo>
                <a:lnTo>
                  <a:pt x="354596" y="1740344"/>
                </a:lnTo>
                <a:lnTo>
                  <a:pt x="357187" y="1737652"/>
                </a:lnTo>
                <a:lnTo>
                  <a:pt x="357187" y="1731187"/>
                </a:lnTo>
                <a:close/>
              </a:path>
            </a:pathLst>
          </a:custGeom>
          <a:solidFill>
            <a:srgbClr val="0052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794308" y="1384940"/>
            <a:ext cx="4048125" cy="206184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340"/>
              </a:spcBef>
            </a:pPr>
            <a:r>
              <a:rPr sz="1300" spc="-50" dirty="0">
                <a:solidFill>
                  <a:srgbClr val="003366"/>
                </a:solidFill>
                <a:latin typeface="Arial"/>
                <a:cs typeface="Arial"/>
              </a:rPr>
              <a:t>Ticket</a:t>
            </a:r>
            <a:r>
              <a:rPr sz="1300" spc="-7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003366"/>
                </a:solidFill>
                <a:latin typeface="Arial"/>
                <a:cs typeface="Arial"/>
              </a:rPr>
              <a:t>Growth</a:t>
            </a:r>
            <a:endParaRPr sz="1300" dirty="0">
              <a:latin typeface="Arial"/>
              <a:cs typeface="Arial"/>
            </a:endParaRPr>
          </a:p>
          <a:p>
            <a:pPr marL="48260">
              <a:lnSpc>
                <a:spcPct val="100000"/>
              </a:lnSpc>
              <a:spcBef>
                <a:spcPts val="190"/>
              </a:spcBef>
            </a:pPr>
            <a:r>
              <a:rPr sz="1200" spc="-20" dirty="0">
                <a:solidFill>
                  <a:srgbClr val="003366"/>
                </a:solidFill>
                <a:latin typeface="Lato"/>
                <a:cs typeface="Lato"/>
              </a:rPr>
              <a:t>123%</a:t>
            </a:r>
            <a:r>
              <a:rPr sz="12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increase</a:t>
            </a:r>
            <a:r>
              <a:rPr sz="12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(2016-2020),</a:t>
            </a:r>
            <a:r>
              <a:rPr sz="12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29,088</a:t>
            </a:r>
            <a:r>
              <a:rPr sz="12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tickets</a:t>
            </a:r>
            <a:r>
              <a:rPr sz="12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in</a:t>
            </a:r>
            <a:r>
              <a:rPr sz="12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20" dirty="0">
                <a:solidFill>
                  <a:srgbClr val="003366"/>
                </a:solidFill>
                <a:latin typeface="Lato"/>
                <a:cs typeface="Lato"/>
              </a:rPr>
              <a:t>2020</a:t>
            </a:r>
            <a:endParaRPr sz="1200" dirty="0">
              <a:latin typeface="Lato"/>
              <a:cs typeface="Lato"/>
            </a:endParaRPr>
          </a:p>
          <a:p>
            <a:pPr marL="48260">
              <a:lnSpc>
                <a:spcPct val="100000"/>
              </a:lnSpc>
              <a:spcBef>
                <a:spcPts val="1010"/>
              </a:spcBef>
            </a:pPr>
            <a:r>
              <a:rPr sz="1300" spc="-60" dirty="0">
                <a:solidFill>
                  <a:srgbClr val="003366"/>
                </a:solidFill>
                <a:latin typeface="Arial"/>
                <a:cs typeface="Arial"/>
              </a:rPr>
              <a:t>Category </a:t>
            </a:r>
            <a:r>
              <a:rPr sz="1300" spc="-10" dirty="0">
                <a:solidFill>
                  <a:srgbClr val="003366"/>
                </a:solidFill>
                <a:latin typeface="Arial"/>
                <a:cs typeface="Arial"/>
              </a:rPr>
              <a:t>Distribution</a:t>
            </a:r>
            <a:endParaRPr sz="1300" dirty="0">
              <a:latin typeface="Arial"/>
              <a:cs typeface="Arial"/>
            </a:endParaRPr>
          </a:p>
          <a:p>
            <a:pPr marL="48260">
              <a:lnSpc>
                <a:spcPct val="100000"/>
              </a:lnSpc>
              <a:spcBef>
                <a:spcPts val="190"/>
              </a:spcBef>
            </a:pP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System</a:t>
            </a:r>
            <a:r>
              <a:rPr sz="1200" spc="-6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(40%),</a:t>
            </a:r>
            <a:r>
              <a:rPr sz="1200" spc="-6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Login</a:t>
            </a:r>
            <a:r>
              <a:rPr sz="12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(30%),</a:t>
            </a:r>
            <a:r>
              <a:rPr sz="1200" spc="-6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Software</a:t>
            </a:r>
            <a:r>
              <a:rPr sz="12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(20%),</a:t>
            </a:r>
            <a:r>
              <a:rPr sz="1200" spc="-6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Hardware</a:t>
            </a:r>
            <a:r>
              <a:rPr sz="1200" spc="-6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(10%)</a:t>
            </a:r>
            <a:endParaRPr sz="1200" dirty="0">
              <a:latin typeface="Lato"/>
              <a:cs typeface="Lato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300" spc="-65" dirty="0">
                <a:solidFill>
                  <a:srgbClr val="003366"/>
                </a:solidFill>
                <a:latin typeface="Arial"/>
                <a:cs typeface="Arial"/>
              </a:rPr>
              <a:t>Performance </a:t>
            </a:r>
            <a:r>
              <a:rPr sz="1300" spc="-10" dirty="0">
                <a:solidFill>
                  <a:srgbClr val="003366"/>
                </a:solidFill>
                <a:latin typeface="Arial"/>
                <a:cs typeface="Arial"/>
              </a:rPr>
              <a:t>Metrics</a:t>
            </a:r>
            <a:endParaRPr sz="13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200" spc="-25" dirty="0">
                <a:solidFill>
                  <a:srgbClr val="003366"/>
                </a:solidFill>
                <a:latin typeface="Lato"/>
                <a:cs typeface="Lato"/>
              </a:rPr>
              <a:t>Avg</a:t>
            </a:r>
            <a:r>
              <a:rPr sz="12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Res</a:t>
            </a:r>
            <a:r>
              <a:rPr sz="12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Time:</a:t>
            </a:r>
            <a:r>
              <a:rPr sz="12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25" dirty="0">
                <a:solidFill>
                  <a:srgbClr val="003366"/>
                </a:solidFill>
                <a:latin typeface="Lato"/>
                <a:cs typeface="Lato"/>
              </a:rPr>
              <a:t>4.6</a:t>
            </a:r>
            <a:r>
              <a:rPr sz="12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days,</a:t>
            </a:r>
            <a:r>
              <a:rPr sz="12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25" dirty="0">
                <a:solidFill>
                  <a:srgbClr val="003366"/>
                </a:solidFill>
                <a:latin typeface="Lato"/>
                <a:cs typeface="Lato"/>
              </a:rPr>
              <a:t>Avg</a:t>
            </a:r>
            <a:r>
              <a:rPr sz="12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Satisfaction:</a:t>
            </a:r>
            <a:r>
              <a:rPr sz="12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20" dirty="0">
                <a:solidFill>
                  <a:srgbClr val="003366"/>
                </a:solidFill>
                <a:latin typeface="Lato"/>
                <a:cs typeface="Lato"/>
              </a:rPr>
              <a:t>4.1/5</a:t>
            </a:r>
            <a:endParaRPr sz="1200" dirty="0">
              <a:latin typeface="Lato"/>
              <a:cs typeface="Lato"/>
            </a:endParaRPr>
          </a:p>
          <a:p>
            <a:pPr marL="83820">
              <a:lnSpc>
                <a:spcPct val="100000"/>
              </a:lnSpc>
              <a:spcBef>
                <a:spcPts val="1010"/>
              </a:spcBef>
            </a:pPr>
            <a:r>
              <a:rPr sz="1300" spc="-55" dirty="0">
                <a:solidFill>
                  <a:srgbClr val="003366"/>
                </a:solidFill>
                <a:latin typeface="Arial"/>
                <a:cs typeface="Arial"/>
              </a:rPr>
              <a:t>Agent</a:t>
            </a:r>
            <a:r>
              <a:rPr sz="1300" spc="-9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003366"/>
                </a:solidFill>
                <a:latin typeface="Arial"/>
                <a:cs typeface="Arial"/>
              </a:rPr>
              <a:t>Effectiveness</a:t>
            </a:r>
            <a:endParaRPr sz="1300" dirty="0">
              <a:latin typeface="Arial"/>
              <a:cs typeface="Arial"/>
            </a:endParaRPr>
          </a:p>
          <a:p>
            <a:pPr marL="83820">
              <a:lnSpc>
                <a:spcPct val="100000"/>
              </a:lnSpc>
              <a:spcBef>
                <a:spcPts val="190"/>
              </a:spcBef>
            </a:pPr>
            <a:r>
              <a:rPr sz="1200" spc="-25" dirty="0">
                <a:solidFill>
                  <a:srgbClr val="003366"/>
                </a:solidFill>
                <a:latin typeface="Lato"/>
                <a:cs typeface="Lato"/>
              </a:rPr>
              <a:t>41-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50</a:t>
            </a:r>
            <a:r>
              <a:rPr sz="12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age</a:t>
            </a:r>
            <a:r>
              <a:rPr sz="12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group</a:t>
            </a:r>
            <a:r>
              <a:rPr sz="12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most</a:t>
            </a:r>
            <a:r>
              <a:rPr sz="12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efficient</a:t>
            </a:r>
            <a:r>
              <a:rPr sz="12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(Res</a:t>
            </a:r>
            <a:r>
              <a:rPr sz="12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Time:</a:t>
            </a:r>
            <a:r>
              <a:rPr sz="12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3.99d)</a:t>
            </a:r>
            <a:endParaRPr sz="1200" dirty="0">
              <a:latin typeface="Lato"/>
              <a:cs typeface="Lat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218941" y="0"/>
            <a:ext cx="2973070" cy="2496820"/>
          </a:xfrm>
          <a:custGeom>
            <a:avLst/>
            <a:gdLst/>
            <a:ahLst/>
            <a:cxnLst/>
            <a:rect l="l" t="t" r="r" b="b"/>
            <a:pathLst>
              <a:path w="2973070" h="2496820">
                <a:moveTo>
                  <a:pt x="2020557" y="2496807"/>
                </a:moveTo>
                <a:lnTo>
                  <a:pt x="0" y="476250"/>
                </a:lnTo>
                <a:lnTo>
                  <a:pt x="476250" y="0"/>
                </a:lnTo>
                <a:lnTo>
                  <a:pt x="2973057" y="0"/>
                </a:lnTo>
                <a:lnTo>
                  <a:pt x="2973057" y="1544307"/>
                </a:lnTo>
                <a:lnTo>
                  <a:pt x="2020557" y="2496807"/>
                </a:lnTo>
                <a:close/>
              </a:path>
            </a:pathLst>
          </a:custGeom>
          <a:solidFill>
            <a:srgbClr val="4A8FE2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6061426" y="5183443"/>
            <a:ext cx="3374737" cy="1447800"/>
            <a:chOff x="380999" y="5438774"/>
            <a:chExt cx="5410200" cy="1447800"/>
          </a:xfrm>
        </p:grpSpPr>
        <p:sp>
          <p:nvSpPr>
            <p:cNvPr id="24" name="object 24"/>
            <p:cNvSpPr/>
            <p:nvPr/>
          </p:nvSpPr>
          <p:spPr>
            <a:xfrm>
              <a:off x="380999" y="5438774"/>
              <a:ext cx="5410200" cy="647700"/>
            </a:xfrm>
            <a:custGeom>
              <a:avLst/>
              <a:gdLst/>
              <a:ahLst/>
              <a:cxnLst/>
              <a:rect l="l" t="t" r="r" b="b"/>
              <a:pathLst>
                <a:path w="5410200" h="647700">
                  <a:moveTo>
                    <a:pt x="5410199" y="647699"/>
                  </a:moveTo>
                  <a:lnTo>
                    <a:pt x="0" y="647699"/>
                  </a:lnTo>
                  <a:lnTo>
                    <a:pt x="0" y="0"/>
                  </a:lnTo>
                  <a:lnTo>
                    <a:pt x="5410199" y="0"/>
                  </a:lnTo>
                  <a:lnTo>
                    <a:pt x="5410199" y="647699"/>
                  </a:lnTo>
                  <a:close/>
                </a:path>
              </a:pathLst>
            </a:custGeom>
            <a:solidFill>
              <a:srgbClr val="E3F1FD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0999" y="5438774"/>
              <a:ext cx="28575" cy="647700"/>
            </a:xfrm>
            <a:custGeom>
              <a:avLst/>
              <a:gdLst/>
              <a:ahLst/>
              <a:cxnLst/>
              <a:rect l="l" t="t" r="r" b="b"/>
              <a:pathLst>
                <a:path w="28575" h="647700">
                  <a:moveTo>
                    <a:pt x="28574" y="647699"/>
                  </a:moveTo>
                  <a:lnTo>
                    <a:pt x="0" y="6476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647699"/>
                  </a:lnTo>
                  <a:close/>
                </a:path>
              </a:pathLst>
            </a:custGeom>
            <a:solidFill>
              <a:srgbClr val="4A8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0999" y="6238874"/>
              <a:ext cx="5410200" cy="647700"/>
            </a:xfrm>
            <a:custGeom>
              <a:avLst/>
              <a:gdLst/>
              <a:ahLst/>
              <a:cxnLst/>
              <a:rect l="l" t="t" r="r" b="b"/>
              <a:pathLst>
                <a:path w="5410200" h="647700">
                  <a:moveTo>
                    <a:pt x="5410199" y="647699"/>
                  </a:moveTo>
                  <a:lnTo>
                    <a:pt x="0" y="647699"/>
                  </a:lnTo>
                  <a:lnTo>
                    <a:pt x="0" y="0"/>
                  </a:lnTo>
                  <a:lnTo>
                    <a:pt x="5410199" y="0"/>
                  </a:lnTo>
                  <a:lnTo>
                    <a:pt x="5410199" y="647699"/>
                  </a:lnTo>
                  <a:close/>
                </a:path>
              </a:pathLst>
            </a:custGeom>
            <a:solidFill>
              <a:srgbClr val="E3F1FD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0999" y="6238874"/>
              <a:ext cx="28575" cy="647700"/>
            </a:xfrm>
            <a:custGeom>
              <a:avLst/>
              <a:gdLst/>
              <a:ahLst/>
              <a:cxnLst/>
              <a:rect l="l" t="t" r="r" b="b"/>
              <a:pathLst>
                <a:path w="28575" h="647700">
                  <a:moveTo>
                    <a:pt x="28574" y="647699"/>
                  </a:moveTo>
                  <a:lnTo>
                    <a:pt x="0" y="6476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647699"/>
                  </a:lnTo>
                  <a:close/>
                </a:path>
              </a:pathLst>
            </a:custGeom>
            <a:solidFill>
              <a:srgbClr val="4A8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6052350" y="4324730"/>
            <a:ext cx="3437002" cy="647700"/>
            <a:chOff x="380999" y="4638674"/>
            <a:chExt cx="5410200" cy="647700"/>
          </a:xfrm>
        </p:grpSpPr>
        <p:sp>
          <p:nvSpPr>
            <p:cNvPr id="29" name="object 29"/>
            <p:cNvSpPr/>
            <p:nvPr/>
          </p:nvSpPr>
          <p:spPr>
            <a:xfrm>
              <a:off x="380999" y="4638674"/>
              <a:ext cx="5410200" cy="647700"/>
            </a:xfrm>
            <a:custGeom>
              <a:avLst/>
              <a:gdLst/>
              <a:ahLst/>
              <a:cxnLst/>
              <a:rect l="l" t="t" r="r" b="b"/>
              <a:pathLst>
                <a:path w="5410200" h="647700">
                  <a:moveTo>
                    <a:pt x="5410199" y="647699"/>
                  </a:moveTo>
                  <a:lnTo>
                    <a:pt x="0" y="647699"/>
                  </a:lnTo>
                  <a:lnTo>
                    <a:pt x="0" y="0"/>
                  </a:lnTo>
                  <a:lnTo>
                    <a:pt x="5410199" y="0"/>
                  </a:lnTo>
                  <a:lnTo>
                    <a:pt x="5410199" y="647699"/>
                  </a:lnTo>
                  <a:close/>
                </a:path>
              </a:pathLst>
            </a:custGeom>
            <a:solidFill>
              <a:srgbClr val="E3F1FD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80999" y="4638674"/>
              <a:ext cx="28575" cy="647700"/>
            </a:xfrm>
            <a:custGeom>
              <a:avLst/>
              <a:gdLst/>
              <a:ahLst/>
              <a:cxnLst/>
              <a:rect l="l" t="t" r="r" b="b"/>
              <a:pathLst>
                <a:path w="28575" h="647700">
                  <a:moveTo>
                    <a:pt x="28574" y="647699"/>
                  </a:moveTo>
                  <a:lnTo>
                    <a:pt x="0" y="6476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647699"/>
                  </a:lnTo>
                  <a:close/>
                </a:path>
              </a:pathLst>
            </a:custGeom>
            <a:solidFill>
              <a:srgbClr val="4A8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43806" y="1266326"/>
            <a:ext cx="5691682" cy="69429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424180">
              <a:lnSpc>
                <a:spcPct val="123400"/>
              </a:lnSpc>
              <a:spcBef>
                <a:spcPts val="140"/>
              </a:spcBef>
            </a:pPr>
            <a:r>
              <a:rPr sz="1300" spc="-40" dirty="0">
                <a:solidFill>
                  <a:srgbClr val="0052CC"/>
                </a:solidFill>
                <a:latin typeface="Arial"/>
                <a:cs typeface="Arial"/>
              </a:rPr>
              <a:t>Project</a:t>
            </a:r>
            <a:r>
              <a:rPr sz="1300" spc="-9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300" spc="-95" dirty="0">
                <a:solidFill>
                  <a:srgbClr val="0052CC"/>
                </a:solidFill>
                <a:latin typeface="Arial"/>
                <a:cs typeface="Arial"/>
              </a:rPr>
              <a:t>Summary:</a:t>
            </a:r>
            <a:r>
              <a:rPr sz="1300" spc="-9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Our</a:t>
            </a:r>
            <a:r>
              <a:rPr sz="1200" spc="-3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20" dirty="0">
                <a:solidFill>
                  <a:srgbClr val="003366"/>
                </a:solidFill>
                <a:latin typeface="Lato"/>
                <a:cs typeface="Lato"/>
              </a:rPr>
              <a:t>Excel-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based</a:t>
            </a:r>
            <a:r>
              <a:rPr sz="1200" spc="-4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IT</a:t>
            </a:r>
            <a:r>
              <a:rPr sz="1200" spc="-3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Ticket</a:t>
            </a:r>
            <a:r>
              <a:rPr sz="1200" spc="-4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Analysis</a:t>
            </a:r>
            <a:r>
              <a:rPr sz="1200" spc="-3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has</a:t>
            </a:r>
            <a:r>
              <a:rPr sz="1200" spc="-4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20" dirty="0">
                <a:solidFill>
                  <a:srgbClr val="003366"/>
                </a:solidFill>
                <a:latin typeface="Lato"/>
                <a:cs typeface="Lato"/>
              </a:rPr>
              <a:t>uncovered</a:t>
            </a:r>
            <a:r>
              <a:rPr sz="1200" spc="-3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critical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insights</a:t>
            </a:r>
            <a:r>
              <a:rPr sz="1200" spc="-3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about</a:t>
            </a:r>
            <a:r>
              <a:rPr sz="1200" spc="-3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support</a:t>
            </a:r>
            <a:r>
              <a:rPr sz="1200" spc="-3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performance,</a:t>
            </a:r>
            <a:r>
              <a:rPr sz="1200" spc="-3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agent</a:t>
            </a:r>
            <a:r>
              <a:rPr sz="1200" spc="-3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20" dirty="0">
                <a:solidFill>
                  <a:srgbClr val="003366"/>
                </a:solidFill>
                <a:latin typeface="Lato"/>
                <a:cs typeface="Lato"/>
              </a:rPr>
              <a:t>effectiveness,</a:t>
            </a:r>
            <a:r>
              <a:rPr sz="1200" spc="-3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and</a:t>
            </a:r>
            <a:r>
              <a:rPr sz="1200" spc="-3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optimization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opportunities</a:t>
            </a:r>
            <a:r>
              <a:rPr sz="1200" spc="-6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across</a:t>
            </a:r>
            <a:r>
              <a:rPr sz="12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97,000+</a:t>
            </a:r>
            <a:r>
              <a:rPr sz="1200" spc="-6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tickets</a:t>
            </a:r>
            <a:r>
              <a:rPr sz="12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spanning</a:t>
            </a:r>
            <a:r>
              <a:rPr sz="1200" spc="-6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5</a:t>
            </a:r>
            <a:r>
              <a:rPr sz="12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years.</a:t>
            </a:r>
            <a:endParaRPr sz="1200" dirty="0">
              <a:latin typeface="Lato"/>
              <a:cs typeface="La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936325" y="6624249"/>
            <a:ext cx="202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3366"/>
                </a:solidFill>
                <a:latin typeface="Lato"/>
                <a:cs typeface="Lato"/>
              </a:rPr>
              <a:t>15</a:t>
            </a:r>
            <a:endParaRPr sz="1200" dirty="0">
              <a:latin typeface="Lato"/>
              <a:cs typeface="Lat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4293D5-5F1F-400B-8830-63119E11531C}"/>
              </a:ext>
            </a:extLst>
          </p:cNvPr>
          <p:cNvSpPr txBox="1"/>
          <p:nvPr/>
        </p:nvSpPr>
        <p:spPr>
          <a:xfrm>
            <a:off x="5958479" y="4063240"/>
            <a:ext cx="32152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lang="en-IN" sz="1100" spc="-95" dirty="0">
                <a:solidFill>
                  <a:srgbClr val="0052CC"/>
                </a:solidFill>
                <a:latin typeface="Arial"/>
                <a:cs typeface="Arial"/>
              </a:rPr>
              <a:t>Recommended</a:t>
            </a:r>
            <a:r>
              <a:rPr lang="en-IN" sz="1100" spc="-6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lang="en-IN" sz="1100" spc="-10" dirty="0">
                <a:solidFill>
                  <a:srgbClr val="0052CC"/>
                </a:solidFill>
                <a:latin typeface="Arial"/>
                <a:cs typeface="Arial"/>
              </a:rPr>
              <a:t>Actions:</a:t>
            </a:r>
            <a:endParaRPr lang="en-IN" sz="11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47D7BD-9B75-47CC-BEFA-D2742BE81E44}"/>
              </a:ext>
            </a:extLst>
          </p:cNvPr>
          <p:cNvSpPr txBox="1"/>
          <p:nvPr/>
        </p:nvSpPr>
        <p:spPr>
          <a:xfrm>
            <a:off x="180709" y="3050102"/>
            <a:ext cx="5740453" cy="2366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300" spc="-85" dirty="0">
                <a:solidFill>
                  <a:srgbClr val="0052CC"/>
                </a:solidFill>
                <a:latin typeface="Arial"/>
                <a:cs typeface="Arial"/>
              </a:rPr>
              <a:t>Key</a:t>
            </a:r>
            <a:r>
              <a:rPr lang="en-US" sz="1300" spc="-10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lang="en-US" sz="1300" spc="-10" dirty="0">
                <a:solidFill>
                  <a:srgbClr val="0052CC"/>
                </a:solidFill>
                <a:latin typeface="Arial"/>
                <a:cs typeface="Arial"/>
              </a:rPr>
              <a:t>Takeaways:</a:t>
            </a:r>
            <a:endParaRPr lang="en-US" sz="1300" dirty="0">
              <a:latin typeface="Arial"/>
              <a:cs typeface="Arial"/>
            </a:endParaRPr>
          </a:p>
          <a:p>
            <a:pPr marL="412115" marR="420370" indent="-171450">
              <a:lnSpc>
                <a:spcPct val="121800"/>
              </a:lnSpc>
              <a:spcBef>
                <a:spcPts val="1100"/>
              </a:spcBef>
              <a:buFont typeface="Arial" panose="020B0604020202020204" pitchFamily="34" charset="0"/>
              <a:buChar char="•"/>
            </a:pPr>
            <a:r>
              <a:rPr lang="en-US" sz="1300" spc="-10" dirty="0">
                <a:solidFill>
                  <a:srgbClr val="003366"/>
                </a:solidFill>
                <a:latin typeface="Lato"/>
                <a:cs typeface="Lato"/>
              </a:rPr>
              <a:t>Ticket</a:t>
            </a:r>
            <a:r>
              <a:rPr lang="en-US" sz="1300" spc="-4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spc="-20" dirty="0">
                <a:solidFill>
                  <a:srgbClr val="003366"/>
                </a:solidFill>
                <a:latin typeface="Lato"/>
                <a:cs typeface="Lato"/>
              </a:rPr>
              <a:t>volume</a:t>
            </a:r>
            <a:r>
              <a:rPr lang="en-US" sz="1300" spc="-3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spc="-10" dirty="0">
                <a:solidFill>
                  <a:srgbClr val="003366"/>
                </a:solidFill>
                <a:latin typeface="Lato"/>
                <a:cs typeface="Lato"/>
              </a:rPr>
              <a:t>has</a:t>
            </a:r>
            <a:r>
              <a:rPr lang="en-US" sz="1300" spc="-4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spc="-70" dirty="0">
                <a:solidFill>
                  <a:srgbClr val="0052CC"/>
                </a:solidFill>
                <a:latin typeface="Arial"/>
                <a:cs typeface="Arial"/>
              </a:rPr>
              <a:t>increased</a:t>
            </a:r>
            <a:r>
              <a:rPr lang="en-US" sz="1300" spc="-85" dirty="0">
                <a:solidFill>
                  <a:srgbClr val="0052CC"/>
                </a:solidFill>
                <a:latin typeface="Arial"/>
                <a:cs typeface="Arial"/>
              </a:rPr>
              <a:t> 123% </a:t>
            </a:r>
            <a:r>
              <a:rPr lang="en-US" sz="1300" spc="-10" dirty="0">
                <a:solidFill>
                  <a:srgbClr val="003366"/>
                </a:solidFill>
                <a:latin typeface="Lato"/>
                <a:cs typeface="Lato"/>
              </a:rPr>
              <a:t>from</a:t>
            </a:r>
            <a:r>
              <a:rPr lang="en-US" sz="1300" spc="-4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spc="-20" dirty="0">
                <a:solidFill>
                  <a:srgbClr val="003366"/>
                </a:solidFill>
                <a:latin typeface="Lato"/>
                <a:cs typeface="Lato"/>
              </a:rPr>
              <a:t>2016-</a:t>
            </a:r>
            <a:r>
              <a:rPr lang="en-US" sz="1300" spc="-10" dirty="0">
                <a:solidFill>
                  <a:srgbClr val="003366"/>
                </a:solidFill>
                <a:latin typeface="Lato"/>
                <a:cs typeface="Lato"/>
              </a:rPr>
              <a:t>2020,</a:t>
            </a:r>
            <a:r>
              <a:rPr lang="en-US" sz="1300" spc="-3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dirty="0">
                <a:solidFill>
                  <a:srgbClr val="003366"/>
                </a:solidFill>
                <a:latin typeface="Lato"/>
                <a:cs typeface="Lato"/>
              </a:rPr>
              <a:t>requiring</a:t>
            </a:r>
            <a:r>
              <a:rPr lang="en-US" sz="1300" spc="-3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spc="-10" dirty="0">
                <a:solidFill>
                  <a:srgbClr val="003366"/>
                </a:solidFill>
                <a:latin typeface="Lato"/>
                <a:cs typeface="Lato"/>
              </a:rPr>
              <a:t>proactive planning</a:t>
            </a:r>
            <a:endParaRPr lang="en-US" sz="1300" dirty="0">
              <a:latin typeface="Lato"/>
              <a:cs typeface="Lato"/>
            </a:endParaRPr>
          </a:p>
          <a:p>
            <a:pPr marL="412115" marR="370205" indent="-171450">
              <a:lnSpc>
                <a:spcPct val="115399"/>
              </a:lnSpc>
              <a:spcBef>
                <a:spcPts val="620"/>
              </a:spcBef>
              <a:buFont typeface="Arial" panose="020B0604020202020204" pitchFamily="34" charset="0"/>
              <a:buChar char="•"/>
            </a:pPr>
            <a:r>
              <a:rPr lang="en-US" sz="1300" spc="-10" dirty="0">
                <a:solidFill>
                  <a:srgbClr val="003366"/>
                </a:solidFill>
                <a:latin typeface="Lato"/>
                <a:cs typeface="Lato"/>
              </a:rPr>
              <a:t>Agent</a:t>
            </a:r>
            <a:r>
              <a:rPr lang="en-US" sz="13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spc="-10" dirty="0">
                <a:solidFill>
                  <a:srgbClr val="003366"/>
                </a:solidFill>
                <a:latin typeface="Lato"/>
                <a:cs typeface="Lato"/>
              </a:rPr>
              <a:t>performance</a:t>
            </a:r>
            <a:r>
              <a:rPr lang="en-US" sz="13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dirty="0">
                <a:solidFill>
                  <a:srgbClr val="003366"/>
                </a:solidFill>
                <a:latin typeface="Lato"/>
                <a:cs typeface="Lato"/>
              </a:rPr>
              <a:t>is</a:t>
            </a:r>
            <a:r>
              <a:rPr lang="en-US" sz="13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spc="-25" dirty="0">
                <a:solidFill>
                  <a:srgbClr val="003366"/>
                </a:solidFill>
                <a:latin typeface="Lato"/>
                <a:cs typeface="Lato"/>
              </a:rPr>
              <a:t>uneven</a:t>
            </a:r>
            <a:r>
              <a:rPr lang="en-US" sz="13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dirty="0">
                <a:solidFill>
                  <a:srgbClr val="003366"/>
                </a:solidFill>
                <a:latin typeface="Lato"/>
                <a:cs typeface="Lato"/>
              </a:rPr>
              <a:t>with</a:t>
            </a:r>
            <a:r>
              <a:rPr lang="en-US" sz="13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dirty="0">
                <a:solidFill>
                  <a:srgbClr val="003366"/>
                </a:solidFill>
                <a:latin typeface="Lato"/>
                <a:cs typeface="Lato"/>
              </a:rPr>
              <a:t>clear</a:t>
            </a:r>
            <a:r>
              <a:rPr lang="en-US" sz="13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spc="-10" dirty="0">
                <a:solidFill>
                  <a:srgbClr val="003366"/>
                </a:solidFill>
                <a:latin typeface="Lato"/>
                <a:cs typeface="Lato"/>
              </a:rPr>
              <a:t>top/bottom</a:t>
            </a:r>
            <a:r>
              <a:rPr lang="en-US" sz="13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spc="-10" dirty="0">
                <a:solidFill>
                  <a:srgbClr val="003366"/>
                </a:solidFill>
                <a:latin typeface="Lato"/>
                <a:cs typeface="Lato"/>
              </a:rPr>
              <a:t>segments</a:t>
            </a:r>
            <a:r>
              <a:rPr lang="en-US" sz="13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dirty="0">
                <a:solidFill>
                  <a:srgbClr val="003366"/>
                </a:solidFill>
                <a:latin typeface="Lato"/>
                <a:cs typeface="Lato"/>
              </a:rPr>
              <a:t>—</a:t>
            </a:r>
            <a:r>
              <a:rPr lang="en-US" sz="13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spc="-10" dirty="0">
                <a:solidFill>
                  <a:srgbClr val="0052CC"/>
                </a:solidFill>
                <a:latin typeface="Arial"/>
                <a:cs typeface="Arial"/>
              </a:rPr>
              <a:t>training </a:t>
            </a:r>
            <a:r>
              <a:rPr lang="en-US" sz="1300" spc="-60" dirty="0">
                <a:solidFill>
                  <a:srgbClr val="0052CC"/>
                </a:solidFill>
                <a:latin typeface="Arial"/>
                <a:cs typeface="Arial"/>
              </a:rPr>
              <a:t>more</a:t>
            </a:r>
            <a:r>
              <a:rPr lang="en-US" sz="1300" spc="-9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lang="en-US" sz="1300" spc="-35" dirty="0">
                <a:solidFill>
                  <a:srgbClr val="0052CC"/>
                </a:solidFill>
                <a:latin typeface="Arial"/>
                <a:cs typeface="Arial"/>
              </a:rPr>
              <a:t>effective</a:t>
            </a:r>
            <a:r>
              <a:rPr lang="en-US" sz="1300" spc="-95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lang="en-US" sz="1300" spc="-45" dirty="0">
                <a:solidFill>
                  <a:srgbClr val="0052CC"/>
                </a:solidFill>
                <a:latin typeface="Arial"/>
                <a:cs typeface="Arial"/>
              </a:rPr>
              <a:t>than</a:t>
            </a:r>
            <a:r>
              <a:rPr lang="en-US" sz="1300" spc="-90" dirty="0">
                <a:solidFill>
                  <a:srgbClr val="0052CC"/>
                </a:solidFill>
                <a:latin typeface="Arial"/>
                <a:cs typeface="Arial"/>
              </a:rPr>
              <a:t> </a:t>
            </a:r>
            <a:r>
              <a:rPr lang="en-US" sz="1300" spc="-10" dirty="0">
                <a:solidFill>
                  <a:srgbClr val="0052CC"/>
                </a:solidFill>
                <a:latin typeface="Arial"/>
                <a:cs typeface="Arial"/>
              </a:rPr>
              <a:t>hiring</a:t>
            </a:r>
            <a:endParaRPr lang="en-US" sz="1300" dirty="0">
              <a:latin typeface="Arial"/>
              <a:cs typeface="Arial"/>
            </a:endParaRPr>
          </a:p>
          <a:p>
            <a:pPr marL="412115" marR="763905" indent="-171450">
              <a:lnSpc>
                <a:spcPts val="2400"/>
              </a:lnSpc>
              <a:spcBef>
                <a:spcPts val="220"/>
              </a:spcBef>
              <a:buFont typeface="Arial" panose="020B0604020202020204" pitchFamily="34" charset="0"/>
              <a:buChar char="•"/>
            </a:pPr>
            <a:r>
              <a:rPr lang="en-US" sz="1300" spc="-30" dirty="0">
                <a:solidFill>
                  <a:srgbClr val="003366"/>
                </a:solidFill>
                <a:latin typeface="Lato"/>
                <a:cs typeface="Lato"/>
              </a:rPr>
              <a:t>Technology</a:t>
            </a:r>
            <a:r>
              <a:rPr lang="en-US" sz="1300" spc="-4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spc="-10" dirty="0">
                <a:solidFill>
                  <a:srgbClr val="003366"/>
                </a:solidFill>
                <a:latin typeface="Lato"/>
                <a:cs typeface="Lato"/>
              </a:rPr>
              <a:t>upgrades</a:t>
            </a:r>
            <a:r>
              <a:rPr lang="en-US" sz="1300" spc="-4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spc="-10" dirty="0">
                <a:solidFill>
                  <a:srgbClr val="003366"/>
                </a:solidFill>
                <a:latin typeface="Lato"/>
                <a:cs typeface="Lato"/>
              </a:rPr>
              <a:t>post-2018</a:t>
            </a:r>
            <a:r>
              <a:rPr lang="en-US" sz="1300" spc="-4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spc="-25" dirty="0">
                <a:solidFill>
                  <a:srgbClr val="003366"/>
                </a:solidFill>
                <a:latin typeface="Lato"/>
                <a:cs typeface="Lato"/>
              </a:rPr>
              <a:t>have</a:t>
            </a:r>
            <a:r>
              <a:rPr lang="en-US" sz="1300" spc="-4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spc="-10" dirty="0">
                <a:solidFill>
                  <a:srgbClr val="003366"/>
                </a:solidFill>
                <a:latin typeface="Lato"/>
                <a:cs typeface="Lato"/>
              </a:rPr>
              <a:t>improved</a:t>
            </a:r>
            <a:r>
              <a:rPr lang="en-US" sz="1300" spc="-4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dirty="0">
                <a:solidFill>
                  <a:srgbClr val="003366"/>
                </a:solidFill>
                <a:latin typeface="Lato"/>
                <a:cs typeface="Lato"/>
              </a:rPr>
              <a:t>resolution</a:t>
            </a:r>
            <a:r>
              <a:rPr lang="en-US" sz="1300" spc="-4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spc="-10" dirty="0">
                <a:solidFill>
                  <a:srgbClr val="003366"/>
                </a:solidFill>
                <a:latin typeface="Lato"/>
                <a:cs typeface="Lato"/>
              </a:rPr>
              <a:t>times </a:t>
            </a:r>
            <a:r>
              <a:rPr lang="en-US" sz="1300" spc="-20" dirty="0">
                <a:solidFill>
                  <a:srgbClr val="003366"/>
                </a:solidFill>
                <a:latin typeface="Lato"/>
                <a:cs typeface="Lato"/>
              </a:rPr>
              <a:t>70%</a:t>
            </a:r>
            <a:r>
              <a:rPr lang="en-US" sz="13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spc="-25" dirty="0">
                <a:solidFill>
                  <a:srgbClr val="003366"/>
                </a:solidFill>
                <a:latin typeface="Lato"/>
                <a:cs typeface="Lato"/>
              </a:rPr>
              <a:t>of</a:t>
            </a:r>
            <a:r>
              <a:rPr lang="en-US" sz="13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spc="-10" dirty="0">
                <a:solidFill>
                  <a:srgbClr val="003366"/>
                </a:solidFill>
                <a:latin typeface="Lato"/>
                <a:cs typeface="Lato"/>
              </a:rPr>
              <a:t>tickets</a:t>
            </a:r>
            <a:r>
              <a:rPr lang="en-US" sz="13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dirty="0">
                <a:solidFill>
                  <a:srgbClr val="003366"/>
                </a:solidFill>
                <a:latin typeface="Lato"/>
                <a:cs typeface="Lato"/>
              </a:rPr>
              <a:t>are</a:t>
            </a:r>
            <a:r>
              <a:rPr lang="en-US" sz="13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spc="-10" dirty="0">
                <a:solidFill>
                  <a:srgbClr val="003366"/>
                </a:solidFill>
                <a:latin typeface="Lato"/>
                <a:cs typeface="Lato"/>
              </a:rPr>
              <a:t>System</a:t>
            </a:r>
            <a:r>
              <a:rPr lang="en-US" sz="13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spc="-10" dirty="0">
                <a:solidFill>
                  <a:srgbClr val="003366"/>
                </a:solidFill>
                <a:latin typeface="Lato"/>
                <a:cs typeface="Lato"/>
              </a:rPr>
              <a:t>and</a:t>
            </a:r>
            <a:r>
              <a:rPr lang="en-US" sz="13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spc="-10" dirty="0">
                <a:solidFill>
                  <a:srgbClr val="003366"/>
                </a:solidFill>
                <a:latin typeface="Lato"/>
                <a:cs typeface="Lato"/>
              </a:rPr>
              <a:t>Login</a:t>
            </a:r>
            <a:r>
              <a:rPr lang="en-US" sz="13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dirty="0">
                <a:solidFill>
                  <a:srgbClr val="003366"/>
                </a:solidFill>
                <a:latin typeface="Lato"/>
                <a:cs typeface="Lato"/>
              </a:rPr>
              <a:t>related</a:t>
            </a:r>
            <a:r>
              <a:rPr lang="en-US" sz="13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dirty="0">
                <a:solidFill>
                  <a:srgbClr val="003366"/>
                </a:solidFill>
                <a:latin typeface="Lato"/>
                <a:cs typeface="Lato"/>
              </a:rPr>
              <a:t>—</a:t>
            </a:r>
            <a:r>
              <a:rPr lang="en-US" sz="13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dirty="0">
                <a:solidFill>
                  <a:srgbClr val="003366"/>
                </a:solidFill>
                <a:latin typeface="Lato"/>
                <a:cs typeface="Lato"/>
              </a:rPr>
              <a:t>ideal</a:t>
            </a:r>
            <a:r>
              <a:rPr lang="en-US" sz="13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dirty="0">
                <a:solidFill>
                  <a:srgbClr val="003366"/>
                </a:solidFill>
                <a:latin typeface="Lato"/>
                <a:cs typeface="Lato"/>
              </a:rPr>
              <a:t>for</a:t>
            </a:r>
            <a:r>
              <a:rPr lang="en-US" sz="13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lang="en-US" sz="1300" spc="-10" dirty="0">
                <a:solidFill>
                  <a:srgbClr val="003366"/>
                </a:solidFill>
                <a:latin typeface="Lato"/>
                <a:cs typeface="Lato"/>
              </a:rPr>
              <a:t>automation</a:t>
            </a:r>
            <a:endParaRPr lang="en-US" sz="1300" dirty="0">
              <a:latin typeface="Lato"/>
              <a:cs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C689FE-7303-472B-B97A-B279E21C4C16}"/>
              </a:ext>
            </a:extLst>
          </p:cNvPr>
          <p:cNvSpPr txBox="1"/>
          <p:nvPr/>
        </p:nvSpPr>
        <p:spPr>
          <a:xfrm>
            <a:off x="6003732" y="4374915"/>
            <a:ext cx="4283267" cy="2418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4940">
              <a:lnSpc>
                <a:spcPct val="100000"/>
              </a:lnSpc>
            </a:pPr>
            <a:r>
              <a:rPr lang="en-US" sz="1200" spc="-55" dirty="0">
                <a:solidFill>
                  <a:srgbClr val="003366"/>
                </a:solidFill>
                <a:latin typeface="Arial"/>
                <a:cs typeface="Arial"/>
              </a:rPr>
              <a:t>Agent</a:t>
            </a:r>
            <a:r>
              <a:rPr lang="en-US" sz="1200" spc="-8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lang="en-US" sz="1200" spc="-65" dirty="0">
                <a:solidFill>
                  <a:srgbClr val="003366"/>
                </a:solidFill>
                <a:latin typeface="Arial"/>
                <a:cs typeface="Arial"/>
              </a:rPr>
              <a:t>Training</a:t>
            </a:r>
            <a:r>
              <a:rPr lang="en-US" sz="1200" spc="-8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003366"/>
                </a:solidFill>
                <a:latin typeface="Arial"/>
                <a:cs typeface="Arial"/>
              </a:rPr>
              <a:t>Program</a:t>
            </a:r>
            <a:endParaRPr lang="en-US" sz="1200" dirty="0">
              <a:latin typeface="Arial"/>
              <a:cs typeface="Arial"/>
            </a:endParaRPr>
          </a:p>
          <a:p>
            <a:pPr marL="155575">
              <a:lnSpc>
                <a:spcPct val="100000"/>
              </a:lnSpc>
              <a:spcBef>
                <a:spcPts val="265"/>
              </a:spcBef>
            </a:pPr>
            <a:r>
              <a:rPr lang="en-US" sz="1200" i="1" dirty="0">
                <a:solidFill>
                  <a:srgbClr val="4A8FE2"/>
                </a:solidFill>
                <a:latin typeface="Lato"/>
                <a:cs typeface="Lato"/>
              </a:rPr>
              <a:t>Focus:</a:t>
            </a:r>
            <a:r>
              <a:rPr lang="en-US" sz="1200" i="1" spc="85" dirty="0">
                <a:solidFill>
                  <a:srgbClr val="4A8FE2"/>
                </a:solidFill>
                <a:latin typeface="Lato"/>
                <a:cs typeface="Lato"/>
              </a:rPr>
              <a:t> </a:t>
            </a:r>
            <a:r>
              <a:rPr lang="en-US" sz="1200" i="1" dirty="0">
                <a:solidFill>
                  <a:srgbClr val="4A8FE2"/>
                </a:solidFill>
                <a:latin typeface="Lato"/>
                <a:cs typeface="Lato"/>
              </a:rPr>
              <a:t>Bottom</a:t>
            </a:r>
            <a:r>
              <a:rPr lang="en-US" sz="1200" i="1" spc="85" dirty="0">
                <a:solidFill>
                  <a:srgbClr val="4A8FE2"/>
                </a:solidFill>
                <a:latin typeface="Lato"/>
                <a:cs typeface="Lato"/>
              </a:rPr>
              <a:t> </a:t>
            </a:r>
            <a:r>
              <a:rPr lang="en-US" sz="1200" i="1" dirty="0">
                <a:solidFill>
                  <a:srgbClr val="4A8FE2"/>
                </a:solidFill>
                <a:latin typeface="Lato"/>
                <a:cs typeface="Lato"/>
              </a:rPr>
              <a:t>performers</a:t>
            </a:r>
            <a:r>
              <a:rPr lang="en-US" sz="1200" i="1" spc="85" dirty="0">
                <a:solidFill>
                  <a:srgbClr val="4A8FE2"/>
                </a:solidFill>
                <a:latin typeface="Lato"/>
                <a:cs typeface="Lato"/>
              </a:rPr>
              <a:t> </a:t>
            </a:r>
            <a:r>
              <a:rPr lang="en-US" sz="1200" i="1" dirty="0">
                <a:solidFill>
                  <a:srgbClr val="4A8FE2"/>
                </a:solidFill>
                <a:latin typeface="Lato"/>
                <a:cs typeface="Lato"/>
              </a:rPr>
              <a:t>(Agents</a:t>
            </a:r>
            <a:r>
              <a:rPr lang="en-US" sz="1200" i="1" spc="90" dirty="0">
                <a:solidFill>
                  <a:srgbClr val="4A8FE2"/>
                </a:solidFill>
                <a:latin typeface="Lato"/>
                <a:cs typeface="Lato"/>
              </a:rPr>
              <a:t> </a:t>
            </a:r>
            <a:r>
              <a:rPr lang="en-US" sz="1200" i="1" spc="-10" dirty="0">
                <a:solidFill>
                  <a:srgbClr val="4A8FE2"/>
                </a:solidFill>
                <a:latin typeface="Lato"/>
                <a:cs typeface="Lato"/>
              </a:rPr>
              <a:t>3,</a:t>
            </a:r>
            <a:r>
              <a:rPr lang="en-US" sz="1200" i="1" spc="85" dirty="0">
                <a:solidFill>
                  <a:srgbClr val="4A8FE2"/>
                </a:solidFill>
                <a:latin typeface="Lato"/>
                <a:cs typeface="Lato"/>
              </a:rPr>
              <a:t> </a:t>
            </a:r>
            <a:r>
              <a:rPr lang="en-US" sz="1200" i="1" dirty="0">
                <a:solidFill>
                  <a:srgbClr val="4A8FE2"/>
                </a:solidFill>
                <a:latin typeface="Lato"/>
                <a:cs typeface="Lato"/>
              </a:rPr>
              <a:t>6,</a:t>
            </a:r>
            <a:r>
              <a:rPr lang="en-US" sz="1200" i="1" spc="85" dirty="0">
                <a:solidFill>
                  <a:srgbClr val="4A8FE2"/>
                </a:solidFill>
                <a:latin typeface="Lato"/>
                <a:cs typeface="Lato"/>
              </a:rPr>
              <a:t> </a:t>
            </a:r>
            <a:r>
              <a:rPr lang="en-US" sz="1200" i="1" spc="-10" dirty="0">
                <a:solidFill>
                  <a:srgbClr val="4A8FE2"/>
                </a:solidFill>
                <a:latin typeface="Lato"/>
                <a:cs typeface="Lato"/>
              </a:rPr>
              <a:t>22,</a:t>
            </a:r>
            <a:r>
              <a:rPr lang="en-US" sz="1200" i="1" spc="85" dirty="0">
                <a:solidFill>
                  <a:srgbClr val="4A8FE2"/>
                </a:solidFill>
                <a:latin typeface="Lato"/>
                <a:cs typeface="Lato"/>
              </a:rPr>
              <a:t> </a:t>
            </a:r>
            <a:r>
              <a:rPr lang="en-US" sz="1200" i="1" spc="-25" dirty="0">
                <a:solidFill>
                  <a:srgbClr val="4A8FE2"/>
                </a:solidFill>
                <a:latin typeface="Lato"/>
                <a:cs typeface="Lato"/>
              </a:rPr>
              <a:t>28)</a:t>
            </a:r>
            <a:endParaRPr lang="en-US" sz="1200" dirty="0">
              <a:latin typeface="Lato"/>
              <a:cs typeface="Lato"/>
            </a:endParaRPr>
          </a:p>
          <a:p>
            <a:pPr>
              <a:lnSpc>
                <a:spcPct val="100000"/>
              </a:lnSpc>
            </a:pPr>
            <a:endParaRPr lang="en-US" sz="1200" dirty="0">
              <a:latin typeface="Lato"/>
              <a:cs typeface="Lato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lang="en-US" sz="1200" dirty="0">
              <a:latin typeface="Lato"/>
              <a:cs typeface="Lato"/>
            </a:endParaRPr>
          </a:p>
          <a:p>
            <a:pPr marL="154940">
              <a:lnSpc>
                <a:spcPct val="100000"/>
              </a:lnSpc>
            </a:pPr>
            <a:r>
              <a:rPr lang="en-US" sz="1200" spc="-55" dirty="0">
                <a:solidFill>
                  <a:srgbClr val="003366"/>
                </a:solidFill>
                <a:latin typeface="Arial"/>
                <a:cs typeface="Arial"/>
              </a:rPr>
              <a:t>Implement </a:t>
            </a:r>
            <a:r>
              <a:rPr lang="en-US" sz="1200" spc="-10" dirty="0">
                <a:solidFill>
                  <a:srgbClr val="003366"/>
                </a:solidFill>
                <a:latin typeface="Arial"/>
                <a:cs typeface="Arial"/>
              </a:rPr>
              <a:t>Automation</a:t>
            </a:r>
            <a:endParaRPr lang="en-US" sz="1200" dirty="0">
              <a:latin typeface="Arial"/>
              <a:cs typeface="Arial"/>
            </a:endParaRPr>
          </a:p>
          <a:p>
            <a:pPr marL="155575">
              <a:lnSpc>
                <a:spcPct val="100000"/>
              </a:lnSpc>
              <a:spcBef>
                <a:spcPts val="265"/>
              </a:spcBef>
            </a:pPr>
            <a:r>
              <a:rPr lang="en-US" sz="1200" i="1" spc="20" dirty="0">
                <a:solidFill>
                  <a:srgbClr val="4A8FE2"/>
                </a:solidFill>
                <a:latin typeface="Lato"/>
                <a:cs typeface="Lato"/>
              </a:rPr>
              <a:t>Priority:</a:t>
            </a:r>
            <a:r>
              <a:rPr lang="en-US" sz="1200" i="1" spc="15" dirty="0">
                <a:solidFill>
                  <a:srgbClr val="4A8FE2"/>
                </a:solidFill>
                <a:latin typeface="Lato"/>
                <a:cs typeface="Lato"/>
              </a:rPr>
              <a:t> </a:t>
            </a:r>
            <a:r>
              <a:rPr lang="en-US" sz="1200" i="1" spc="20" dirty="0">
                <a:solidFill>
                  <a:srgbClr val="4A8FE2"/>
                </a:solidFill>
                <a:latin typeface="Lato"/>
                <a:cs typeface="Lato"/>
              </a:rPr>
              <a:t>Login</a:t>
            </a:r>
            <a:r>
              <a:rPr lang="en-US" sz="1200" i="1" spc="15" dirty="0">
                <a:solidFill>
                  <a:srgbClr val="4A8FE2"/>
                </a:solidFill>
                <a:latin typeface="Lato"/>
                <a:cs typeface="Lato"/>
              </a:rPr>
              <a:t> </a:t>
            </a:r>
            <a:r>
              <a:rPr lang="en-US" sz="1200" i="1" spc="20" dirty="0">
                <a:solidFill>
                  <a:srgbClr val="4A8FE2"/>
                </a:solidFill>
                <a:latin typeface="Lato"/>
                <a:cs typeface="Lato"/>
              </a:rPr>
              <a:t>Access</a:t>
            </a:r>
            <a:r>
              <a:rPr lang="en-US" sz="1200" i="1" spc="15" dirty="0">
                <a:solidFill>
                  <a:srgbClr val="4A8FE2"/>
                </a:solidFill>
                <a:latin typeface="Lato"/>
                <a:cs typeface="Lato"/>
              </a:rPr>
              <a:t> </a:t>
            </a:r>
            <a:r>
              <a:rPr lang="en-US" sz="1200" i="1" spc="20" dirty="0">
                <a:solidFill>
                  <a:srgbClr val="4A8FE2"/>
                </a:solidFill>
                <a:latin typeface="Lato"/>
                <a:cs typeface="Lato"/>
              </a:rPr>
              <a:t>&amp;</a:t>
            </a:r>
            <a:r>
              <a:rPr lang="en-US" sz="1200" i="1" spc="15" dirty="0">
                <a:solidFill>
                  <a:srgbClr val="4A8FE2"/>
                </a:solidFill>
                <a:latin typeface="Lato"/>
                <a:cs typeface="Lato"/>
              </a:rPr>
              <a:t> </a:t>
            </a:r>
            <a:r>
              <a:rPr lang="en-US" sz="1200" i="1" spc="20" dirty="0">
                <a:solidFill>
                  <a:srgbClr val="4A8FE2"/>
                </a:solidFill>
                <a:latin typeface="Lato"/>
                <a:cs typeface="Lato"/>
              </a:rPr>
              <a:t>System</a:t>
            </a:r>
            <a:r>
              <a:rPr lang="en-US" sz="1200" i="1" spc="15" dirty="0">
                <a:solidFill>
                  <a:srgbClr val="4A8FE2"/>
                </a:solidFill>
                <a:latin typeface="Lato"/>
                <a:cs typeface="Lato"/>
              </a:rPr>
              <a:t> </a:t>
            </a:r>
            <a:r>
              <a:rPr lang="en-US" sz="1200" i="1" spc="-10" dirty="0">
                <a:solidFill>
                  <a:srgbClr val="4A8FE2"/>
                </a:solidFill>
                <a:latin typeface="Lato"/>
                <a:cs typeface="Lato"/>
              </a:rPr>
              <a:t>tickets</a:t>
            </a:r>
            <a:endParaRPr lang="en-US" sz="1200" dirty="0">
              <a:latin typeface="Lato"/>
              <a:cs typeface="Lato"/>
            </a:endParaRPr>
          </a:p>
          <a:p>
            <a:pPr>
              <a:lnSpc>
                <a:spcPct val="100000"/>
              </a:lnSpc>
            </a:pPr>
            <a:endParaRPr lang="en-US" sz="1200" dirty="0">
              <a:latin typeface="Lato"/>
              <a:cs typeface="Lato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lang="en-US" sz="1200" dirty="0">
              <a:latin typeface="Lato"/>
              <a:cs typeface="Lato"/>
            </a:endParaRPr>
          </a:p>
          <a:p>
            <a:pPr marL="154940">
              <a:lnSpc>
                <a:spcPct val="100000"/>
              </a:lnSpc>
            </a:pPr>
            <a:r>
              <a:rPr lang="en-US" sz="1200" spc="-35" dirty="0">
                <a:solidFill>
                  <a:srgbClr val="003366"/>
                </a:solidFill>
                <a:latin typeface="Arial"/>
                <a:cs typeface="Arial"/>
              </a:rPr>
              <a:t>Mentorship</a:t>
            </a:r>
            <a:r>
              <a:rPr lang="en-US" sz="1200" spc="-7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003366"/>
                </a:solidFill>
                <a:latin typeface="Arial"/>
                <a:cs typeface="Arial"/>
              </a:rPr>
              <a:t>Structure</a:t>
            </a:r>
            <a:endParaRPr lang="en-US" sz="1200" dirty="0">
              <a:latin typeface="Arial"/>
              <a:cs typeface="Arial"/>
            </a:endParaRPr>
          </a:p>
          <a:p>
            <a:pPr marL="155575">
              <a:lnSpc>
                <a:spcPct val="100000"/>
              </a:lnSpc>
              <a:spcBef>
                <a:spcPts val="265"/>
              </a:spcBef>
            </a:pPr>
            <a:r>
              <a:rPr lang="en-US" sz="1200" i="1" dirty="0">
                <a:solidFill>
                  <a:srgbClr val="4A8FE2"/>
                </a:solidFill>
                <a:latin typeface="Lato"/>
                <a:cs typeface="Lato"/>
              </a:rPr>
              <a:t>Using</a:t>
            </a:r>
            <a:r>
              <a:rPr lang="en-US" sz="1200" i="1" spc="45" dirty="0">
                <a:solidFill>
                  <a:srgbClr val="4A8FE2"/>
                </a:solidFill>
                <a:latin typeface="Lato"/>
                <a:cs typeface="Lato"/>
              </a:rPr>
              <a:t> </a:t>
            </a:r>
            <a:r>
              <a:rPr lang="en-US" sz="1200" i="1" spc="-10" dirty="0">
                <a:solidFill>
                  <a:srgbClr val="4A8FE2"/>
                </a:solidFill>
                <a:latin typeface="Lato"/>
                <a:cs typeface="Lato"/>
              </a:rPr>
              <a:t>41-50+</a:t>
            </a:r>
            <a:r>
              <a:rPr lang="en-US" sz="1200" i="1" spc="45" dirty="0">
                <a:solidFill>
                  <a:srgbClr val="4A8FE2"/>
                </a:solidFill>
                <a:latin typeface="Lato"/>
                <a:cs typeface="Lato"/>
              </a:rPr>
              <a:t> </a:t>
            </a:r>
            <a:r>
              <a:rPr lang="en-US" sz="1200" i="1" dirty="0">
                <a:solidFill>
                  <a:srgbClr val="4A8FE2"/>
                </a:solidFill>
                <a:latin typeface="Lato"/>
                <a:cs typeface="Lato"/>
              </a:rPr>
              <a:t>age</a:t>
            </a:r>
            <a:r>
              <a:rPr lang="en-US" sz="1200" i="1" spc="50" dirty="0">
                <a:solidFill>
                  <a:srgbClr val="4A8FE2"/>
                </a:solidFill>
                <a:latin typeface="Lato"/>
                <a:cs typeface="Lato"/>
              </a:rPr>
              <a:t> </a:t>
            </a:r>
            <a:r>
              <a:rPr lang="en-US" sz="1200" i="1" dirty="0">
                <a:solidFill>
                  <a:srgbClr val="4A8FE2"/>
                </a:solidFill>
                <a:latin typeface="Lato"/>
                <a:cs typeface="Lato"/>
              </a:rPr>
              <a:t>group</a:t>
            </a:r>
            <a:r>
              <a:rPr lang="en-US" sz="1200" i="1" spc="45" dirty="0">
                <a:solidFill>
                  <a:srgbClr val="4A8FE2"/>
                </a:solidFill>
                <a:latin typeface="Lato"/>
                <a:cs typeface="Lato"/>
              </a:rPr>
              <a:t> </a:t>
            </a:r>
            <a:r>
              <a:rPr lang="en-US" sz="1200" i="1" dirty="0">
                <a:solidFill>
                  <a:srgbClr val="4A8FE2"/>
                </a:solidFill>
                <a:latin typeface="Lato"/>
                <a:cs typeface="Lato"/>
              </a:rPr>
              <a:t>agents</a:t>
            </a:r>
            <a:r>
              <a:rPr lang="en-US" sz="1200" i="1" spc="45" dirty="0">
                <a:solidFill>
                  <a:srgbClr val="4A8FE2"/>
                </a:solidFill>
                <a:latin typeface="Lato"/>
                <a:cs typeface="Lato"/>
              </a:rPr>
              <a:t> </a:t>
            </a:r>
            <a:r>
              <a:rPr lang="en-US" sz="1200" i="1" dirty="0">
                <a:solidFill>
                  <a:srgbClr val="4A8FE2"/>
                </a:solidFill>
                <a:latin typeface="Lato"/>
                <a:cs typeface="Lato"/>
              </a:rPr>
              <a:t>as</a:t>
            </a:r>
            <a:r>
              <a:rPr lang="en-US" sz="1200" i="1" spc="50" dirty="0">
                <a:solidFill>
                  <a:srgbClr val="4A8FE2"/>
                </a:solidFill>
                <a:latin typeface="Lato"/>
                <a:cs typeface="Lato"/>
              </a:rPr>
              <a:t> </a:t>
            </a:r>
            <a:r>
              <a:rPr lang="en-US" sz="1200" i="1" spc="-10" dirty="0">
                <a:solidFill>
                  <a:srgbClr val="4A8FE2"/>
                </a:solidFill>
                <a:latin typeface="Lato"/>
                <a:cs typeface="Lato"/>
              </a:rPr>
              <a:t>guides</a:t>
            </a:r>
            <a:endParaRPr lang="en-US" sz="1200" dirty="0">
              <a:latin typeface="Lato"/>
              <a:cs typeface="Lato"/>
            </a:endParaRPr>
          </a:p>
          <a:p>
            <a:endParaRPr lang="en-IN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1207559" y="5719313"/>
            <a:ext cx="1557618" cy="314325"/>
            <a:chOff x="380999" y="1657349"/>
            <a:chExt cx="1400175" cy="314325"/>
          </a:xfrm>
        </p:grpSpPr>
        <p:sp>
          <p:nvSpPr>
            <p:cNvPr id="5" name="object 5"/>
            <p:cNvSpPr/>
            <p:nvPr/>
          </p:nvSpPr>
          <p:spPr>
            <a:xfrm>
              <a:off x="380999" y="1657349"/>
              <a:ext cx="1400175" cy="314325"/>
            </a:xfrm>
            <a:custGeom>
              <a:avLst/>
              <a:gdLst/>
              <a:ahLst/>
              <a:cxnLst/>
              <a:rect l="l" t="t" r="r" b="b"/>
              <a:pathLst>
                <a:path w="1400175" h="314325">
                  <a:moveTo>
                    <a:pt x="1367127" y="314324"/>
                  </a:moveTo>
                  <a:lnTo>
                    <a:pt x="33047" y="314324"/>
                  </a:lnTo>
                  <a:lnTo>
                    <a:pt x="28187" y="313357"/>
                  </a:lnTo>
                  <a:lnTo>
                    <a:pt x="966" y="286136"/>
                  </a:lnTo>
                  <a:lnTo>
                    <a:pt x="0" y="281277"/>
                  </a:lnTo>
                  <a:lnTo>
                    <a:pt x="0" y="276224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67127" y="0"/>
                  </a:lnTo>
                  <a:lnTo>
                    <a:pt x="1399207" y="28187"/>
                  </a:lnTo>
                  <a:lnTo>
                    <a:pt x="1400174" y="33047"/>
                  </a:lnTo>
                  <a:lnTo>
                    <a:pt x="1400174" y="281277"/>
                  </a:lnTo>
                  <a:lnTo>
                    <a:pt x="1371987" y="313357"/>
                  </a:lnTo>
                  <a:lnTo>
                    <a:pt x="1367127" y="314324"/>
                  </a:lnTo>
                  <a:close/>
                </a:path>
              </a:pathLst>
            </a:custGeom>
            <a:solidFill>
              <a:srgbClr val="0052CC"/>
            </a:solidFill>
          </p:spPr>
          <p:txBody>
            <a:bodyPr wrap="square" lIns="0" tIns="0" rIns="0" bIns="0" rtlCol="0"/>
            <a:lstStyle/>
            <a:p>
              <a:endParaRPr sz="2000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299" y="1733549"/>
              <a:ext cx="167677" cy="133558"/>
            </a:xfrm>
            <a:prstGeom prst="rect">
              <a:avLst/>
            </a:prstGeom>
          </p:spPr>
        </p:pic>
      </p:grpSp>
      <p:sp>
        <p:nvSpPr>
          <p:cNvPr id="31" name="object 31"/>
          <p:cNvSpPr txBox="1">
            <a:spLocks noGrp="1"/>
          </p:cNvSpPr>
          <p:nvPr>
            <p:ph sz="half" idx="2"/>
          </p:nvPr>
        </p:nvSpPr>
        <p:spPr>
          <a:xfrm>
            <a:off x="1165023" y="5598143"/>
            <a:ext cx="1769488" cy="987905"/>
          </a:xfrm>
          <a:prstGeom prst="rect">
            <a:avLst/>
          </a:prstGeom>
        </p:spPr>
        <p:txBody>
          <a:bodyPr vert="horz" wrap="square" lIns="0" tIns="201111" rIns="0" bIns="0" rtlCol="0">
            <a:spAutoFit/>
          </a:bodyPr>
          <a:lstStyle/>
          <a:p>
            <a:pPr marL="407034">
              <a:lnSpc>
                <a:spcPct val="100000"/>
              </a:lnSpc>
              <a:spcBef>
                <a:spcPts val="100"/>
              </a:spcBef>
            </a:pPr>
            <a:r>
              <a:rPr sz="1100" spc="170" dirty="0"/>
              <a:t>CREATED</a:t>
            </a:r>
            <a:r>
              <a:rPr sz="1100" spc="80" dirty="0"/>
              <a:t> </a:t>
            </a:r>
            <a:r>
              <a:rPr sz="1100" spc="135" dirty="0"/>
              <a:t>BY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 spc="135" dirty="0"/>
          </a:p>
          <a:p>
            <a:pPr marL="12700">
              <a:lnSpc>
                <a:spcPct val="100000"/>
              </a:lnSpc>
            </a:pPr>
            <a:r>
              <a:rPr sz="1800" b="0" spc="-140" dirty="0">
                <a:solidFill>
                  <a:srgbClr val="003366"/>
                </a:solidFill>
                <a:latin typeface="Arial"/>
                <a:cs typeface="Arial"/>
              </a:rPr>
              <a:t>Sudhanshu</a:t>
            </a:r>
            <a:r>
              <a:rPr sz="1800" b="0" spc="-10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800" b="0" spc="-10" dirty="0">
                <a:solidFill>
                  <a:srgbClr val="003366"/>
                </a:solidFill>
                <a:latin typeface="Arial"/>
                <a:cs typeface="Arial"/>
              </a:rPr>
              <a:t>Tiwari</a:t>
            </a:r>
            <a:endParaRPr sz="1400" dirty="0">
              <a:latin typeface="Tahoma"/>
              <a:cs typeface="Tahoma"/>
            </a:endParaRPr>
          </a:p>
          <a:p>
            <a:pPr marL="155575">
              <a:lnSpc>
                <a:spcPct val="100000"/>
              </a:lnSpc>
            </a:pPr>
            <a:endParaRPr sz="1100" b="0" spc="-10" dirty="0">
              <a:solidFill>
                <a:srgbClr val="003366"/>
              </a:solidFill>
              <a:latin typeface="Lato"/>
              <a:cs typeface="Lato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904320" y="2496820"/>
            <a:ext cx="4117623" cy="2354042"/>
          </a:xfrm>
          <a:custGeom>
            <a:avLst/>
            <a:gdLst/>
            <a:ahLst/>
            <a:cxnLst/>
            <a:rect l="l" t="t" r="r" b="b"/>
            <a:pathLst>
              <a:path w="5715000" h="2705100">
                <a:moveTo>
                  <a:pt x="5714999" y="2705099"/>
                </a:moveTo>
                <a:lnTo>
                  <a:pt x="0" y="2705099"/>
                </a:lnTo>
                <a:lnTo>
                  <a:pt x="0" y="0"/>
                </a:lnTo>
                <a:lnTo>
                  <a:pt x="5714999" y="0"/>
                </a:lnTo>
                <a:lnTo>
                  <a:pt x="5714999" y="2705099"/>
                </a:lnTo>
                <a:close/>
              </a:path>
            </a:pathLst>
          </a:custGeom>
          <a:solidFill>
            <a:srgbClr val="E3F1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0">
            <a:extLst>
              <a:ext uri="{FF2B5EF4-FFF2-40B4-BE49-F238E27FC236}">
                <a16:creationId xmlns:a16="http://schemas.microsoft.com/office/drawing/2014/main" id="{67049E67-EA49-4E42-B104-092B55832A66}"/>
              </a:ext>
            </a:extLst>
          </p:cNvPr>
          <p:cNvSpPr txBox="1"/>
          <p:nvPr/>
        </p:nvSpPr>
        <p:spPr>
          <a:xfrm>
            <a:off x="6811893" y="3878986"/>
            <a:ext cx="5715000" cy="64203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R="3775075" algn="r">
              <a:lnSpc>
                <a:spcPct val="100000"/>
              </a:lnSpc>
              <a:spcBef>
                <a:spcPts val="1310"/>
              </a:spcBef>
            </a:pPr>
            <a:r>
              <a:rPr sz="1300" spc="-55" dirty="0">
                <a:solidFill>
                  <a:srgbClr val="003366"/>
                </a:solidFill>
                <a:latin typeface="Arial"/>
                <a:cs typeface="Arial"/>
              </a:rPr>
              <a:t>IT</a:t>
            </a:r>
            <a:r>
              <a:rPr sz="1300" spc="-9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300" spc="-70" dirty="0">
                <a:solidFill>
                  <a:srgbClr val="003366"/>
                </a:solidFill>
                <a:latin typeface="Arial"/>
                <a:cs typeface="Arial"/>
              </a:rPr>
              <a:t>Agents</a:t>
            </a:r>
            <a:r>
              <a:rPr sz="1300" spc="-9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003366"/>
                </a:solidFill>
                <a:latin typeface="Arial"/>
                <a:cs typeface="Arial"/>
              </a:rPr>
              <a:t>Dataset</a:t>
            </a:r>
            <a:endParaRPr sz="1300" dirty="0">
              <a:latin typeface="Arial"/>
              <a:cs typeface="Arial"/>
            </a:endParaRPr>
          </a:p>
          <a:p>
            <a:pPr marL="737870" marR="1743075">
              <a:lnSpc>
                <a:spcPct val="104200"/>
              </a:lnSpc>
              <a:spcBef>
                <a:spcPts val="130"/>
              </a:spcBef>
            </a:pP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50</a:t>
            </a:r>
            <a:r>
              <a:rPr sz="12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agents</a:t>
            </a:r>
            <a:r>
              <a:rPr sz="1200" spc="-4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with</a:t>
            </a:r>
            <a:r>
              <a:rPr sz="12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demographic</a:t>
            </a:r>
            <a:r>
              <a:rPr sz="1200" spc="-4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&amp;</a:t>
            </a:r>
            <a:r>
              <a:rPr sz="1200" spc="-4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performance</a:t>
            </a:r>
            <a:r>
              <a:rPr sz="12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20" dirty="0">
                <a:solidFill>
                  <a:srgbClr val="003366"/>
                </a:solidFill>
                <a:latin typeface="Lato"/>
                <a:cs typeface="Lato"/>
              </a:rPr>
              <a:t>data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Source:</a:t>
            </a:r>
            <a:r>
              <a:rPr sz="12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HR</a:t>
            </a:r>
            <a:r>
              <a:rPr sz="12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Information</a:t>
            </a:r>
            <a:r>
              <a:rPr sz="12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System</a:t>
            </a:r>
            <a:endParaRPr sz="1200" dirty="0">
              <a:latin typeface="Lato"/>
              <a:cs typeface="La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88681" y="2496820"/>
            <a:ext cx="5715000" cy="826701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630555">
              <a:lnSpc>
                <a:spcPct val="100000"/>
              </a:lnSpc>
            </a:pPr>
            <a:r>
              <a:rPr sz="1300" spc="-60" dirty="0">
                <a:solidFill>
                  <a:srgbClr val="003366"/>
                </a:solidFill>
                <a:latin typeface="Arial"/>
                <a:cs typeface="Arial"/>
              </a:rPr>
              <a:t>Tickets</a:t>
            </a:r>
            <a:r>
              <a:rPr sz="1300" spc="-8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003366"/>
                </a:solidFill>
                <a:latin typeface="Arial"/>
                <a:cs typeface="Arial"/>
              </a:rPr>
              <a:t>Dataset</a:t>
            </a:r>
            <a:endParaRPr sz="1300" dirty="0">
              <a:latin typeface="Arial"/>
              <a:cs typeface="Arial"/>
            </a:endParaRPr>
          </a:p>
          <a:p>
            <a:pPr marL="630555" marR="2012314">
              <a:lnSpc>
                <a:spcPct val="104200"/>
              </a:lnSpc>
              <a:spcBef>
                <a:spcPts val="130"/>
              </a:spcBef>
            </a:pP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97,498</a:t>
            </a:r>
            <a:r>
              <a:rPr sz="1200" spc="-6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records</a:t>
            </a:r>
            <a:r>
              <a:rPr sz="1200" spc="-6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with</a:t>
            </a:r>
            <a:r>
              <a:rPr sz="1200" spc="-6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complete</a:t>
            </a:r>
            <a:r>
              <a:rPr sz="1200" spc="-6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ticket</a:t>
            </a:r>
            <a:r>
              <a:rPr sz="1200" spc="-6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metadata Source:</a:t>
            </a:r>
            <a:r>
              <a:rPr sz="1200" spc="-3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Internal</a:t>
            </a:r>
            <a:r>
              <a:rPr sz="1200" spc="-3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IT</a:t>
            </a:r>
            <a:r>
              <a:rPr sz="1200" spc="-3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Management</a:t>
            </a:r>
            <a:r>
              <a:rPr sz="1200" spc="-3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System</a:t>
            </a:r>
            <a:endParaRPr sz="1200" dirty="0">
              <a:latin typeface="Lato"/>
              <a:cs typeface="Lato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68299" y="415925"/>
            <a:ext cx="11442702" cy="610808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algn="ctr">
              <a:lnSpc>
                <a:spcPct val="101899"/>
              </a:lnSpc>
              <a:spcBef>
                <a:spcPts val="35"/>
              </a:spcBef>
            </a:pPr>
            <a:r>
              <a:rPr sz="4000" b="1" spc="440" dirty="0">
                <a:solidFill>
                  <a:srgbClr val="003366"/>
                </a:solidFill>
                <a:latin typeface="Calibri"/>
                <a:cs typeface="Calibri"/>
              </a:rPr>
              <a:t>ACKNOWLEDGEMENTS</a:t>
            </a:r>
            <a:r>
              <a:rPr sz="4000" b="1" spc="16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4000" b="1" spc="5" dirty="0">
                <a:solidFill>
                  <a:srgbClr val="003366"/>
                </a:solidFill>
                <a:latin typeface="Calibri"/>
                <a:cs typeface="Calibri"/>
              </a:rPr>
              <a:t>&amp; </a:t>
            </a:r>
            <a:r>
              <a:rPr sz="4000" b="1" spc="465" dirty="0">
                <a:solidFill>
                  <a:srgbClr val="003366"/>
                </a:solidFill>
                <a:latin typeface="Calibri"/>
                <a:cs typeface="Calibri"/>
              </a:rPr>
              <a:t>REFERENCES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48960" y="1179102"/>
            <a:ext cx="571500" cy="38100"/>
          </a:xfrm>
          <a:custGeom>
            <a:avLst/>
            <a:gdLst/>
            <a:ahLst/>
            <a:cxnLst/>
            <a:rect l="l" t="t" r="r" b="b"/>
            <a:pathLst>
              <a:path w="571500" h="38100">
                <a:moveTo>
                  <a:pt x="571499" y="38099"/>
                </a:moveTo>
                <a:lnTo>
                  <a:pt x="0" y="38099"/>
                </a:lnTo>
                <a:lnTo>
                  <a:pt x="0" y="0"/>
                </a:lnTo>
                <a:lnTo>
                  <a:pt x="571499" y="0"/>
                </a:lnTo>
                <a:lnTo>
                  <a:pt x="571499" y="38099"/>
                </a:lnTo>
                <a:close/>
              </a:path>
            </a:pathLst>
          </a:custGeom>
          <a:solidFill>
            <a:srgbClr val="4A8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160532" y="2564100"/>
            <a:ext cx="4678764" cy="2343150"/>
            <a:chOff x="6095999" y="876300"/>
            <a:chExt cx="5715000" cy="2343150"/>
          </a:xfrm>
        </p:grpSpPr>
        <p:sp>
          <p:nvSpPr>
            <p:cNvPr id="11" name="object 11"/>
            <p:cNvSpPr/>
            <p:nvPr/>
          </p:nvSpPr>
          <p:spPr>
            <a:xfrm>
              <a:off x="6095999" y="876300"/>
              <a:ext cx="5715000" cy="2343150"/>
            </a:xfrm>
            <a:custGeom>
              <a:avLst/>
              <a:gdLst/>
              <a:ahLst/>
              <a:cxnLst/>
              <a:rect l="l" t="t" r="r" b="b"/>
              <a:pathLst>
                <a:path w="5715000" h="2343150">
                  <a:moveTo>
                    <a:pt x="5676899" y="2343149"/>
                  </a:moveTo>
                  <a:lnTo>
                    <a:pt x="38099" y="2343149"/>
                  </a:lnTo>
                  <a:lnTo>
                    <a:pt x="30497" y="2342452"/>
                  </a:lnTo>
                  <a:lnTo>
                    <a:pt x="697" y="2312651"/>
                  </a:lnTo>
                  <a:lnTo>
                    <a:pt x="0" y="230504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5676899" y="0"/>
                  </a:lnTo>
                  <a:lnTo>
                    <a:pt x="5712209" y="23474"/>
                  </a:lnTo>
                  <a:lnTo>
                    <a:pt x="5714999" y="38099"/>
                  </a:lnTo>
                  <a:lnTo>
                    <a:pt x="5714999" y="2305049"/>
                  </a:lnTo>
                  <a:lnTo>
                    <a:pt x="5691525" y="2340359"/>
                  </a:lnTo>
                  <a:lnTo>
                    <a:pt x="5676899" y="2343149"/>
                  </a:lnTo>
                  <a:close/>
                </a:path>
              </a:pathLst>
            </a:custGeom>
            <a:solidFill>
              <a:srgbClr val="E3F1FD">
                <a:alpha val="79998"/>
              </a:srgb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95999" y="876300"/>
              <a:ext cx="5715000" cy="2343150"/>
            </a:xfrm>
            <a:custGeom>
              <a:avLst/>
              <a:gdLst/>
              <a:ahLst/>
              <a:cxnLst/>
              <a:rect l="l" t="t" r="r" b="b"/>
              <a:pathLst>
                <a:path w="5715000" h="2343150">
                  <a:moveTo>
                    <a:pt x="5676899" y="2343149"/>
                  </a:moveTo>
                  <a:lnTo>
                    <a:pt x="38099" y="2343149"/>
                  </a:lnTo>
                  <a:lnTo>
                    <a:pt x="30497" y="2342452"/>
                  </a:lnTo>
                  <a:lnTo>
                    <a:pt x="697" y="2312651"/>
                  </a:lnTo>
                  <a:lnTo>
                    <a:pt x="0" y="2305049"/>
                  </a:lnTo>
                  <a:lnTo>
                    <a:pt x="0" y="38099"/>
                  </a:lnTo>
                  <a:lnTo>
                    <a:pt x="681" y="30665"/>
                  </a:lnTo>
                  <a:lnTo>
                    <a:pt x="697" y="30498"/>
                  </a:lnTo>
                  <a:lnTo>
                    <a:pt x="2732" y="23663"/>
                  </a:lnTo>
                  <a:lnTo>
                    <a:pt x="2789" y="23474"/>
                  </a:lnTo>
                  <a:lnTo>
                    <a:pt x="6276" y="17027"/>
                  </a:lnTo>
                  <a:lnTo>
                    <a:pt x="38099" y="0"/>
                  </a:lnTo>
                  <a:lnTo>
                    <a:pt x="5676899" y="0"/>
                  </a:lnTo>
                  <a:lnTo>
                    <a:pt x="5684501" y="697"/>
                  </a:lnTo>
                  <a:lnTo>
                    <a:pt x="5691525" y="2789"/>
                  </a:lnTo>
                  <a:lnTo>
                    <a:pt x="5697971" y="6277"/>
                  </a:lnTo>
                  <a:lnTo>
                    <a:pt x="5701876" y="9524"/>
                  </a:lnTo>
                  <a:lnTo>
                    <a:pt x="34309" y="9524"/>
                  </a:lnTo>
                  <a:lnTo>
                    <a:pt x="30664" y="10249"/>
                  </a:lnTo>
                  <a:lnTo>
                    <a:pt x="23662" y="13150"/>
                  </a:lnTo>
                  <a:lnTo>
                    <a:pt x="20572" y="15214"/>
                  </a:lnTo>
                  <a:lnTo>
                    <a:pt x="15213" y="20573"/>
                  </a:lnTo>
                  <a:lnTo>
                    <a:pt x="13275" y="23474"/>
                  </a:lnTo>
                  <a:lnTo>
                    <a:pt x="13148" y="23663"/>
                  </a:lnTo>
                  <a:lnTo>
                    <a:pt x="10318" y="30498"/>
                  </a:lnTo>
                  <a:lnTo>
                    <a:pt x="10249" y="30665"/>
                  </a:lnTo>
                  <a:lnTo>
                    <a:pt x="9524" y="34310"/>
                  </a:lnTo>
                  <a:lnTo>
                    <a:pt x="9524" y="2308838"/>
                  </a:lnTo>
                  <a:lnTo>
                    <a:pt x="10249" y="2312483"/>
                  </a:lnTo>
                  <a:lnTo>
                    <a:pt x="34309" y="2333624"/>
                  </a:lnTo>
                  <a:lnTo>
                    <a:pt x="5701876" y="2333624"/>
                  </a:lnTo>
                  <a:lnTo>
                    <a:pt x="5697971" y="2336872"/>
                  </a:lnTo>
                  <a:lnTo>
                    <a:pt x="5691525" y="2340360"/>
                  </a:lnTo>
                  <a:lnTo>
                    <a:pt x="5684501" y="2342452"/>
                  </a:lnTo>
                  <a:lnTo>
                    <a:pt x="5676899" y="2343149"/>
                  </a:lnTo>
                  <a:close/>
                </a:path>
                <a:path w="5715000" h="2343150">
                  <a:moveTo>
                    <a:pt x="5701876" y="2333624"/>
                  </a:moveTo>
                  <a:lnTo>
                    <a:pt x="5680687" y="2333624"/>
                  </a:lnTo>
                  <a:lnTo>
                    <a:pt x="5684332" y="2332899"/>
                  </a:lnTo>
                  <a:lnTo>
                    <a:pt x="5691334" y="2329999"/>
                  </a:lnTo>
                  <a:lnTo>
                    <a:pt x="5705472" y="2308838"/>
                  </a:lnTo>
                  <a:lnTo>
                    <a:pt x="5705472" y="34310"/>
                  </a:lnTo>
                  <a:lnTo>
                    <a:pt x="5680687" y="9524"/>
                  </a:lnTo>
                  <a:lnTo>
                    <a:pt x="5701876" y="9524"/>
                  </a:lnTo>
                  <a:lnTo>
                    <a:pt x="5714999" y="2305049"/>
                  </a:lnTo>
                  <a:lnTo>
                    <a:pt x="5714317" y="2312483"/>
                  </a:lnTo>
                  <a:lnTo>
                    <a:pt x="5714302" y="2312651"/>
                  </a:lnTo>
                  <a:lnTo>
                    <a:pt x="5712266" y="2319485"/>
                  </a:lnTo>
                  <a:lnTo>
                    <a:pt x="5712209" y="2319675"/>
                  </a:lnTo>
                  <a:lnTo>
                    <a:pt x="5708722" y="2326121"/>
                  </a:lnTo>
                  <a:lnTo>
                    <a:pt x="5703840" y="2331990"/>
                  </a:lnTo>
                  <a:lnTo>
                    <a:pt x="5701876" y="2333624"/>
                  </a:lnTo>
                  <a:close/>
                </a:path>
              </a:pathLst>
            </a:custGeom>
            <a:solidFill>
              <a:srgbClr val="4A8FE2">
                <a:alpha val="30198"/>
              </a:srgb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160532" y="2007871"/>
            <a:ext cx="1566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80" dirty="0">
                <a:solidFill>
                  <a:srgbClr val="0052CC"/>
                </a:solidFill>
              </a:rPr>
              <a:t>TOOLS</a:t>
            </a:r>
            <a:r>
              <a:rPr sz="1800" spc="114" dirty="0">
                <a:solidFill>
                  <a:srgbClr val="0052CC"/>
                </a:solidFill>
              </a:rPr>
              <a:t> </a:t>
            </a:r>
            <a:r>
              <a:rPr sz="1800" spc="280" dirty="0">
                <a:solidFill>
                  <a:srgbClr val="0052CC"/>
                </a:solidFill>
              </a:rPr>
              <a:t>USED</a:t>
            </a:r>
            <a:endParaRPr sz="1800" dirty="0"/>
          </a:p>
        </p:txBody>
      </p:sp>
      <p:sp>
        <p:nvSpPr>
          <p:cNvPr id="14" name="object 14"/>
          <p:cNvSpPr/>
          <p:nvPr/>
        </p:nvSpPr>
        <p:spPr>
          <a:xfrm>
            <a:off x="1322445" y="2792711"/>
            <a:ext cx="357505" cy="1885950"/>
          </a:xfrm>
          <a:custGeom>
            <a:avLst/>
            <a:gdLst/>
            <a:ahLst/>
            <a:cxnLst/>
            <a:rect l="l" t="t" r="r" b="b"/>
            <a:pathLst>
              <a:path w="357504" h="1885950">
                <a:moveTo>
                  <a:pt x="98272" y="1680527"/>
                </a:moveTo>
                <a:lnTo>
                  <a:pt x="96964" y="1673809"/>
                </a:lnTo>
                <a:lnTo>
                  <a:pt x="93040" y="1667891"/>
                </a:lnTo>
                <a:lnTo>
                  <a:pt x="87134" y="1663966"/>
                </a:lnTo>
                <a:lnTo>
                  <a:pt x="80403" y="1662658"/>
                </a:lnTo>
                <a:lnTo>
                  <a:pt x="73672" y="1663966"/>
                </a:lnTo>
                <a:lnTo>
                  <a:pt x="67754" y="1667891"/>
                </a:lnTo>
                <a:lnTo>
                  <a:pt x="5257" y="1730400"/>
                </a:lnTo>
                <a:lnTo>
                  <a:pt x="1333" y="1736318"/>
                </a:lnTo>
                <a:lnTo>
                  <a:pt x="25" y="1743036"/>
                </a:lnTo>
                <a:lnTo>
                  <a:pt x="1333" y="1749767"/>
                </a:lnTo>
                <a:lnTo>
                  <a:pt x="5257" y="1755686"/>
                </a:lnTo>
                <a:lnTo>
                  <a:pt x="67754" y="1818195"/>
                </a:lnTo>
                <a:lnTo>
                  <a:pt x="73672" y="1822119"/>
                </a:lnTo>
                <a:lnTo>
                  <a:pt x="80403" y="1823427"/>
                </a:lnTo>
                <a:lnTo>
                  <a:pt x="87134" y="1822119"/>
                </a:lnTo>
                <a:lnTo>
                  <a:pt x="93040" y="1818195"/>
                </a:lnTo>
                <a:lnTo>
                  <a:pt x="96964" y="1812277"/>
                </a:lnTo>
                <a:lnTo>
                  <a:pt x="98272" y="1805546"/>
                </a:lnTo>
                <a:lnTo>
                  <a:pt x="96964" y="1798815"/>
                </a:lnTo>
                <a:lnTo>
                  <a:pt x="93040" y="1792909"/>
                </a:lnTo>
                <a:lnTo>
                  <a:pt x="43180" y="1743036"/>
                </a:lnTo>
                <a:lnTo>
                  <a:pt x="93040" y="1693176"/>
                </a:lnTo>
                <a:lnTo>
                  <a:pt x="96964" y="1687258"/>
                </a:lnTo>
                <a:lnTo>
                  <a:pt x="98272" y="1680527"/>
                </a:lnTo>
                <a:close/>
              </a:path>
              <a:path w="357504" h="1885950">
                <a:moveTo>
                  <a:pt x="178600" y="1181925"/>
                </a:moveTo>
                <a:lnTo>
                  <a:pt x="170624" y="1173949"/>
                </a:lnTo>
                <a:lnTo>
                  <a:pt x="79425" y="1173949"/>
                </a:lnTo>
                <a:lnTo>
                  <a:pt x="71437" y="1181925"/>
                </a:lnTo>
                <a:lnTo>
                  <a:pt x="71437" y="1201686"/>
                </a:lnTo>
                <a:lnTo>
                  <a:pt x="79425" y="1209675"/>
                </a:lnTo>
                <a:lnTo>
                  <a:pt x="170624" y="1209675"/>
                </a:lnTo>
                <a:lnTo>
                  <a:pt x="178600" y="1201686"/>
                </a:lnTo>
                <a:lnTo>
                  <a:pt x="178600" y="1181925"/>
                </a:lnTo>
                <a:close/>
              </a:path>
              <a:path w="357504" h="1885950">
                <a:moveTo>
                  <a:pt x="214312" y="1128356"/>
                </a:moveTo>
                <a:lnTo>
                  <a:pt x="206336" y="1120368"/>
                </a:lnTo>
                <a:lnTo>
                  <a:pt x="79425" y="1120368"/>
                </a:lnTo>
                <a:lnTo>
                  <a:pt x="71437" y="1128356"/>
                </a:lnTo>
                <a:lnTo>
                  <a:pt x="71437" y="1148105"/>
                </a:lnTo>
                <a:lnTo>
                  <a:pt x="79425" y="1156093"/>
                </a:lnTo>
                <a:lnTo>
                  <a:pt x="206336" y="1156093"/>
                </a:lnTo>
                <a:lnTo>
                  <a:pt x="214312" y="1148105"/>
                </a:lnTo>
                <a:lnTo>
                  <a:pt x="214312" y="1128356"/>
                </a:lnTo>
                <a:close/>
              </a:path>
              <a:path w="357504" h="1885950">
                <a:moveTo>
                  <a:pt x="214312" y="89293"/>
                </a:moveTo>
                <a:lnTo>
                  <a:pt x="153619" y="89293"/>
                </a:lnTo>
                <a:lnTo>
                  <a:pt x="153619" y="234962"/>
                </a:lnTo>
                <a:lnTo>
                  <a:pt x="152196" y="243332"/>
                </a:lnTo>
                <a:lnTo>
                  <a:pt x="140030" y="251815"/>
                </a:lnTo>
                <a:lnTo>
                  <a:pt x="131724" y="250355"/>
                </a:lnTo>
                <a:lnTo>
                  <a:pt x="107162" y="215315"/>
                </a:lnTo>
                <a:lnTo>
                  <a:pt x="82664" y="250355"/>
                </a:lnTo>
                <a:lnTo>
                  <a:pt x="74295" y="251815"/>
                </a:lnTo>
                <a:lnTo>
                  <a:pt x="62230" y="243332"/>
                </a:lnTo>
                <a:lnTo>
                  <a:pt x="60731" y="234962"/>
                </a:lnTo>
                <a:lnTo>
                  <a:pt x="90805" y="191985"/>
                </a:lnTo>
                <a:lnTo>
                  <a:pt x="60667" y="148958"/>
                </a:lnTo>
                <a:lnTo>
                  <a:pt x="62204" y="140576"/>
                </a:lnTo>
                <a:lnTo>
                  <a:pt x="74282" y="132156"/>
                </a:lnTo>
                <a:lnTo>
                  <a:pt x="82283" y="133553"/>
                </a:lnTo>
                <a:lnTo>
                  <a:pt x="82562" y="133553"/>
                </a:lnTo>
                <a:lnTo>
                  <a:pt x="86804" y="139636"/>
                </a:lnTo>
                <a:lnTo>
                  <a:pt x="87566" y="140576"/>
                </a:lnTo>
                <a:lnTo>
                  <a:pt x="107162" y="168592"/>
                </a:lnTo>
                <a:lnTo>
                  <a:pt x="131660" y="133553"/>
                </a:lnTo>
                <a:lnTo>
                  <a:pt x="140030" y="132092"/>
                </a:lnTo>
                <a:lnTo>
                  <a:pt x="152095" y="140576"/>
                </a:lnTo>
                <a:lnTo>
                  <a:pt x="153593" y="148958"/>
                </a:lnTo>
                <a:lnTo>
                  <a:pt x="149352" y="154978"/>
                </a:lnTo>
                <a:lnTo>
                  <a:pt x="123520" y="191985"/>
                </a:lnTo>
                <a:lnTo>
                  <a:pt x="153619" y="234962"/>
                </a:lnTo>
                <a:lnTo>
                  <a:pt x="153619" y="89293"/>
                </a:lnTo>
                <a:lnTo>
                  <a:pt x="133007" y="89293"/>
                </a:lnTo>
                <a:lnTo>
                  <a:pt x="125018" y="81305"/>
                </a:lnTo>
                <a:lnTo>
                  <a:pt x="125018" y="0"/>
                </a:lnTo>
                <a:lnTo>
                  <a:pt x="35725" y="0"/>
                </a:lnTo>
                <a:lnTo>
                  <a:pt x="21831" y="2806"/>
                </a:lnTo>
                <a:lnTo>
                  <a:pt x="10477" y="10464"/>
                </a:lnTo>
                <a:lnTo>
                  <a:pt x="2819" y="21818"/>
                </a:lnTo>
                <a:lnTo>
                  <a:pt x="0" y="35712"/>
                </a:lnTo>
                <a:lnTo>
                  <a:pt x="76" y="250355"/>
                </a:lnTo>
                <a:lnTo>
                  <a:pt x="2819" y="263918"/>
                </a:lnTo>
                <a:lnTo>
                  <a:pt x="10477" y="275272"/>
                </a:lnTo>
                <a:lnTo>
                  <a:pt x="21831" y="282930"/>
                </a:lnTo>
                <a:lnTo>
                  <a:pt x="35725" y="285750"/>
                </a:lnTo>
                <a:lnTo>
                  <a:pt x="178600" y="285750"/>
                </a:lnTo>
                <a:lnTo>
                  <a:pt x="211505" y="263918"/>
                </a:lnTo>
                <a:lnTo>
                  <a:pt x="214312" y="132092"/>
                </a:lnTo>
                <a:lnTo>
                  <a:pt x="214312" y="89293"/>
                </a:lnTo>
                <a:close/>
              </a:path>
              <a:path w="357504" h="1885950">
                <a:moveTo>
                  <a:pt x="214312" y="71437"/>
                </a:moveTo>
                <a:lnTo>
                  <a:pt x="142875" y="0"/>
                </a:lnTo>
                <a:lnTo>
                  <a:pt x="142875" y="71437"/>
                </a:lnTo>
                <a:lnTo>
                  <a:pt x="214312" y="71437"/>
                </a:lnTo>
                <a:close/>
              </a:path>
              <a:path w="357504" h="1885950">
                <a:moveTo>
                  <a:pt x="232079" y="1615897"/>
                </a:moveTo>
                <a:lnTo>
                  <a:pt x="229946" y="1609382"/>
                </a:lnTo>
                <a:lnTo>
                  <a:pt x="225539" y="1604137"/>
                </a:lnTo>
                <a:lnTo>
                  <a:pt x="219227" y="1600860"/>
                </a:lnTo>
                <a:lnTo>
                  <a:pt x="212153" y="1600288"/>
                </a:lnTo>
                <a:lnTo>
                  <a:pt x="205651" y="1602422"/>
                </a:lnTo>
                <a:lnTo>
                  <a:pt x="200406" y="1606842"/>
                </a:lnTo>
                <a:lnTo>
                  <a:pt x="197129" y="1613141"/>
                </a:lnTo>
                <a:lnTo>
                  <a:pt x="125691" y="1863178"/>
                </a:lnTo>
                <a:lnTo>
                  <a:pt x="125120" y="1870240"/>
                </a:lnTo>
                <a:lnTo>
                  <a:pt x="127241" y="1876755"/>
                </a:lnTo>
                <a:lnTo>
                  <a:pt x="131660" y="1882000"/>
                </a:lnTo>
                <a:lnTo>
                  <a:pt x="137972" y="1885276"/>
                </a:lnTo>
                <a:lnTo>
                  <a:pt x="145046" y="1885848"/>
                </a:lnTo>
                <a:lnTo>
                  <a:pt x="151549" y="1883714"/>
                </a:lnTo>
                <a:lnTo>
                  <a:pt x="156794" y="1879307"/>
                </a:lnTo>
                <a:lnTo>
                  <a:pt x="160070" y="1872996"/>
                </a:lnTo>
                <a:lnTo>
                  <a:pt x="231508" y="1622971"/>
                </a:lnTo>
                <a:lnTo>
                  <a:pt x="232079" y="1615897"/>
                </a:lnTo>
                <a:close/>
              </a:path>
              <a:path w="357504" h="1885950">
                <a:moveTo>
                  <a:pt x="250037" y="1235506"/>
                </a:moveTo>
                <a:lnTo>
                  <a:pt x="242062" y="1227531"/>
                </a:lnTo>
                <a:lnTo>
                  <a:pt x="79425" y="1227531"/>
                </a:lnTo>
                <a:lnTo>
                  <a:pt x="71437" y="1235506"/>
                </a:lnTo>
                <a:lnTo>
                  <a:pt x="71437" y="1255268"/>
                </a:lnTo>
                <a:lnTo>
                  <a:pt x="79425" y="1263243"/>
                </a:lnTo>
                <a:lnTo>
                  <a:pt x="242062" y="1263243"/>
                </a:lnTo>
                <a:lnTo>
                  <a:pt x="250037" y="1255268"/>
                </a:lnTo>
                <a:lnTo>
                  <a:pt x="250037" y="1235506"/>
                </a:lnTo>
                <a:close/>
              </a:path>
              <a:path w="357504" h="1885950">
                <a:moveTo>
                  <a:pt x="285750" y="1306944"/>
                </a:moveTo>
                <a:lnTo>
                  <a:pt x="277774" y="1298968"/>
                </a:lnTo>
                <a:lnTo>
                  <a:pt x="39738" y="1298968"/>
                </a:lnTo>
                <a:lnTo>
                  <a:pt x="35725" y="1294942"/>
                </a:lnTo>
                <a:lnTo>
                  <a:pt x="35725" y="1092631"/>
                </a:lnTo>
                <a:lnTo>
                  <a:pt x="27749" y="1084656"/>
                </a:lnTo>
                <a:lnTo>
                  <a:pt x="7988" y="1084656"/>
                </a:lnTo>
                <a:lnTo>
                  <a:pt x="0" y="1092631"/>
                </a:lnTo>
                <a:lnTo>
                  <a:pt x="0" y="1290040"/>
                </a:lnTo>
                <a:lnTo>
                  <a:pt x="3517" y="1307414"/>
                </a:lnTo>
                <a:lnTo>
                  <a:pt x="13081" y="1321612"/>
                </a:lnTo>
                <a:lnTo>
                  <a:pt x="27266" y="1331175"/>
                </a:lnTo>
                <a:lnTo>
                  <a:pt x="44653" y="1334681"/>
                </a:lnTo>
                <a:lnTo>
                  <a:pt x="277774" y="1334681"/>
                </a:lnTo>
                <a:lnTo>
                  <a:pt x="285750" y="1326705"/>
                </a:lnTo>
                <a:lnTo>
                  <a:pt x="285750" y="1306944"/>
                </a:lnTo>
                <a:close/>
              </a:path>
              <a:path w="357504" h="1885950">
                <a:moveTo>
                  <a:pt x="285750" y="586968"/>
                </a:moveTo>
                <a:lnTo>
                  <a:pt x="282943" y="573074"/>
                </a:lnTo>
                <a:lnTo>
                  <a:pt x="275285" y="561721"/>
                </a:lnTo>
                <a:lnTo>
                  <a:pt x="263931" y="554062"/>
                </a:lnTo>
                <a:lnTo>
                  <a:pt x="250037" y="551256"/>
                </a:lnTo>
                <a:lnTo>
                  <a:pt x="250037" y="622693"/>
                </a:lnTo>
                <a:lnTo>
                  <a:pt x="250037" y="676275"/>
                </a:lnTo>
                <a:lnTo>
                  <a:pt x="250037" y="711987"/>
                </a:lnTo>
                <a:lnTo>
                  <a:pt x="250037" y="765568"/>
                </a:lnTo>
                <a:lnTo>
                  <a:pt x="160743" y="765568"/>
                </a:lnTo>
                <a:lnTo>
                  <a:pt x="160743" y="711987"/>
                </a:lnTo>
                <a:lnTo>
                  <a:pt x="250037" y="711987"/>
                </a:lnTo>
                <a:lnTo>
                  <a:pt x="250037" y="676275"/>
                </a:lnTo>
                <a:lnTo>
                  <a:pt x="160743" y="676275"/>
                </a:lnTo>
                <a:lnTo>
                  <a:pt x="160743" y="622693"/>
                </a:lnTo>
                <a:lnTo>
                  <a:pt x="250037" y="622693"/>
                </a:lnTo>
                <a:lnTo>
                  <a:pt x="250037" y="551256"/>
                </a:lnTo>
                <a:lnTo>
                  <a:pt x="125018" y="551256"/>
                </a:lnTo>
                <a:lnTo>
                  <a:pt x="125018" y="622693"/>
                </a:lnTo>
                <a:lnTo>
                  <a:pt x="125018" y="676275"/>
                </a:lnTo>
                <a:lnTo>
                  <a:pt x="125018" y="711987"/>
                </a:lnTo>
                <a:lnTo>
                  <a:pt x="125018" y="765568"/>
                </a:lnTo>
                <a:lnTo>
                  <a:pt x="35725" y="765568"/>
                </a:lnTo>
                <a:lnTo>
                  <a:pt x="35725" y="711987"/>
                </a:lnTo>
                <a:lnTo>
                  <a:pt x="125018" y="711987"/>
                </a:lnTo>
                <a:lnTo>
                  <a:pt x="125018" y="676275"/>
                </a:lnTo>
                <a:lnTo>
                  <a:pt x="35725" y="676275"/>
                </a:lnTo>
                <a:lnTo>
                  <a:pt x="35725" y="622693"/>
                </a:lnTo>
                <a:lnTo>
                  <a:pt x="125018" y="622693"/>
                </a:lnTo>
                <a:lnTo>
                  <a:pt x="125018" y="551256"/>
                </a:lnTo>
                <a:lnTo>
                  <a:pt x="35725" y="551256"/>
                </a:lnTo>
                <a:lnTo>
                  <a:pt x="21831" y="554062"/>
                </a:lnTo>
                <a:lnTo>
                  <a:pt x="10477" y="561721"/>
                </a:lnTo>
                <a:lnTo>
                  <a:pt x="2819" y="573074"/>
                </a:lnTo>
                <a:lnTo>
                  <a:pt x="0" y="586968"/>
                </a:lnTo>
                <a:lnTo>
                  <a:pt x="0" y="765568"/>
                </a:lnTo>
                <a:lnTo>
                  <a:pt x="2819" y="779462"/>
                </a:lnTo>
                <a:lnTo>
                  <a:pt x="10477" y="790816"/>
                </a:lnTo>
                <a:lnTo>
                  <a:pt x="21831" y="798474"/>
                </a:lnTo>
                <a:lnTo>
                  <a:pt x="35725" y="801281"/>
                </a:lnTo>
                <a:lnTo>
                  <a:pt x="250037" y="801281"/>
                </a:lnTo>
                <a:lnTo>
                  <a:pt x="263931" y="798474"/>
                </a:lnTo>
                <a:lnTo>
                  <a:pt x="275285" y="790816"/>
                </a:lnTo>
                <a:lnTo>
                  <a:pt x="282943" y="779462"/>
                </a:lnTo>
                <a:lnTo>
                  <a:pt x="285750" y="765568"/>
                </a:lnTo>
                <a:lnTo>
                  <a:pt x="285750" y="711987"/>
                </a:lnTo>
                <a:lnTo>
                  <a:pt x="285750" y="676275"/>
                </a:lnTo>
                <a:lnTo>
                  <a:pt x="285750" y="622693"/>
                </a:lnTo>
                <a:lnTo>
                  <a:pt x="285750" y="586968"/>
                </a:lnTo>
                <a:close/>
              </a:path>
              <a:path w="357504" h="1885950">
                <a:moveTo>
                  <a:pt x="357174" y="1743075"/>
                </a:moveTo>
                <a:lnTo>
                  <a:pt x="289356" y="1667891"/>
                </a:lnTo>
                <a:lnTo>
                  <a:pt x="276796" y="1662722"/>
                </a:lnTo>
                <a:lnTo>
                  <a:pt x="270065" y="1664030"/>
                </a:lnTo>
                <a:lnTo>
                  <a:pt x="264236" y="1667891"/>
                </a:lnTo>
                <a:lnTo>
                  <a:pt x="260286" y="1673809"/>
                </a:lnTo>
                <a:lnTo>
                  <a:pt x="258978" y="1680527"/>
                </a:lnTo>
                <a:lnTo>
                  <a:pt x="260286" y="1687258"/>
                </a:lnTo>
                <a:lnTo>
                  <a:pt x="264210" y="1693176"/>
                </a:lnTo>
                <a:lnTo>
                  <a:pt x="314058" y="1743075"/>
                </a:lnTo>
                <a:lnTo>
                  <a:pt x="264160" y="1792960"/>
                </a:lnTo>
                <a:lnTo>
                  <a:pt x="260235" y="1798878"/>
                </a:lnTo>
                <a:lnTo>
                  <a:pt x="258927" y="1805609"/>
                </a:lnTo>
                <a:lnTo>
                  <a:pt x="260235" y="1812328"/>
                </a:lnTo>
                <a:lnTo>
                  <a:pt x="264160" y="1818246"/>
                </a:lnTo>
                <a:lnTo>
                  <a:pt x="270065" y="1822170"/>
                </a:lnTo>
                <a:lnTo>
                  <a:pt x="276796" y="1823478"/>
                </a:lnTo>
                <a:lnTo>
                  <a:pt x="283527" y="1822170"/>
                </a:lnTo>
                <a:lnTo>
                  <a:pt x="289445" y="1818246"/>
                </a:lnTo>
                <a:lnTo>
                  <a:pt x="351942" y="1755736"/>
                </a:lnTo>
                <a:lnTo>
                  <a:pt x="355866" y="1749831"/>
                </a:lnTo>
                <a:lnTo>
                  <a:pt x="357174" y="1743075"/>
                </a:lnTo>
                <a:close/>
              </a:path>
            </a:pathLst>
          </a:custGeom>
          <a:solidFill>
            <a:srgbClr val="0052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676470" y="2689028"/>
            <a:ext cx="4003040" cy="206184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300" spc="-25" dirty="0">
                <a:solidFill>
                  <a:srgbClr val="003366"/>
                </a:solidFill>
                <a:latin typeface="Arial"/>
                <a:cs typeface="Arial"/>
              </a:rPr>
              <a:t>Microsoft</a:t>
            </a:r>
            <a:r>
              <a:rPr sz="1300" spc="-4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003366"/>
                </a:solidFill>
                <a:latin typeface="Arial"/>
                <a:cs typeface="Arial"/>
              </a:rPr>
              <a:t>Excel</a:t>
            </a:r>
            <a:endParaRPr sz="13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Primary</a:t>
            </a:r>
            <a:r>
              <a:rPr sz="12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analysis</a:t>
            </a:r>
            <a:r>
              <a:rPr sz="1200" spc="-4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platform</a:t>
            </a:r>
            <a:r>
              <a:rPr sz="12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&amp;</a:t>
            </a:r>
            <a:r>
              <a:rPr sz="1200" spc="-4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dashboard</a:t>
            </a:r>
            <a:r>
              <a:rPr sz="1200" spc="-4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creation</a:t>
            </a:r>
            <a:endParaRPr sz="1200" dirty="0">
              <a:latin typeface="Lato"/>
              <a:cs typeface="Lato"/>
            </a:endParaRPr>
          </a:p>
          <a:p>
            <a:pPr marL="83820">
              <a:lnSpc>
                <a:spcPct val="100000"/>
              </a:lnSpc>
              <a:spcBef>
                <a:spcPts val="1010"/>
              </a:spcBef>
            </a:pPr>
            <a:r>
              <a:rPr sz="1300" spc="-10" dirty="0">
                <a:solidFill>
                  <a:srgbClr val="003366"/>
                </a:solidFill>
                <a:latin typeface="Arial"/>
                <a:cs typeface="Arial"/>
              </a:rPr>
              <a:t>PivotTables</a:t>
            </a:r>
            <a:endParaRPr sz="1300" dirty="0">
              <a:latin typeface="Arial"/>
              <a:cs typeface="Arial"/>
            </a:endParaRPr>
          </a:p>
          <a:p>
            <a:pPr marL="83820">
              <a:lnSpc>
                <a:spcPct val="100000"/>
              </a:lnSpc>
              <a:spcBef>
                <a:spcPts val="190"/>
              </a:spcBef>
            </a:pP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For</a:t>
            </a:r>
            <a:r>
              <a:rPr sz="12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data</a:t>
            </a:r>
            <a:r>
              <a:rPr sz="12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aggregation</a:t>
            </a:r>
            <a:r>
              <a:rPr sz="12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&amp;</a:t>
            </a:r>
            <a:r>
              <a:rPr sz="12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cross-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tabulation</a:t>
            </a:r>
            <a:r>
              <a:rPr sz="12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analysis</a:t>
            </a:r>
            <a:endParaRPr sz="1200" dirty="0">
              <a:latin typeface="Lato"/>
              <a:cs typeface="Lato"/>
            </a:endParaRPr>
          </a:p>
          <a:p>
            <a:pPr marL="83820">
              <a:lnSpc>
                <a:spcPct val="100000"/>
              </a:lnSpc>
              <a:spcBef>
                <a:spcPts val="1010"/>
              </a:spcBef>
            </a:pPr>
            <a:r>
              <a:rPr sz="1300" spc="-90" dirty="0">
                <a:solidFill>
                  <a:srgbClr val="003366"/>
                </a:solidFill>
                <a:latin typeface="Arial"/>
                <a:cs typeface="Arial"/>
              </a:rPr>
              <a:t>Excel</a:t>
            </a:r>
            <a:r>
              <a:rPr sz="1300" spc="-10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003366"/>
                </a:solidFill>
                <a:latin typeface="Arial"/>
                <a:cs typeface="Arial"/>
              </a:rPr>
              <a:t>Charts</a:t>
            </a:r>
            <a:endParaRPr sz="1300" dirty="0">
              <a:latin typeface="Arial"/>
              <a:cs typeface="Arial"/>
            </a:endParaRPr>
          </a:p>
          <a:p>
            <a:pPr marL="83820">
              <a:lnSpc>
                <a:spcPct val="100000"/>
              </a:lnSpc>
              <a:spcBef>
                <a:spcPts val="190"/>
              </a:spcBef>
            </a:pP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For</a:t>
            </a:r>
            <a:r>
              <a:rPr sz="12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data</a:t>
            </a:r>
            <a:r>
              <a:rPr sz="12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visualization</a:t>
            </a:r>
            <a:r>
              <a:rPr sz="12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&amp;</a:t>
            </a:r>
            <a:r>
              <a:rPr sz="1200" spc="-55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dirty="0">
                <a:solidFill>
                  <a:srgbClr val="003366"/>
                </a:solidFill>
                <a:latin typeface="Lato"/>
                <a:cs typeface="Lato"/>
              </a:rPr>
              <a:t>trend</a:t>
            </a:r>
            <a:r>
              <a:rPr sz="1200" spc="-5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analysis</a:t>
            </a:r>
            <a:endParaRPr sz="1200" dirty="0">
              <a:latin typeface="Lato"/>
              <a:cs typeface="Lato"/>
            </a:endParaRPr>
          </a:p>
          <a:p>
            <a:pPr marL="154940">
              <a:lnSpc>
                <a:spcPct val="100000"/>
              </a:lnSpc>
              <a:spcBef>
                <a:spcPts val="1010"/>
              </a:spcBef>
            </a:pPr>
            <a:r>
              <a:rPr sz="1300" spc="-90" dirty="0">
                <a:solidFill>
                  <a:srgbClr val="003366"/>
                </a:solidFill>
                <a:latin typeface="Arial"/>
                <a:cs typeface="Arial"/>
              </a:rPr>
              <a:t>Excel</a:t>
            </a:r>
            <a:r>
              <a:rPr sz="1300" spc="-10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003366"/>
                </a:solidFill>
                <a:latin typeface="Arial"/>
                <a:cs typeface="Arial"/>
              </a:rPr>
              <a:t>Formulas</a:t>
            </a:r>
            <a:endParaRPr sz="1300" dirty="0">
              <a:latin typeface="Arial"/>
              <a:cs typeface="Arial"/>
            </a:endParaRPr>
          </a:p>
          <a:p>
            <a:pPr marL="154940">
              <a:lnSpc>
                <a:spcPct val="100000"/>
              </a:lnSpc>
              <a:spcBef>
                <a:spcPts val="190"/>
              </a:spcBef>
            </a:pPr>
            <a:r>
              <a:rPr sz="1200" spc="-20" dirty="0">
                <a:solidFill>
                  <a:srgbClr val="003366"/>
                </a:solidFill>
                <a:latin typeface="Lato"/>
                <a:cs typeface="Lato"/>
              </a:rPr>
              <a:t>AVERAGE,</a:t>
            </a:r>
            <a:r>
              <a:rPr sz="1200" spc="-3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35" dirty="0">
                <a:solidFill>
                  <a:srgbClr val="003366"/>
                </a:solidFill>
                <a:latin typeface="Lato"/>
                <a:cs typeface="Lato"/>
              </a:rPr>
              <a:t>VLOOKUP,</a:t>
            </a:r>
            <a:r>
              <a:rPr sz="1200" spc="-3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40" dirty="0">
                <a:solidFill>
                  <a:srgbClr val="003366"/>
                </a:solidFill>
                <a:latin typeface="Lato"/>
                <a:cs typeface="Lato"/>
              </a:rPr>
              <a:t>IF,</a:t>
            </a:r>
            <a:r>
              <a:rPr sz="1200" spc="-30" dirty="0">
                <a:solidFill>
                  <a:srgbClr val="003366"/>
                </a:solidFill>
                <a:latin typeface="Lato"/>
                <a:cs typeface="Lato"/>
              </a:rPr>
              <a:t> INDEX/MATCH,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TEXT</a:t>
            </a:r>
            <a:r>
              <a:rPr sz="1200" spc="-30" dirty="0">
                <a:solidFill>
                  <a:srgbClr val="003366"/>
                </a:solidFill>
                <a:latin typeface="Lato"/>
                <a:cs typeface="Lato"/>
              </a:rPr>
              <a:t> </a:t>
            </a:r>
            <a:r>
              <a:rPr sz="1200" spc="-10" dirty="0">
                <a:solidFill>
                  <a:srgbClr val="003366"/>
                </a:solidFill>
                <a:latin typeface="Lato"/>
                <a:cs typeface="Lato"/>
              </a:rPr>
              <a:t>functions</a:t>
            </a:r>
            <a:endParaRPr sz="1200" dirty="0">
              <a:latin typeface="Lato"/>
              <a:cs typeface="La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75981" y="2007871"/>
            <a:ext cx="19043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40" dirty="0">
                <a:solidFill>
                  <a:srgbClr val="0052CC"/>
                </a:solidFill>
                <a:latin typeface="Calibri"/>
                <a:cs typeface="Calibri"/>
              </a:rPr>
              <a:t>DATA</a:t>
            </a:r>
            <a:r>
              <a:rPr sz="1800" b="1" spc="114" dirty="0">
                <a:solidFill>
                  <a:srgbClr val="0052CC"/>
                </a:solidFill>
                <a:latin typeface="Calibri"/>
                <a:cs typeface="Calibri"/>
              </a:rPr>
              <a:t> </a:t>
            </a:r>
            <a:r>
              <a:rPr sz="1800" b="1" spc="290" dirty="0">
                <a:solidFill>
                  <a:srgbClr val="0052CC"/>
                </a:solidFill>
                <a:latin typeface="Calibri"/>
                <a:cs typeface="Calibri"/>
              </a:rPr>
              <a:t>SOURCES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218941" y="0"/>
            <a:ext cx="2973070" cy="2496820"/>
          </a:xfrm>
          <a:custGeom>
            <a:avLst/>
            <a:gdLst/>
            <a:ahLst/>
            <a:cxnLst/>
            <a:rect l="l" t="t" r="r" b="b"/>
            <a:pathLst>
              <a:path w="2973070" h="2496820">
                <a:moveTo>
                  <a:pt x="2020557" y="2496807"/>
                </a:moveTo>
                <a:lnTo>
                  <a:pt x="0" y="476250"/>
                </a:lnTo>
                <a:lnTo>
                  <a:pt x="476250" y="0"/>
                </a:lnTo>
                <a:lnTo>
                  <a:pt x="2973057" y="0"/>
                </a:lnTo>
                <a:lnTo>
                  <a:pt x="2973057" y="1544307"/>
                </a:lnTo>
                <a:lnTo>
                  <a:pt x="2020557" y="2496807"/>
                </a:lnTo>
                <a:close/>
              </a:path>
            </a:pathLst>
          </a:custGeom>
          <a:solidFill>
            <a:srgbClr val="4A8FE2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1887200" y="6561746"/>
            <a:ext cx="202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3366"/>
                </a:solidFill>
                <a:latin typeface="Lato"/>
                <a:cs typeface="Lato"/>
              </a:rPr>
              <a:t>16</a:t>
            </a:r>
            <a:endParaRPr sz="1200" dirty="0">
              <a:latin typeface="Lato"/>
              <a:cs typeface="Lato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927326" y="5814387"/>
            <a:ext cx="3046153" cy="647700"/>
            <a:chOff x="380999" y="4486274"/>
            <a:chExt cx="5410200" cy="647700"/>
          </a:xfrm>
        </p:grpSpPr>
        <p:sp>
          <p:nvSpPr>
            <p:cNvPr id="29" name="object 29"/>
            <p:cNvSpPr/>
            <p:nvPr/>
          </p:nvSpPr>
          <p:spPr>
            <a:xfrm>
              <a:off x="380999" y="4486274"/>
              <a:ext cx="5410200" cy="647700"/>
            </a:xfrm>
            <a:custGeom>
              <a:avLst/>
              <a:gdLst/>
              <a:ahLst/>
              <a:cxnLst/>
              <a:rect l="l" t="t" r="r" b="b"/>
              <a:pathLst>
                <a:path w="5410200" h="647700">
                  <a:moveTo>
                    <a:pt x="5410199" y="647699"/>
                  </a:moveTo>
                  <a:lnTo>
                    <a:pt x="0" y="647699"/>
                  </a:lnTo>
                  <a:lnTo>
                    <a:pt x="0" y="0"/>
                  </a:lnTo>
                  <a:lnTo>
                    <a:pt x="5410199" y="0"/>
                  </a:lnTo>
                  <a:lnTo>
                    <a:pt x="5410199" y="647699"/>
                  </a:lnTo>
                  <a:close/>
                </a:path>
              </a:pathLst>
            </a:custGeom>
            <a:solidFill>
              <a:srgbClr val="E3F1FD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80999" y="4486274"/>
              <a:ext cx="28575" cy="647700"/>
            </a:xfrm>
            <a:custGeom>
              <a:avLst/>
              <a:gdLst/>
              <a:ahLst/>
              <a:cxnLst/>
              <a:rect l="l" t="t" r="r" b="b"/>
              <a:pathLst>
                <a:path w="28575" h="647700">
                  <a:moveTo>
                    <a:pt x="28574" y="647699"/>
                  </a:moveTo>
                  <a:lnTo>
                    <a:pt x="0" y="6476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647699"/>
                  </a:lnTo>
                  <a:close/>
                </a:path>
              </a:pathLst>
            </a:custGeom>
            <a:solidFill>
              <a:srgbClr val="4A8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31">
            <a:extLst>
              <a:ext uri="{FF2B5EF4-FFF2-40B4-BE49-F238E27FC236}">
                <a16:creationId xmlns:a16="http://schemas.microsoft.com/office/drawing/2014/main" id="{F0C47F08-86AB-4F80-82A9-F346AA7F4FCB}"/>
              </a:ext>
            </a:extLst>
          </p:cNvPr>
          <p:cNvSpPr txBox="1">
            <a:spLocks/>
          </p:cNvSpPr>
          <p:nvPr/>
        </p:nvSpPr>
        <p:spPr>
          <a:xfrm>
            <a:off x="7015374" y="5814387"/>
            <a:ext cx="2702296" cy="418519"/>
          </a:xfrm>
          <a:prstGeom prst="rect">
            <a:avLst/>
          </a:prstGeom>
        </p:spPr>
        <p:txBody>
          <a:bodyPr vert="horz" wrap="square" lIns="0" tIns="201111" rIns="0" bIns="0" rtlCol="0">
            <a:spAutoFit/>
          </a:bodyPr>
          <a:lstStyle>
            <a:lvl1pPr marL="0">
              <a:defRPr sz="1050" b="1" i="0">
                <a:solidFill>
                  <a:schemeClr val="bg1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5"/>
              </a:spcBef>
            </a:pPr>
            <a:r>
              <a:rPr lang="en-US" sz="1400" b="0" spc="-10" dirty="0">
                <a:solidFill>
                  <a:srgbClr val="0052CC"/>
                </a:solidFill>
                <a:latin typeface="Tahoma"/>
                <a:cs typeface="Tahoma"/>
              </a:rPr>
              <a:t>Vijay Chandra Raj for his guidance </a:t>
            </a:r>
          </a:p>
        </p:txBody>
      </p:sp>
      <p:sp>
        <p:nvSpPr>
          <p:cNvPr id="33" name="object 31">
            <a:extLst>
              <a:ext uri="{FF2B5EF4-FFF2-40B4-BE49-F238E27FC236}">
                <a16:creationId xmlns:a16="http://schemas.microsoft.com/office/drawing/2014/main" id="{55E9585E-20DF-4A19-831A-650C35359CE7}"/>
              </a:ext>
            </a:extLst>
          </p:cNvPr>
          <p:cNvSpPr txBox="1">
            <a:spLocks/>
          </p:cNvSpPr>
          <p:nvPr/>
        </p:nvSpPr>
        <p:spPr>
          <a:xfrm>
            <a:off x="6908276" y="5282981"/>
            <a:ext cx="2702296" cy="418519"/>
          </a:xfrm>
          <a:prstGeom prst="rect">
            <a:avLst/>
          </a:prstGeom>
        </p:spPr>
        <p:txBody>
          <a:bodyPr vert="horz" wrap="square" lIns="0" tIns="201111" rIns="0" bIns="0" rtlCol="0">
            <a:spAutoFit/>
          </a:bodyPr>
          <a:lstStyle>
            <a:lvl1pPr marL="0">
              <a:defRPr sz="1050" b="1" i="0">
                <a:solidFill>
                  <a:schemeClr val="bg1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5"/>
              </a:spcBef>
            </a:pPr>
            <a:r>
              <a:rPr lang="en-US" sz="1400" b="0" spc="-50" dirty="0">
                <a:solidFill>
                  <a:srgbClr val="0052CC"/>
                </a:solidFill>
                <a:latin typeface="Tahoma"/>
                <a:cs typeface="Tahoma"/>
              </a:rPr>
              <a:t>Special</a:t>
            </a:r>
            <a:r>
              <a:rPr lang="en-US" sz="1400" b="0" spc="-125" dirty="0">
                <a:solidFill>
                  <a:srgbClr val="0052CC"/>
                </a:solidFill>
                <a:latin typeface="Tahoma"/>
                <a:cs typeface="Tahoma"/>
              </a:rPr>
              <a:t> </a:t>
            </a:r>
            <a:r>
              <a:rPr lang="en-US" sz="1400" b="0" spc="-10" dirty="0">
                <a:solidFill>
                  <a:srgbClr val="0052CC"/>
                </a:solidFill>
                <a:latin typeface="Tahoma"/>
                <a:cs typeface="Tahoma"/>
              </a:rPr>
              <a:t>Thanks:</a:t>
            </a:r>
          </a:p>
        </p:txBody>
      </p:sp>
      <p:sp>
        <p:nvSpPr>
          <p:cNvPr id="34" name="object 31">
            <a:extLst>
              <a:ext uri="{FF2B5EF4-FFF2-40B4-BE49-F238E27FC236}">
                <a16:creationId xmlns:a16="http://schemas.microsoft.com/office/drawing/2014/main" id="{B9525F98-FF4F-4BC5-8F7A-DDCC6276CF82}"/>
              </a:ext>
            </a:extLst>
          </p:cNvPr>
          <p:cNvSpPr txBox="1">
            <a:spLocks/>
          </p:cNvSpPr>
          <p:nvPr/>
        </p:nvSpPr>
        <p:spPr>
          <a:xfrm>
            <a:off x="6904320" y="2570212"/>
            <a:ext cx="543451" cy="633962"/>
          </a:xfrm>
          <a:prstGeom prst="rect">
            <a:avLst/>
          </a:prstGeom>
        </p:spPr>
        <p:txBody>
          <a:bodyPr vert="horz" wrap="square" lIns="0" tIns="201111" rIns="0" bIns="0" rtlCol="0">
            <a:spAutoFit/>
          </a:bodyPr>
          <a:lstStyle>
            <a:lvl1pPr marL="0">
              <a:defRPr sz="1050" b="1" i="0">
                <a:solidFill>
                  <a:schemeClr val="bg1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spcBef>
                <a:spcPts val="5"/>
              </a:spcBef>
            </a:pPr>
            <a:r>
              <a:rPr lang="en-US" sz="2800" b="0" spc="-10" dirty="0">
                <a:solidFill>
                  <a:srgbClr val="406799"/>
                </a:solidFill>
                <a:latin typeface="Tahoma"/>
                <a:cs typeface="Tahoma"/>
              </a:rPr>
              <a:t>🎫</a:t>
            </a:r>
          </a:p>
        </p:txBody>
      </p:sp>
      <p:sp>
        <p:nvSpPr>
          <p:cNvPr id="35" name="object 31">
            <a:extLst>
              <a:ext uri="{FF2B5EF4-FFF2-40B4-BE49-F238E27FC236}">
                <a16:creationId xmlns:a16="http://schemas.microsoft.com/office/drawing/2014/main" id="{E7BDA401-CCB1-4F7E-ACFD-E1A74D3C3867}"/>
              </a:ext>
            </a:extLst>
          </p:cNvPr>
          <p:cNvSpPr txBox="1">
            <a:spLocks/>
          </p:cNvSpPr>
          <p:nvPr/>
        </p:nvSpPr>
        <p:spPr>
          <a:xfrm>
            <a:off x="6945831" y="3808093"/>
            <a:ext cx="549646" cy="633962"/>
          </a:xfrm>
          <a:prstGeom prst="rect">
            <a:avLst/>
          </a:prstGeom>
        </p:spPr>
        <p:txBody>
          <a:bodyPr vert="horz" wrap="square" lIns="0" tIns="201111" rIns="0" bIns="0" rtlCol="0">
            <a:spAutoFit/>
          </a:bodyPr>
          <a:lstStyle>
            <a:lvl1pPr marL="0">
              <a:defRPr sz="1050" b="1" i="0">
                <a:solidFill>
                  <a:schemeClr val="bg1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5"/>
              </a:spcBef>
            </a:pPr>
            <a:r>
              <a:rPr lang="en-US" sz="2800" b="0" spc="-10" dirty="0">
                <a:solidFill>
                  <a:srgbClr val="0052CC"/>
                </a:solidFill>
                <a:latin typeface="Tahoma"/>
                <a:cs typeface="Tahoma"/>
              </a:rPr>
              <a:t>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1924</TotalTime>
  <Words>1499</Words>
  <Application>Microsoft Office PowerPoint</Application>
  <PresentationFormat>Custom</PresentationFormat>
  <Paragraphs>304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DejaVu Sans</vt:lpstr>
      <vt:lpstr>Lato</vt:lpstr>
      <vt:lpstr>Liberation Sans</vt:lpstr>
      <vt:lpstr>Segoe UI Symbol</vt:lpstr>
      <vt:lpstr>Tahoma</vt:lpstr>
      <vt:lpstr>Times New Roman</vt:lpstr>
      <vt:lpstr>Office Theme</vt:lpstr>
      <vt:lpstr>IT TICKETS ANALYSIS AND AGENT PERFORMANCE DASHBOARD</vt:lpstr>
      <vt:lpstr>INTRODUCTION &amp; OBJECTIVES</vt:lpstr>
      <vt:lpstr>DATASET STRUCTURE</vt:lpstr>
      <vt:lpstr>METHODOLOGY</vt:lpstr>
      <vt:lpstr>TICKET VOLUME OVER TIME</vt:lpstr>
      <vt:lpstr>TICKET CATEGORY DISTRIBUTION</vt:lpstr>
      <vt:lpstr>RESOLUTION TIME VS SATISFACTION</vt:lpstr>
      <vt:lpstr>INVESTMENT RECOMMENDATION</vt:lpstr>
      <vt:lpstr>AGENT  PERFORMANCE</vt:lpstr>
      <vt:lpstr>DEMOGRAPHICS IMPACT ON PERFORMANCE</vt:lpstr>
      <vt:lpstr>TARGETED  TRAINING  FOR UNDERPERFORMING  AGENTS</vt:lpstr>
      <vt:lpstr>IMPACT OF TECHNOLOGY INVESTMENTS ON PERFORMANCE</vt:lpstr>
      <vt:lpstr>WORKLOAD FORECAST &amp; FUTURE STAFFING NEEDS</vt:lpstr>
      <vt:lpstr>PowerPoint Presentation</vt:lpstr>
      <vt:lpstr>KEY METRICS SUMMARY</vt:lpstr>
      <vt:lpstr>TOOLS USED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TICKETS ANALYSIS AND AGENT PERFORMANCE DASHBOARD</dc:title>
  <dc:creator>arnav</dc:creator>
  <cp:lastModifiedBy>arnav8656tiwari@gmail.com</cp:lastModifiedBy>
  <cp:revision>57</cp:revision>
  <dcterms:created xsi:type="dcterms:W3CDTF">2025-07-31T13:02:31Z</dcterms:created>
  <dcterms:modified xsi:type="dcterms:W3CDTF">2025-11-03T16:02:47Z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2025-07-31T00:00:00Z</vt:filetime>
  </property>
  <property fmtid="{D5CDD505-2E9C-101B-9397-08002B2CF9AE}" pid="3" name="Producer">
    <vt:lpwstr>pypdf</vt:lpwstr>
  </property>
  <property fmtid="{D5CDD505-2E9C-101B-9397-08002B2CF9AE}" pid="4" name="LastSaved">
    <vt:filetime>2025-07-31T00:00:00Z</vt:filetime>
  </property>
</Properties>
</file>